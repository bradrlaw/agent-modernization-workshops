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back. This is the follow-up to Lab 06. Last time we built a multi-agent banking team and ran five orchestration patterns — router/triage, delegation and synthesis. Today's focus is the one thing that team could NOT do: remember anything between sessions. We'll add cross-session memory, look at the two ways to store it (managed vs bring-your-own), and run it live. The .NET local path is validated end-to-end against a Foundry gpt-4o deployment.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Roadmap for the follow-up. Recap is deliberately short — two slides — because the ask this session is MEMORY. Spend the bulk on the tiers, the diff (what changed in the code), and the live off-vs-local demo. All three memory tiers — local, cosmos, and Foundry-managed — are now verified live; the remaining roadmap item is the shared knowledge (AI Search) tier + Python parity.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Fast recap — do NOT re-teach these; the room saw them run last time. One banking team (Concierge + Accounts + Lending + Cards + Compliance) dropped into five builders. Router/triage = handoff; delegation + synthesis = sequential/concurrent/group chat/magentic. The punchline held: the agents are constant, the BUILDER is the pattern.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hinge into today. Orchestration is solved; what's missing is CONTINUITY. Last time's demos all began with an empty slate. A real assistant has to remember the customer across sessions — who they are, what we decided, what's still pending. That's the whole follow-up. The agenda that was sent out named three things: router vs specialist, delegation and synthesis, and memory strategies. The first two shipped in Lab 06 — memory is what's new.</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memory as tiers, not one bucket. Each has a different lifetime and a different home. Conversation memory = the managed thread, lives for one run. USER / customer memory = cross-session facts and decisions — that's today's focus. State/plans = workflow checkpoints. Knowledge = shared reference data in AI Search. Don't force one store to do all four — that's how you get bloat and leakage.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core design fork. Two legitimate ways to give an agent durable memory. MANAGED: let Foundry do it — you attach a memory tool and it handles extraction + vector retrieval (Cosmos-backed, preview). BYO: you own a small store and a compaction step behind one interface — runs anywhere, offline, unit-testable. We teach BOTH, and we build BYO first because it's the one you can run and reason about end-to-end today — and it's the fallback if managed isn't available in your resource.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slide the room came for — 'what did you actually change to add memory?' Answer: almost nothing structural. Memory rides the SAME two seams skills already used — inject context before the run, record after it. We added a --memory flag that mirrors --skills. The agents and the five workflow builders were not touched. That's the message: memory is a cross-cutting host concern, bolted onto seams that already existed — not a rewrite of the team. Left = the two behaviors; right = the literal file diff.</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write path. When a run ends we don't dump the whole conversation into the store — we COMPACT it into a small, structured record: a short summary, extracted facts, decisions made, and anything still pending, plus the last few turns for continuity. We start with a DETERMINISTIC, no-LLM compactor on purpose — it's instant, free, and can't misbehave on stage. You upgrade to LLM summarization later without touching the agents. On the live run the compactor pulled exactly the right facts out of the loan conversation.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read path, and it's the mirror of skills injection. Before the workflow runs we load the customer's compacted record, turn it into a short preamble, and append it to every specialist's system instructions — the very same mechanism the SKILL.md rules use. So the team doesn't re-derive context; it opens the session already knowing who this is and what we last decided. Key detail on the right: scope. Memory is keyed by CUSTOMER, not by thread — one customer has many conversations over time.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payoff — and it fixes the thing that used to look flat. Earlier drafts ran the SAME fully detailed request each time, so both runs looked identical: the prompt already carried every number, so recall had nothing to add. Instead, SEED run 1 with the detailed loan request — it saves the facts. Run 2 asks a follow-up that says ‘finalize the loan we discussed’ and deliberately omits the numbers. With --memory local the team walks in already knowing — $25,000, 60-month term, 4.99% — and finalizes it. Run 3 is the SAME follow-up with --memory off: the team has no record and has to ask you to re-supply the amount, term, and rate. Same question, opposite behavior — memory is the only thing that changed. Ask only for amount, term, and rate; those are stored deterministically, so recall is stable on stage.</a:t>
            </a:r>
          </a:p>
          <a:p/>
          <a:p>
            <a:r>
              <a:t>DEMO TO RUN — Memory that changes behavior. cd labs/lab06-multi-agent/src-dotnet/BankingConcierge. Preflight: az login to the RIGHT subscription (the one with your Foundry resource); warm tokens (az account get-access-token --resource https://cognitiveservices.azure.com and .../ai.azure.com); $env:FOUNDRY_PROJECT_ENDPOINT / FOUNDRY_MODEL; $env:DOTNET_ROLL_FORWARD='LatestMajor'. SEED: dotnet run --no-build -- --pattern sequential --memory local --customer CUST-2001 --task 'I would like a $25,000 auto loan for 60 months. Please prepare an offer with the required disclosures.'  Then set $fu='Please finalize the loan we discussed earlier and restate its amount, term, and rate before you send the disclosures.' and run it TWICE: --memory local (team recalls $25,000 / 60-mo / 4.99%), then the SAME $fu with --memory off (team asks you to re-supply the details). Optionally: Get-Content .memory/CUST-2001.json to show the compacted record.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flag, four modes — but TWO memory models, and be precise about the difference. BYO (local + cosmos) is the app owning memory behind one IMemoryStore contract: recall→inject a preamble into the five specialists, compact→save after — and local↔cosmos is a true store swap. FOUNDRY is the MANAGED tier and does NOT use IMemoryStore: it attaches a FoundryMemoryProvider to a SINGLE agent + session and the platform extracts, embeds, and recalls automatically, so --memory foundry runs a dedicated single-agent demo. All four are verified live now (Cosmos keyless — Entra RBAC, serverless; Foundry needs an embedding deploy + preview + a managed-identity role grant). The banner always prints the TRUTHFUL backend it actually used.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Where this goes. BYO first: local→Cosmos is a pure STORE SWAP — same IMemoryStore contract, same recall/record seams, partition by /userId, keyless (Entra RBAC), serverless, one-command provision. Foundry-managed is the MANAGED tier — NOT a store swap: you hand the job to the platform (attach the provider, scope by user; it extracts, embeds, recalls). It's now verified live end-to-end — it needs an embedding deployment, memory preview, and a managed-identity role grant (provision-foundry-memory.ps1). The forward-looking item is the shared AI Search knowledge tier (reuses Lab 03) + Python parity — verify those against your own resource.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Generalize past this lab. Five rules that travel to any agent app. Memory is cross-cutting — keep it out of the agents. Use the right tier per kind of memory. Compact to a structured shape, never a raw log. Scope by user and keep that separate from the thread. Store decisions and facts — not a pile of PII — and default memory OFF so it's an explicit, auditable choice. All public-doc-aligned; no customer specifics.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Land it. Memory didn't require re-architecting the team — the BYO tiers rode the seams orchestration already gave us, and the managed tier is a faithful single-agent demo of platform-owned memory. All three run today. The forward-looking item is the shared knowledge tier + Python parity. Close with what's next and hand back to Q&amp;A. Repo + contact on screen.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243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3703320"/>
            <a:ext cx="12192000" cy="73152"/>
          </a:xfrm>
          <a:prstGeom prst="rect">
            <a:avLst/>
          </a:prstGeom>
          <a:solidFill>
            <a:srgbClr val="00B7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1280160"/>
            <a:ext cx="9601200" cy="457200"/>
          </a:xfrm>
          <a:prstGeom prst="rect">
            <a:avLst/>
          </a:prstGeom>
          <a:noFill/>
        </p:spPr>
        <p:txBody>
          <a:bodyPr wrap="square" anchor="t" lIns="0" rIns="0" tIns="0" bIns="0">
            <a:spAutoFit/>
          </a:bodyPr>
          <a:lstStyle/>
          <a:p>
            <a:pPr algn="l"/>
            <a:r>
              <a:rPr sz="1500" b="1" i="0">
                <a:solidFill>
                  <a:srgbClr val="00B7C3"/>
                </a:solidFill>
                <a:latin typeface="Segoe UI"/>
              </a:rPr>
              <a:t>AGENT MODERNIZATION WORKSHOPS · LAB 06 · FOLLOW-UP</a:t>
            </a:r>
          </a:p>
        </p:txBody>
      </p:sp>
      <p:sp>
        <p:nvSpPr>
          <p:cNvPr id="5" name="TextBox 4"/>
          <p:cNvSpPr txBox="1"/>
          <p:nvPr/>
        </p:nvSpPr>
        <p:spPr>
          <a:xfrm>
            <a:off x="822960" y="1828800"/>
            <a:ext cx="10058400" cy="1737360"/>
          </a:xfrm>
          <a:prstGeom prst="rect">
            <a:avLst/>
          </a:prstGeom>
          <a:noFill/>
        </p:spPr>
        <p:txBody>
          <a:bodyPr wrap="square" anchor="t" lIns="0" rIns="0" tIns="0" bIns="0">
            <a:spAutoFit/>
          </a:bodyPr>
          <a:lstStyle/>
          <a:p>
            <a:pPr algn="l"/>
            <a:r>
              <a:rPr sz="4600" b="1" i="0">
                <a:solidFill>
                  <a:srgbClr val="FFFFFF"/>
                </a:solidFill>
                <a:latin typeface="Segoe UI"/>
              </a:rPr>
              <a:t>Agent Memory Strategies</a:t>
            </a:r>
          </a:p>
          <a:p>
            <a:pPr algn="l">
              <a:spcBef>
                <a:spcPts val="600"/>
              </a:spcBef>
            </a:pPr>
            <a:r>
              <a:rPr sz="2200" b="0" i="0">
                <a:solidFill>
                  <a:srgbClr val="BFD7F0"/>
                </a:solidFill>
                <a:latin typeface="Segoe UI"/>
              </a:rPr>
              <a:t>Giving the multi-agent team cross-session memory</a:t>
            </a:r>
          </a:p>
        </p:txBody>
      </p:sp>
      <p:sp>
        <p:nvSpPr>
          <p:cNvPr id="6" name="TextBox 5"/>
          <p:cNvSpPr txBox="1"/>
          <p:nvPr/>
        </p:nvSpPr>
        <p:spPr>
          <a:xfrm>
            <a:off x="822960" y="3977639"/>
            <a:ext cx="10058400" cy="822960"/>
          </a:xfrm>
          <a:prstGeom prst="rect">
            <a:avLst/>
          </a:prstGeom>
          <a:noFill/>
        </p:spPr>
        <p:txBody>
          <a:bodyPr wrap="square" anchor="t" lIns="0" rIns="0" tIns="0" bIns="0">
            <a:spAutoFit/>
          </a:bodyPr>
          <a:lstStyle/>
          <a:p>
            <a:pPr algn="l"/>
            <a:r>
              <a:rPr sz="1500" b="0" i="0">
                <a:solidFill>
                  <a:srgbClr val="FFFFFF"/>
                </a:solidFill>
                <a:latin typeface="Segoe UI"/>
              </a:rPr>
              <a:t>Managed vs. bring-your-own   ·   compaction &amp; recall   ·   local, cosmos, foundry — all live</a:t>
            </a:r>
          </a:p>
        </p:txBody>
      </p:sp>
      <p:sp>
        <p:nvSpPr>
          <p:cNvPr id="7" name="TextBox 6"/>
          <p:cNvSpPr txBox="1"/>
          <p:nvPr/>
        </p:nvSpPr>
        <p:spPr>
          <a:xfrm>
            <a:off x="822960" y="5029200"/>
            <a:ext cx="10058400" cy="548640"/>
          </a:xfrm>
          <a:prstGeom prst="rect">
            <a:avLst/>
          </a:prstGeom>
          <a:noFill/>
        </p:spPr>
        <p:txBody>
          <a:bodyPr wrap="square" anchor="t" lIns="0" rIns="0" tIns="0" bIns="0">
            <a:spAutoFit/>
          </a:bodyPr>
          <a:lstStyle/>
          <a:p>
            <a:pPr algn="l"/>
            <a:r>
              <a:rPr sz="1400" b="1" i="0">
                <a:solidFill>
                  <a:srgbClr val="00B7C3"/>
                </a:solidFill>
                <a:latin typeface="Segoe UI"/>
              </a:rPr>
              <a:t>Brad Lawrence  ·  Brad.Lawrence@microsoft.com  ·  Microsoft ISD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51560"/>
          </a:xfrm>
          <a:prstGeom prst="rect">
            <a:avLst/>
          </a:prstGeom>
          <a:solidFill>
            <a:srgbClr val="243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51560"/>
            <a:ext cx="12192000" cy="54864"/>
          </a:xfrm>
          <a:prstGeom prst="rect">
            <a:avLst/>
          </a:prstGeom>
          <a:solidFill>
            <a:srgbClr val="00B7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64592"/>
            <a:ext cx="10058400" cy="274320"/>
          </a:xfrm>
          <a:prstGeom prst="rect">
            <a:avLst/>
          </a:prstGeom>
          <a:noFill/>
        </p:spPr>
        <p:txBody>
          <a:bodyPr wrap="square" anchor="t" lIns="0" rIns="0" tIns="0" bIns="0">
            <a:spAutoFit/>
          </a:bodyPr>
          <a:lstStyle/>
          <a:p>
            <a:pPr algn="l"/>
            <a:r>
              <a:rPr sz="1200" b="1" i="0">
                <a:solidFill>
                  <a:srgbClr val="00B7C3"/>
                </a:solidFill>
                <a:latin typeface="Segoe UI"/>
              </a:rPr>
              <a:t>AGENDA</a:t>
            </a:r>
          </a:p>
        </p:txBody>
      </p:sp>
      <p:sp>
        <p:nvSpPr>
          <p:cNvPr id="5" name="TextBox 4"/>
          <p:cNvSpPr txBox="1"/>
          <p:nvPr/>
        </p:nvSpPr>
        <p:spPr>
          <a:xfrm>
            <a:off x="502920" y="420624"/>
            <a:ext cx="10972800" cy="566928"/>
          </a:xfrm>
          <a:prstGeom prst="rect">
            <a:avLst/>
          </a:prstGeom>
          <a:noFill/>
        </p:spPr>
        <p:txBody>
          <a:bodyPr wrap="square" anchor="ctr" lIns="0" rIns="0" tIns="0" bIns="0">
            <a:spAutoFit/>
          </a:bodyPr>
          <a:lstStyle/>
          <a:p>
            <a:pPr algn="l"/>
            <a:r>
              <a:rPr sz="2600" b="1" i="0">
                <a:solidFill>
                  <a:srgbClr val="FFFFFF"/>
                </a:solidFill>
                <a:latin typeface="Segoe UI"/>
              </a:rPr>
              <a:t>What we'll cover (≈30 min)</a:t>
            </a:r>
          </a:p>
        </p:txBody>
      </p:sp>
      <p:sp>
        <p:nvSpPr>
          <p:cNvPr id="6" name="TextBox 5"/>
          <p:cNvSpPr txBox="1"/>
          <p:nvPr/>
        </p:nvSpPr>
        <p:spPr>
          <a:xfrm>
            <a:off x="502920" y="1325880"/>
            <a:ext cx="10332720" cy="4572000"/>
          </a:xfrm>
          <a:prstGeom prst="rect">
            <a:avLst/>
          </a:prstGeom>
          <a:noFill/>
        </p:spPr>
        <p:txBody>
          <a:bodyPr wrap="square" anchor="t" lIns="0" rIns="0" tIns="0" bIns="0">
            <a:spAutoFit/>
          </a:bodyPr>
          <a:lstStyle/>
          <a:p>
            <a:pPr algn="l">
              <a:spcBef>
                <a:spcPts val="400"/>
              </a:spcBef>
              <a:spcAft>
                <a:spcPts val="500"/>
              </a:spcAft>
            </a:pPr>
            <a:r>
              <a:rPr sz="1800" b="1" i="0">
                <a:solidFill>
                  <a:srgbClr val="243A5E"/>
                </a:solidFill>
                <a:latin typeface="Segoe UI"/>
              </a:rPr>
              <a:t>■  Recap — where Lab 06 left off (5 patterns, one team, stateless)</a:t>
            </a:r>
          </a:p>
          <a:p>
            <a:pPr algn="l">
              <a:spcBef>
                <a:spcPts val="400"/>
              </a:spcBef>
              <a:spcAft>
                <a:spcPts val="500"/>
              </a:spcAft>
            </a:pPr>
            <a:r>
              <a:rPr sz="1800" b="1" i="0">
                <a:solidFill>
                  <a:srgbClr val="243A5E"/>
                </a:solidFill>
                <a:latin typeface="Segoe UI"/>
              </a:rPr>
              <a:t>■  Why memory — the team forgets the moment a run ends</a:t>
            </a:r>
          </a:p>
          <a:p>
            <a:pPr algn="l">
              <a:spcBef>
                <a:spcPts val="400"/>
              </a:spcBef>
              <a:spcAft>
                <a:spcPts val="500"/>
              </a:spcAft>
            </a:pPr>
            <a:r>
              <a:rPr sz="1800" b="1" i="0">
                <a:solidFill>
                  <a:srgbClr val="243A5E"/>
                </a:solidFill>
                <a:latin typeface="Segoe UI"/>
              </a:rPr>
              <a:t>■  The four memory tiers + two ways to store them (managed vs BYO)</a:t>
            </a:r>
          </a:p>
          <a:p>
            <a:pPr algn="l">
              <a:spcBef>
                <a:spcPts val="400"/>
              </a:spcBef>
              <a:spcAft>
                <a:spcPts val="500"/>
              </a:spcAft>
            </a:pPr>
            <a:r>
              <a:rPr sz="1800" b="1" i="0">
                <a:solidFill>
                  <a:srgbClr val="243A5E"/>
                </a:solidFill>
                <a:latin typeface="Segoe UI"/>
              </a:rPr>
              <a:t>■  What it took to add memory — the diff (recall→inject, record→compact→save)</a:t>
            </a:r>
          </a:p>
          <a:p>
            <a:pPr algn="l">
              <a:spcBef>
                <a:spcPts val="400"/>
              </a:spcBef>
              <a:spcAft>
                <a:spcPts val="500"/>
              </a:spcAft>
            </a:pPr>
            <a:r>
              <a:rPr sz="1800" b="1" i="0">
                <a:solidFill>
                  <a:srgbClr val="243A5E"/>
                </a:solidFill>
                <a:latin typeface="Segoe UI"/>
              </a:rPr>
              <a:t>■  Live demo — memory off vs. local (the team remembers)</a:t>
            </a:r>
          </a:p>
          <a:p>
            <a:pPr algn="l">
              <a:spcBef>
                <a:spcPts val="400"/>
              </a:spcBef>
              <a:spcAft>
                <a:spcPts val="500"/>
              </a:spcAft>
            </a:pPr>
            <a:r>
              <a:rPr sz="1800" b="1" i="0">
                <a:solidFill>
                  <a:srgbClr val="243A5E"/>
                </a:solidFill>
                <a:latin typeface="Segoe UI"/>
              </a:rPr>
              <a:t>■  Managed tier + roadmap — Foundry-managed Memory (live) · shared knowledge search (next)</a:t>
            </a:r>
          </a:p>
        </p:txBody>
      </p:sp>
      <p:sp>
        <p:nvSpPr>
          <p:cNvPr id="7" name="Rectangle 6"/>
          <p:cNvSpPr/>
          <p:nvPr/>
        </p:nvSpPr>
        <p:spPr>
          <a:xfrm>
            <a:off x="0" y="6601968"/>
            <a:ext cx="12192000" cy="256032"/>
          </a:xfrm>
          <a:prstGeom prst="rect">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6611112"/>
            <a:ext cx="8229600" cy="228600"/>
          </a:xfrm>
          <a:prstGeom prst="rect">
            <a:avLst/>
          </a:prstGeom>
          <a:noFill/>
        </p:spPr>
        <p:txBody>
          <a:bodyPr wrap="square" anchor="ctr" lIns="0" rIns="0" tIns="0" bIns="0">
            <a:spAutoFit/>
          </a:bodyPr>
          <a:lstStyle/>
          <a:p>
            <a:pPr algn="l"/>
            <a:r>
              <a:rPr sz="900" b="0" i="0">
                <a:solidFill>
                  <a:srgbClr val="605E5C"/>
                </a:solidFill>
                <a:latin typeface="Segoe UI"/>
              </a:rPr>
              <a:t>Agent Modernization Workshops — Lab 06: Agent Memory Strategies   |   Agenda</a:t>
            </a:r>
          </a:p>
        </p:txBody>
      </p:sp>
      <p:sp>
        <p:nvSpPr>
          <p:cNvPr id="9" name="TextBox 8"/>
          <p:cNvSpPr txBox="1"/>
          <p:nvPr/>
        </p:nvSpPr>
        <p:spPr>
          <a:xfrm>
            <a:off x="11003280" y="6611112"/>
            <a:ext cx="731520" cy="228600"/>
          </a:xfrm>
          <a:prstGeom prst="rect">
            <a:avLst/>
          </a:prstGeom>
          <a:noFill/>
        </p:spPr>
        <p:txBody>
          <a:bodyPr wrap="square" anchor="ctr" lIns="0" rIns="0" tIns="0" bIns="0">
            <a:spAutoFit/>
          </a:bodyPr>
          <a:lstStyle/>
          <a:p>
            <a:pPr algn="r"/>
            <a:r>
              <a:rPr sz="900" b="1" i="0">
                <a:solidFill>
                  <a:srgbClr val="605E5C"/>
                </a:solidFill>
                <a:latin typeface="Segoe U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243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2468880"/>
            <a:ext cx="109728" cy="1554480"/>
          </a:xfrm>
          <a:prstGeom prst="rect">
            <a:avLst/>
          </a:prstGeom>
          <a:solidFill>
            <a:srgbClr val="00B7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331720"/>
            <a:ext cx="2743200" cy="914400"/>
          </a:xfrm>
          <a:prstGeom prst="rect">
            <a:avLst/>
          </a:prstGeom>
          <a:noFill/>
        </p:spPr>
        <p:txBody>
          <a:bodyPr wrap="square" anchor="t" lIns="0" rIns="0" tIns="0" bIns="0">
            <a:spAutoFit/>
          </a:bodyPr>
          <a:lstStyle/>
          <a:p>
            <a:pPr algn="l"/>
            <a:r>
              <a:rPr sz="6600" b="1" i="0">
                <a:solidFill>
                  <a:srgbClr val="00B7C3"/>
                </a:solidFill>
                <a:latin typeface="Segoe UI"/>
              </a:rPr>
              <a:t>Recap</a:t>
            </a:r>
          </a:p>
        </p:txBody>
      </p:sp>
      <p:sp>
        <p:nvSpPr>
          <p:cNvPr id="5" name="TextBox 4"/>
          <p:cNvSpPr txBox="1"/>
          <p:nvPr/>
        </p:nvSpPr>
        <p:spPr>
          <a:xfrm>
            <a:off x="868680" y="3200400"/>
            <a:ext cx="9601200" cy="914400"/>
          </a:xfrm>
          <a:prstGeom prst="rect">
            <a:avLst/>
          </a:prstGeom>
          <a:noFill/>
        </p:spPr>
        <p:txBody>
          <a:bodyPr wrap="square" anchor="t" lIns="0" rIns="0" tIns="0" bIns="0">
            <a:spAutoFit/>
          </a:bodyPr>
          <a:lstStyle/>
          <a:p>
            <a:pPr algn="l"/>
            <a:r>
              <a:rPr sz="3800" b="1" i="0">
                <a:solidFill>
                  <a:srgbClr val="FFFFFF"/>
                </a:solidFill>
                <a:latin typeface="Segoe UI"/>
              </a:rPr>
              <a:t>Where Lab 06 left off</a:t>
            </a:r>
          </a:p>
        </p:txBody>
      </p:sp>
      <p:sp>
        <p:nvSpPr>
          <p:cNvPr id="6" name="TextBox 5"/>
          <p:cNvSpPr txBox="1"/>
          <p:nvPr/>
        </p:nvSpPr>
        <p:spPr>
          <a:xfrm>
            <a:off x="896112" y="4114800"/>
            <a:ext cx="9601200" cy="731520"/>
          </a:xfrm>
          <a:prstGeom prst="rect">
            <a:avLst/>
          </a:prstGeom>
          <a:noFill/>
        </p:spPr>
        <p:txBody>
          <a:bodyPr wrap="square" anchor="t" lIns="0" rIns="0" tIns="0" bIns="0">
            <a:spAutoFit/>
          </a:bodyPr>
          <a:lstStyle/>
          <a:p>
            <a:pPr algn="l"/>
            <a:r>
              <a:rPr sz="1800" b="0" i="0">
                <a:solidFill>
                  <a:srgbClr val="BFD7F0"/>
                </a:solidFill>
                <a:latin typeface="Segoe UI"/>
              </a:rPr>
              <a:t>Five orchestration patterns · one banking team · router, delegation, synthesis — all stateless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51560"/>
          </a:xfrm>
          <a:prstGeom prst="rect">
            <a:avLst/>
          </a:prstGeom>
          <a:solidFill>
            <a:srgbClr val="243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51560"/>
            <a:ext cx="12192000" cy="54864"/>
          </a:xfrm>
          <a:prstGeom prst="rect">
            <a:avLst/>
          </a:prstGeom>
          <a:solidFill>
            <a:srgbClr val="00B7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64592"/>
            <a:ext cx="10058400" cy="274320"/>
          </a:xfrm>
          <a:prstGeom prst="rect">
            <a:avLst/>
          </a:prstGeom>
          <a:noFill/>
        </p:spPr>
        <p:txBody>
          <a:bodyPr wrap="square" anchor="t" lIns="0" rIns="0" tIns="0" bIns="0">
            <a:spAutoFit/>
          </a:bodyPr>
          <a:lstStyle/>
          <a:p>
            <a:pPr algn="l"/>
            <a:r>
              <a:rPr sz="1200" b="1" i="0">
                <a:solidFill>
                  <a:srgbClr val="00B7C3"/>
                </a:solidFill>
                <a:latin typeface="Segoe UI"/>
              </a:rPr>
              <a:t>RECAP · 1 OF 2</a:t>
            </a:r>
          </a:p>
        </p:txBody>
      </p:sp>
      <p:sp>
        <p:nvSpPr>
          <p:cNvPr id="5" name="TextBox 4"/>
          <p:cNvSpPr txBox="1"/>
          <p:nvPr/>
        </p:nvSpPr>
        <p:spPr>
          <a:xfrm>
            <a:off x="502920" y="420624"/>
            <a:ext cx="10972800" cy="566928"/>
          </a:xfrm>
          <a:prstGeom prst="rect">
            <a:avLst/>
          </a:prstGeom>
          <a:noFill/>
        </p:spPr>
        <p:txBody>
          <a:bodyPr wrap="square" anchor="ctr" lIns="0" rIns="0" tIns="0" bIns="0">
            <a:spAutoFit/>
          </a:bodyPr>
          <a:lstStyle/>
          <a:p>
            <a:pPr algn="l"/>
            <a:r>
              <a:rPr sz="2600" b="1" i="0">
                <a:solidFill>
                  <a:srgbClr val="FFFFFF"/>
                </a:solidFill>
                <a:latin typeface="Segoe UI"/>
              </a:rPr>
              <a:t>One team, five orchestration patterns</a:t>
            </a:r>
          </a:p>
        </p:txBody>
      </p:sp>
      <p:sp>
        <p:nvSpPr>
          <p:cNvPr id="6" name="Rounded Rectangle 5"/>
          <p:cNvSpPr/>
          <p:nvPr/>
        </p:nvSpPr>
        <p:spPr>
          <a:xfrm>
            <a:off x="502920" y="1783080"/>
            <a:ext cx="1810512" cy="868680"/>
          </a:xfrm>
          <a:prstGeom prst="roundRect">
            <a:avLst/>
          </a:prstGeom>
          <a:solidFill>
            <a:srgbClr val="FFFFFF"/>
          </a:solidFill>
          <a:ln w="19050">
            <a:solidFill>
              <a:srgbClr val="0078D4"/>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i="0">
                <a:solidFill>
                  <a:srgbClr val="243A5E"/>
                </a:solidFill>
                <a:latin typeface="Segoe UI"/>
              </a:rPr>
              <a:t>Sequential</a:t>
            </a:r>
          </a:p>
        </p:txBody>
      </p:sp>
      <p:sp>
        <p:nvSpPr>
          <p:cNvPr id="7" name="Right Arrow 6"/>
          <p:cNvSpPr/>
          <p:nvPr/>
        </p:nvSpPr>
        <p:spPr>
          <a:xfrm>
            <a:off x="2295144" y="2162556"/>
            <a:ext cx="374904" cy="109728"/>
          </a:xfrm>
          <a:prstGeom prst="rightArrow">
            <a:avLst/>
          </a:prstGeom>
          <a:solidFill>
            <a:srgbClr val="00B7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2633472" y="1783080"/>
            <a:ext cx="1810512" cy="868680"/>
          </a:xfrm>
          <a:prstGeom prst="roundRect">
            <a:avLst/>
          </a:prstGeom>
          <a:solidFill>
            <a:srgbClr val="FFFFFF"/>
          </a:solidFill>
          <a:ln w="19050">
            <a:solidFill>
              <a:srgbClr val="0078D4"/>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i="0">
                <a:solidFill>
                  <a:srgbClr val="243A5E"/>
                </a:solidFill>
                <a:latin typeface="Segoe UI"/>
              </a:rPr>
              <a:t>Concurrent</a:t>
            </a:r>
          </a:p>
        </p:txBody>
      </p:sp>
      <p:sp>
        <p:nvSpPr>
          <p:cNvPr id="9" name="Right Arrow 8"/>
          <p:cNvSpPr/>
          <p:nvPr/>
        </p:nvSpPr>
        <p:spPr>
          <a:xfrm>
            <a:off x="4425696" y="2162556"/>
            <a:ext cx="374904" cy="109728"/>
          </a:xfrm>
          <a:prstGeom prst="rightArrow">
            <a:avLst/>
          </a:prstGeom>
          <a:solidFill>
            <a:srgbClr val="00B7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4764024" y="1783080"/>
            <a:ext cx="1810512" cy="868680"/>
          </a:xfrm>
          <a:prstGeom prst="roundRect">
            <a:avLst/>
          </a:prstGeom>
          <a:solidFill>
            <a:srgbClr val="FFFFFF"/>
          </a:solidFill>
          <a:ln w="19050">
            <a:solidFill>
              <a:srgbClr val="0078D4"/>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i="0">
                <a:solidFill>
                  <a:srgbClr val="243A5E"/>
                </a:solidFill>
                <a:latin typeface="Segoe UI"/>
              </a:rPr>
              <a:t>Group Chat</a:t>
            </a:r>
          </a:p>
        </p:txBody>
      </p:sp>
      <p:sp>
        <p:nvSpPr>
          <p:cNvPr id="11" name="Right Arrow 10"/>
          <p:cNvSpPr/>
          <p:nvPr/>
        </p:nvSpPr>
        <p:spPr>
          <a:xfrm>
            <a:off x="6556248" y="2162556"/>
            <a:ext cx="374904" cy="109728"/>
          </a:xfrm>
          <a:prstGeom prst="rightArrow">
            <a:avLst/>
          </a:prstGeom>
          <a:solidFill>
            <a:srgbClr val="00B7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6894576" y="1783080"/>
            <a:ext cx="1810512" cy="868680"/>
          </a:xfrm>
          <a:prstGeom prst="roundRect">
            <a:avLst/>
          </a:prstGeom>
          <a:solidFill>
            <a:srgbClr val="FFFFFF"/>
          </a:solidFill>
          <a:ln w="19050">
            <a:solidFill>
              <a:srgbClr val="0078D4"/>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i="0">
                <a:solidFill>
                  <a:srgbClr val="243A5E"/>
                </a:solidFill>
                <a:latin typeface="Segoe UI"/>
              </a:rPr>
              <a:t>Handoff</a:t>
            </a:r>
          </a:p>
          <a:p>
            <a:pPr algn="ctr"/>
            <a:r>
              <a:rPr sz="1000" b="0" i="0">
                <a:solidFill>
                  <a:srgbClr val="605E5C"/>
                </a:solidFill>
                <a:latin typeface="Segoe UI"/>
              </a:rPr>
              <a:t>(triage)</a:t>
            </a:r>
          </a:p>
        </p:txBody>
      </p:sp>
      <p:sp>
        <p:nvSpPr>
          <p:cNvPr id="13" name="Right Arrow 12"/>
          <p:cNvSpPr/>
          <p:nvPr/>
        </p:nvSpPr>
        <p:spPr>
          <a:xfrm>
            <a:off x="8686800" y="2162556"/>
            <a:ext cx="374904" cy="109728"/>
          </a:xfrm>
          <a:prstGeom prst="rightArrow">
            <a:avLst/>
          </a:prstGeom>
          <a:solidFill>
            <a:srgbClr val="00B7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9025128" y="1783080"/>
            <a:ext cx="1810512" cy="868680"/>
          </a:xfrm>
          <a:prstGeom prst="roundRect">
            <a:avLst/>
          </a:prstGeom>
          <a:solidFill>
            <a:srgbClr val="FFFFFF"/>
          </a:solidFill>
          <a:ln w="19050">
            <a:solidFill>
              <a:srgbClr val="0078D4"/>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i="0">
                <a:solidFill>
                  <a:srgbClr val="243A5E"/>
                </a:solidFill>
                <a:latin typeface="Segoe UI"/>
              </a:rPr>
              <a:t>Magentic</a:t>
            </a:r>
          </a:p>
          <a:p>
            <a:pPr algn="ctr"/>
            <a:r>
              <a:rPr sz="1000" b="0" i="0">
                <a:solidFill>
                  <a:srgbClr val="605E5C"/>
                </a:solidFill>
                <a:latin typeface="Segoe UI"/>
              </a:rPr>
              <a:t>(adaptive)</a:t>
            </a:r>
          </a:p>
        </p:txBody>
      </p:sp>
      <p:sp>
        <p:nvSpPr>
          <p:cNvPr id="15" name="TextBox 14"/>
          <p:cNvSpPr txBox="1"/>
          <p:nvPr/>
        </p:nvSpPr>
        <p:spPr>
          <a:xfrm>
            <a:off x="502920" y="2880360"/>
            <a:ext cx="10332720" cy="457200"/>
          </a:xfrm>
          <a:prstGeom prst="rect">
            <a:avLst/>
          </a:prstGeom>
          <a:noFill/>
        </p:spPr>
        <p:txBody>
          <a:bodyPr wrap="square" anchor="t" lIns="0" rIns="0" tIns="0" bIns="0">
            <a:spAutoFit/>
          </a:bodyPr>
          <a:lstStyle/>
          <a:p>
            <a:pPr algn="ctr"/>
            <a:r>
              <a:rPr sz="1300" b="0" i="1">
                <a:solidFill>
                  <a:srgbClr val="605E5C"/>
                </a:solidFill>
                <a:latin typeface="Segoe UI"/>
              </a:rPr>
              <a:t>Same specialists · swap only the builder — router/triage, delegation, and synthesis, covered</a:t>
            </a:r>
          </a:p>
        </p:txBody>
      </p:sp>
      <p:sp>
        <p:nvSpPr>
          <p:cNvPr id="16" name="TextBox 15"/>
          <p:cNvSpPr txBox="1"/>
          <p:nvPr/>
        </p:nvSpPr>
        <p:spPr>
          <a:xfrm>
            <a:off x="502920" y="3474720"/>
            <a:ext cx="10332720" cy="2286000"/>
          </a:xfrm>
          <a:prstGeom prst="rect">
            <a:avLst/>
          </a:prstGeom>
          <a:noFill/>
        </p:spPr>
        <p:txBody>
          <a:bodyPr wrap="square" anchor="t" lIns="0" rIns="0" tIns="0" bIns="0">
            <a:spAutoFit/>
          </a:bodyPr>
          <a:lstStyle/>
          <a:p>
            <a:pPr algn="l">
              <a:spcBef>
                <a:spcPts val="400"/>
              </a:spcBef>
              <a:spcAft>
                <a:spcPts val="500"/>
              </a:spcAft>
            </a:pPr>
            <a:r>
              <a:rPr sz="1800" b="1" i="0">
                <a:solidFill>
                  <a:srgbClr val="243A5E"/>
                </a:solidFill>
                <a:latin typeface="Segoe UI"/>
              </a:rPr>
              <a:t>■  Plus a second axis — Agent → Skills: versioned SKILL.md rules loaded at runtime (--skills on/off)</a:t>
            </a:r>
          </a:p>
          <a:p>
            <a:pPr algn="l">
              <a:spcBef>
                <a:spcPts val="0"/>
              </a:spcBef>
              <a:spcAft>
                <a:spcPts val="300"/>
              </a:spcAft>
            </a:pPr>
            <a:r>
              <a:rPr sz="1500" b="0" i="0">
                <a:solidFill>
                  <a:srgbClr val="201F1E"/>
                </a:solidFill>
                <a:latin typeface="Segoe UI"/>
              </a:rPr>
              <a:t>–  Full Python + .NET parity, running live on a Foundry gpt-4o deployment</a:t>
            </a:r>
          </a:p>
        </p:txBody>
      </p:sp>
      <p:sp>
        <p:nvSpPr>
          <p:cNvPr id="17" name="Rectangle 16"/>
          <p:cNvSpPr/>
          <p:nvPr/>
        </p:nvSpPr>
        <p:spPr>
          <a:xfrm>
            <a:off x="0" y="6601968"/>
            <a:ext cx="12192000" cy="256032"/>
          </a:xfrm>
          <a:prstGeom prst="rect">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2920" y="6611112"/>
            <a:ext cx="8229600" cy="228600"/>
          </a:xfrm>
          <a:prstGeom prst="rect">
            <a:avLst/>
          </a:prstGeom>
          <a:noFill/>
        </p:spPr>
        <p:txBody>
          <a:bodyPr wrap="square" anchor="ctr" lIns="0" rIns="0" tIns="0" bIns="0">
            <a:spAutoFit/>
          </a:bodyPr>
          <a:lstStyle/>
          <a:p>
            <a:pPr algn="l"/>
            <a:r>
              <a:rPr sz="900" b="0" i="0">
                <a:solidFill>
                  <a:srgbClr val="605E5C"/>
                </a:solidFill>
                <a:latin typeface="Segoe UI"/>
              </a:rPr>
              <a:t>Agent Modernization Workshops — Lab 06: Agent Memory Strategies   |   Recap · 1 of 2</a:t>
            </a:r>
          </a:p>
        </p:txBody>
      </p:sp>
      <p:sp>
        <p:nvSpPr>
          <p:cNvPr id="19" name="TextBox 18"/>
          <p:cNvSpPr txBox="1"/>
          <p:nvPr/>
        </p:nvSpPr>
        <p:spPr>
          <a:xfrm>
            <a:off x="11003280" y="6611112"/>
            <a:ext cx="731520" cy="228600"/>
          </a:xfrm>
          <a:prstGeom prst="rect">
            <a:avLst/>
          </a:prstGeom>
          <a:noFill/>
        </p:spPr>
        <p:txBody>
          <a:bodyPr wrap="square" anchor="ctr" lIns="0" rIns="0" tIns="0" bIns="0">
            <a:spAutoFit/>
          </a:bodyPr>
          <a:lstStyle/>
          <a:p>
            <a:pPr algn="r"/>
            <a:r>
              <a:rPr sz="900" b="1" i="0">
                <a:solidFill>
                  <a:srgbClr val="605E5C"/>
                </a:solidFill>
                <a:latin typeface="Segoe U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51560"/>
          </a:xfrm>
          <a:prstGeom prst="rect">
            <a:avLst/>
          </a:prstGeom>
          <a:solidFill>
            <a:srgbClr val="243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51560"/>
            <a:ext cx="12192000" cy="54864"/>
          </a:xfrm>
          <a:prstGeom prst="rect">
            <a:avLst/>
          </a:prstGeom>
          <a:solidFill>
            <a:srgbClr val="00B7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64592"/>
            <a:ext cx="10058400" cy="274320"/>
          </a:xfrm>
          <a:prstGeom prst="rect">
            <a:avLst/>
          </a:prstGeom>
          <a:noFill/>
        </p:spPr>
        <p:txBody>
          <a:bodyPr wrap="square" anchor="t" lIns="0" rIns="0" tIns="0" bIns="0">
            <a:spAutoFit/>
          </a:bodyPr>
          <a:lstStyle/>
          <a:p>
            <a:pPr algn="l"/>
            <a:r>
              <a:rPr sz="1200" b="1" i="0">
                <a:solidFill>
                  <a:srgbClr val="00B7C3"/>
                </a:solidFill>
                <a:latin typeface="Segoe UI"/>
              </a:rPr>
              <a:t>RECAP · 2 OF 2</a:t>
            </a:r>
          </a:p>
        </p:txBody>
      </p:sp>
      <p:sp>
        <p:nvSpPr>
          <p:cNvPr id="5" name="TextBox 4"/>
          <p:cNvSpPr txBox="1"/>
          <p:nvPr/>
        </p:nvSpPr>
        <p:spPr>
          <a:xfrm>
            <a:off x="502920" y="420624"/>
            <a:ext cx="10972800" cy="566928"/>
          </a:xfrm>
          <a:prstGeom prst="rect">
            <a:avLst/>
          </a:prstGeom>
          <a:noFill/>
        </p:spPr>
        <p:txBody>
          <a:bodyPr wrap="square" anchor="ctr" lIns="0" rIns="0" tIns="0" bIns="0">
            <a:spAutoFit/>
          </a:bodyPr>
          <a:lstStyle/>
          <a:p>
            <a:pPr algn="l"/>
            <a:r>
              <a:rPr sz="2600" b="1" i="0">
                <a:solidFill>
                  <a:srgbClr val="FFFFFF"/>
                </a:solidFill>
                <a:latin typeface="Segoe UI"/>
              </a:rPr>
              <a:t>…but the team has no memory</a:t>
            </a:r>
          </a:p>
        </p:txBody>
      </p:sp>
      <p:sp>
        <p:nvSpPr>
          <p:cNvPr id="6" name="TextBox 5"/>
          <p:cNvSpPr txBox="1"/>
          <p:nvPr/>
        </p:nvSpPr>
        <p:spPr>
          <a:xfrm>
            <a:off x="502920" y="1325880"/>
            <a:ext cx="5212080" cy="4572000"/>
          </a:xfrm>
          <a:prstGeom prst="rect">
            <a:avLst/>
          </a:prstGeom>
          <a:noFill/>
        </p:spPr>
        <p:txBody>
          <a:bodyPr wrap="square" anchor="t" lIns="0" rIns="0" tIns="0" bIns="0">
            <a:spAutoFit/>
          </a:bodyPr>
          <a:lstStyle/>
          <a:p>
            <a:pPr algn="l">
              <a:spcBef>
                <a:spcPts val="400"/>
              </a:spcBef>
              <a:spcAft>
                <a:spcPts val="500"/>
              </a:spcAft>
            </a:pPr>
            <a:r>
              <a:rPr sz="1800" b="1" i="0">
                <a:solidFill>
                  <a:srgbClr val="243A5E"/>
                </a:solidFill>
                <a:latin typeface="Segoe UI"/>
              </a:rPr>
              <a:t>■  Everything last time happened INSIDE a single run:</a:t>
            </a:r>
          </a:p>
          <a:p>
            <a:pPr algn="l">
              <a:spcBef>
                <a:spcPts val="0"/>
              </a:spcBef>
              <a:spcAft>
                <a:spcPts val="300"/>
              </a:spcAft>
            </a:pPr>
            <a:r>
              <a:rPr sz="1500" b="0" i="0">
                <a:solidFill>
                  <a:srgbClr val="201F1E"/>
                </a:solidFill>
                <a:latin typeface="Segoe UI"/>
              </a:rPr>
              <a:t>–  Router picks a specialist — then forgets it ever did</a:t>
            </a:r>
          </a:p>
          <a:p>
            <a:pPr algn="l">
              <a:spcBef>
                <a:spcPts val="0"/>
              </a:spcBef>
              <a:spcAft>
                <a:spcPts val="300"/>
              </a:spcAft>
            </a:pPr>
            <a:r>
              <a:rPr sz="1500" b="0" i="0">
                <a:solidFill>
                  <a:srgbClr val="201F1E"/>
                </a:solidFill>
                <a:latin typeface="Segoe UI"/>
              </a:rPr>
              <a:t>–  Agents delegate and synthesize — then the transcript evaporates</a:t>
            </a:r>
          </a:p>
          <a:p>
            <a:pPr algn="l">
              <a:spcBef>
                <a:spcPts val="0"/>
              </a:spcBef>
              <a:spcAft>
                <a:spcPts val="300"/>
              </a:spcAft>
            </a:pPr>
            <a:r>
              <a:rPr sz="1500" b="0" i="0">
                <a:solidFill>
                  <a:srgbClr val="201F1E"/>
                </a:solidFill>
                <a:latin typeface="Segoe UI"/>
              </a:rPr>
              <a:t>–  Run it again and the customer starts from zero, every time</a:t>
            </a:r>
          </a:p>
          <a:p>
            <a:pPr algn="l">
              <a:spcBef>
                <a:spcPts val="400"/>
              </a:spcBef>
              <a:spcAft>
                <a:spcPts val="500"/>
              </a:spcAft>
            </a:pPr>
            <a:r>
              <a:rPr sz="1800" b="1" i="0">
                <a:solidFill>
                  <a:srgbClr val="243A5E"/>
                </a:solidFill>
                <a:latin typeface="Segoe UI"/>
              </a:rPr>
              <a:t>■  The agenda's third pillar — memory strategies — is the gap</a:t>
            </a:r>
          </a:p>
        </p:txBody>
      </p:sp>
      <p:sp>
        <p:nvSpPr>
          <p:cNvPr id="7" name="TextBox 6"/>
          <p:cNvSpPr txBox="1"/>
          <p:nvPr/>
        </p:nvSpPr>
        <p:spPr>
          <a:xfrm>
            <a:off x="5989320" y="1325880"/>
            <a:ext cx="5212080" cy="4572000"/>
          </a:xfrm>
          <a:prstGeom prst="rect">
            <a:avLst/>
          </a:prstGeom>
          <a:noFill/>
        </p:spPr>
        <p:txBody>
          <a:bodyPr wrap="square" anchor="t" lIns="0" rIns="0" tIns="0" bIns="0">
            <a:spAutoFit/>
          </a:bodyPr>
          <a:lstStyle/>
          <a:p>
            <a:pPr algn="l">
              <a:spcBef>
                <a:spcPts val="400"/>
              </a:spcBef>
              <a:spcAft>
                <a:spcPts val="500"/>
              </a:spcAft>
            </a:pPr>
            <a:r>
              <a:rPr sz="1800" b="1" i="0">
                <a:solidFill>
                  <a:srgbClr val="243A5E"/>
                </a:solidFill>
                <a:latin typeface="Segoe UI"/>
              </a:rPr>
              <a:t>■  What memory adds</a:t>
            </a:r>
          </a:p>
          <a:p>
            <a:pPr algn="l">
              <a:spcBef>
                <a:spcPts val="0"/>
              </a:spcBef>
              <a:spcAft>
                <a:spcPts val="300"/>
              </a:spcAft>
            </a:pPr>
            <a:r>
              <a:rPr sz="1500" b="0" i="0">
                <a:solidFill>
                  <a:srgbClr val="201F1E"/>
                </a:solidFill>
                <a:latin typeface="Segoe UI"/>
              </a:rPr>
              <a:t>–  Recall who the customer is + what we already decided</a:t>
            </a:r>
          </a:p>
          <a:p>
            <a:pPr algn="l">
              <a:spcBef>
                <a:spcPts val="0"/>
              </a:spcBef>
              <a:spcAft>
                <a:spcPts val="300"/>
              </a:spcAft>
            </a:pPr>
            <a:r>
              <a:rPr sz="1500" b="0" i="0">
                <a:solidFill>
                  <a:srgbClr val="201F1E"/>
                </a:solidFill>
                <a:latin typeface="Segoe UI"/>
              </a:rPr>
              <a:t>–  Carry pending actions forward across sessions</a:t>
            </a:r>
          </a:p>
          <a:p>
            <a:pPr algn="l">
              <a:spcBef>
                <a:spcPts val="0"/>
              </a:spcBef>
              <a:spcAft>
                <a:spcPts val="300"/>
              </a:spcAft>
            </a:pPr>
            <a:r>
              <a:rPr sz="1500" b="0" i="0">
                <a:solidFill>
                  <a:srgbClr val="201F1E"/>
                </a:solidFill>
                <a:latin typeface="Segoe UI"/>
              </a:rPr>
              <a:t>–  Continuity — the customer doesn't repeat themselves</a:t>
            </a:r>
          </a:p>
          <a:p>
            <a:pPr algn="l">
              <a:spcBef>
                <a:spcPts val="0"/>
              </a:spcBef>
              <a:spcAft>
                <a:spcPts val="500"/>
              </a:spcAft>
            </a:pPr>
            <a:r>
              <a:rPr sz="1800" b="0" i="0">
                <a:solidFill>
                  <a:srgbClr val="107C10"/>
                </a:solidFill>
                <a:latin typeface="Segoe UI"/>
              </a:rPr>
              <a:t>✓  The missing tier for a real assistant</a:t>
            </a:r>
          </a:p>
          <a:p>
            <a:pPr algn="l">
              <a:spcBef>
                <a:spcPts val="0"/>
              </a:spcBef>
              <a:spcAft>
                <a:spcPts val="300"/>
              </a:spcAft>
            </a:pPr>
            <a:r>
              <a:rPr sz="1500" b="0" i="0">
                <a:solidFill>
                  <a:srgbClr val="201F1E"/>
                </a:solidFill>
                <a:latin typeface="Segoe UI"/>
              </a:rPr>
              <a:t>–  Not an agent feature — a cross-cutting concern</a:t>
            </a:r>
          </a:p>
        </p:txBody>
      </p:sp>
      <p:sp>
        <p:nvSpPr>
          <p:cNvPr id="8" name="Rectangle 7"/>
          <p:cNvSpPr/>
          <p:nvPr/>
        </p:nvSpPr>
        <p:spPr>
          <a:xfrm>
            <a:off x="0" y="6601968"/>
            <a:ext cx="12192000" cy="256032"/>
          </a:xfrm>
          <a:prstGeom prst="rect">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6611112"/>
            <a:ext cx="8229600" cy="228600"/>
          </a:xfrm>
          <a:prstGeom prst="rect">
            <a:avLst/>
          </a:prstGeom>
          <a:noFill/>
        </p:spPr>
        <p:txBody>
          <a:bodyPr wrap="square" anchor="ctr" lIns="0" rIns="0" tIns="0" bIns="0">
            <a:spAutoFit/>
          </a:bodyPr>
          <a:lstStyle/>
          <a:p>
            <a:pPr algn="l"/>
            <a:r>
              <a:rPr sz="900" b="0" i="0">
                <a:solidFill>
                  <a:srgbClr val="605E5C"/>
                </a:solidFill>
                <a:latin typeface="Segoe UI"/>
              </a:rPr>
              <a:t>Agent Modernization Workshops — Lab 06: Agent Memory Strategies   |   Recap · 2 of 2</a:t>
            </a:r>
          </a:p>
        </p:txBody>
      </p:sp>
      <p:sp>
        <p:nvSpPr>
          <p:cNvPr id="10" name="TextBox 9"/>
          <p:cNvSpPr txBox="1"/>
          <p:nvPr/>
        </p:nvSpPr>
        <p:spPr>
          <a:xfrm>
            <a:off x="11003280" y="6611112"/>
            <a:ext cx="731520" cy="228600"/>
          </a:xfrm>
          <a:prstGeom prst="rect">
            <a:avLst/>
          </a:prstGeom>
          <a:noFill/>
        </p:spPr>
        <p:txBody>
          <a:bodyPr wrap="square" anchor="ctr" lIns="0" rIns="0" tIns="0" bIns="0">
            <a:spAutoFit/>
          </a:bodyPr>
          <a:lstStyle/>
          <a:p>
            <a:pPr algn="r"/>
            <a:r>
              <a:rPr sz="900" b="1" i="0">
                <a:solidFill>
                  <a:srgbClr val="605E5C"/>
                </a:solidFill>
                <a:latin typeface="Segoe U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243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2468880"/>
            <a:ext cx="109728" cy="1554480"/>
          </a:xfrm>
          <a:prstGeom prst="rect">
            <a:avLst/>
          </a:prstGeom>
          <a:solidFill>
            <a:srgbClr val="00B7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331720"/>
            <a:ext cx="2743200" cy="914400"/>
          </a:xfrm>
          <a:prstGeom prst="rect">
            <a:avLst/>
          </a:prstGeom>
          <a:noFill/>
        </p:spPr>
        <p:txBody>
          <a:bodyPr wrap="square" anchor="t" lIns="0" rIns="0" tIns="0" bIns="0">
            <a:spAutoFit/>
          </a:bodyPr>
          <a:lstStyle/>
          <a:p>
            <a:pPr algn="l"/>
            <a:r>
              <a:rPr sz="6600" b="1" i="0">
                <a:solidFill>
                  <a:srgbClr val="00B7C3"/>
                </a:solidFill>
                <a:latin typeface="Segoe UI"/>
              </a:rPr>
              <a:t>01</a:t>
            </a:r>
          </a:p>
        </p:txBody>
      </p:sp>
      <p:sp>
        <p:nvSpPr>
          <p:cNvPr id="5" name="TextBox 4"/>
          <p:cNvSpPr txBox="1"/>
          <p:nvPr/>
        </p:nvSpPr>
        <p:spPr>
          <a:xfrm>
            <a:off x="868680" y="3200400"/>
            <a:ext cx="9601200" cy="914400"/>
          </a:xfrm>
          <a:prstGeom prst="rect">
            <a:avLst/>
          </a:prstGeom>
          <a:noFill/>
        </p:spPr>
        <p:txBody>
          <a:bodyPr wrap="square" anchor="t" lIns="0" rIns="0" tIns="0" bIns="0">
            <a:spAutoFit/>
          </a:bodyPr>
          <a:lstStyle/>
          <a:p>
            <a:pPr algn="l"/>
            <a:r>
              <a:rPr sz="3800" b="1" i="0">
                <a:solidFill>
                  <a:srgbClr val="FFFFFF"/>
                </a:solidFill>
                <a:latin typeface="Segoe UI"/>
              </a:rPr>
              <a:t>Memory strategies</a:t>
            </a:r>
          </a:p>
        </p:txBody>
      </p:sp>
      <p:sp>
        <p:nvSpPr>
          <p:cNvPr id="6" name="TextBox 5"/>
          <p:cNvSpPr txBox="1"/>
          <p:nvPr/>
        </p:nvSpPr>
        <p:spPr>
          <a:xfrm>
            <a:off x="896112" y="4114800"/>
            <a:ext cx="9601200" cy="731520"/>
          </a:xfrm>
          <a:prstGeom prst="rect">
            <a:avLst/>
          </a:prstGeom>
          <a:noFill/>
        </p:spPr>
        <p:txBody>
          <a:bodyPr wrap="square" anchor="t" lIns="0" rIns="0" tIns="0" bIns="0">
            <a:spAutoFit/>
          </a:bodyPr>
          <a:lstStyle/>
          <a:p>
            <a:pPr algn="l"/>
            <a:r>
              <a:rPr sz="1800" b="0" i="0">
                <a:solidFill>
                  <a:srgbClr val="BFD7F0"/>
                </a:solidFill>
                <a:latin typeface="Segoe UI"/>
              </a:rPr>
              <a:t>Four tiers, and two ways to store the one that matters this session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51560"/>
          </a:xfrm>
          <a:prstGeom prst="rect">
            <a:avLst/>
          </a:prstGeom>
          <a:solidFill>
            <a:srgbClr val="243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51560"/>
            <a:ext cx="12192000" cy="54864"/>
          </a:xfrm>
          <a:prstGeom prst="rect">
            <a:avLst/>
          </a:prstGeom>
          <a:solidFill>
            <a:srgbClr val="00B7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64592"/>
            <a:ext cx="10058400" cy="274320"/>
          </a:xfrm>
          <a:prstGeom prst="rect">
            <a:avLst/>
          </a:prstGeom>
          <a:noFill/>
        </p:spPr>
        <p:txBody>
          <a:bodyPr wrap="square" anchor="t" lIns="0" rIns="0" tIns="0" bIns="0">
            <a:spAutoFit/>
          </a:bodyPr>
          <a:lstStyle/>
          <a:p>
            <a:pPr algn="l"/>
            <a:r>
              <a:rPr sz="1200" b="1" i="0">
                <a:solidFill>
                  <a:srgbClr val="00B7C3"/>
                </a:solidFill>
                <a:latin typeface="Segoe UI"/>
              </a:rPr>
              <a:t>CONCEPT</a:t>
            </a:r>
          </a:p>
        </p:txBody>
      </p:sp>
      <p:sp>
        <p:nvSpPr>
          <p:cNvPr id="5" name="TextBox 4"/>
          <p:cNvSpPr txBox="1"/>
          <p:nvPr/>
        </p:nvSpPr>
        <p:spPr>
          <a:xfrm>
            <a:off x="502920" y="420624"/>
            <a:ext cx="10972800" cy="566928"/>
          </a:xfrm>
          <a:prstGeom prst="rect">
            <a:avLst/>
          </a:prstGeom>
          <a:noFill/>
        </p:spPr>
        <p:txBody>
          <a:bodyPr wrap="square" anchor="ctr" lIns="0" rIns="0" tIns="0" bIns="0">
            <a:spAutoFit/>
          </a:bodyPr>
          <a:lstStyle/>
          <a:p>
            <a:pPr algn="l"/>
            <a:r>
              <a:rPr sz="2600" b="1" i="0">
                <a:solidFill>
                  <a:srgbClr val="FFFFFF"/>
                </a:solidFill>
                <a:latin typeface="Segoe UI"/>
              </a:rPr>
              <a:t>Four tiers of agent memory</a:t>
            </a:r>
          </a:p>
        </p:txBody>
      </p:sp>
      <p:sp>
        <p:nvSpPr>
          <p:cNvPr id="6" name="Rounded Rectangle 5"/>
          <p:cNvSpPr/>
          <p:nvPr/>
        </p:nvSpPr>
        <p:spPr>
          <a:xfrm>
            <a:off x="502920" y="1783080"/>
            <a:ext cx="2343150" cy="868680"/>
          </a:xfrm>
          <a:prstGeom prst="roundRect">
            <a:avLst/>
          </a:prstGeom>
          <a:solidFill>
            <a:srgbClr val="FFFFFF"/>
          </a:solidFill>
          <a:ln w="19050">
            <a:solidFill>
              <a:srgbClr val="0078D4"/>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i="0">
                <a:solidFill>
                  <a:srgbClr val="243A5E"/>
                </a:solidFill>
                <a:latin typeface="Segoe UI"/>
              </a:rPr>
              <a:t>Conversation</a:t>
            </a:r>
          </a:p>
          <a:p>
            <a:pPr algn="ctr"/>
            <a:r>
              <a:rPr sz="1000" b="0" i="0">
                <a:solidFill>
                  <a:srgbClr val="605E5C"/>
                </a:solidFill>
                <a:latin typeface="Segoe UI"/>
              </a:rPr>
              <a:t>(managed thread)</a:t>
            </a:r>
          </a:p>
        </p:txBody>
      </p:sp>
      <p:sp>
        <p:nvSpPr>
          <p:cNvPr id="7" name="Right Arrow 6"/>
          <p:cNvSpPr/>
          <p:nvPr/>
        </p:nvSpPr>
        <p:spPr>
          <a:xfrm>
            <a:off x="2827782" y="2162556"/>
            <a:ext cx="374904" cy="109728"/>
          </a:xfrm>
          <a:prstGeom prst="rightArrow">
            <a:avLst/>
          </a:prstGeom>
          <a:solidFill>
            <a:srgbClr val="00B7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3166110" y="1783080"/>
            <a:ext cx="2343150" cy="868680"/>
          </a:xfrm>
          <a:prstGeom prst="roundRect">
            <a:avLst/>
          </a:prstGeom>
          <a:solidFill>
            <a:srgbClr val="FFFFFF"/>
          </a:solidFill>
          <a:ln w="19050">
            <a:solidFill>
              <a:srgbClr val="0078D4"/>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i="0">
                <a:solidFill>
                  <a:srgbClr val="243A5E"/>
                </a:solidFill>
                <a:latin typeface="Segoe UI"/>
              </a:rPr>
              <a:t>User / customer</a:t>
            </a:r>
          </a:p>
          <a:p>
            <a:pPr algn="ctr"/>
            <a:r>
              <a:rPr sz="1000" b="0" i="0">
                <a:solidFill>
                  <a:srgbClr val="605E5C"/>
                </a:solidFill>
                <a:latin typeface="Segoe UI"/>
              </a:rPr>
              <a:t>(cross-session)</a:t>
            </a:r>
          </a:p>
        </p:txBody>
      </p:sp>
      <p:sp>
        <p:nvSpPr>
          <p:cNvPr id="9" name="Right Arrow 8"/>
          <p:cNvSpPr/>
          <p:nvPr/>
        </p:nvSpPr>
        <p:spPr>
          <a:xfrm>
            <a:off x="5490972" y="2162556"/>
            <a:ext cx="374904" cy="109728"/>
          </a:xfrm>
          <a:prstGeom prst="rightArrow">
            <a:avLst/>
          </a:prstGeom>
          <a:solidFill>
            <a:srgbClr val="00B7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5829300" y="1783080"/>
            <a:ext cx="2343150" cy="868680"/>
          </a:xfrm>
          <a:prstGeom prst="roundRect">
            <a:avLst/>
          </a:prstGeom>
          <a:solidFill>
            <a:srgbClr val="FFFFFF"/>
          </a:solidFill>
          <a:ln w="19050">
            <a:solidFill>
              <a:srgbClr val="0078D4"/>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i="0">
                <a:solidFill>
                  <a:srgbClr val="243A5E"/>
                </a:solidFill>
                <a:latin typeface="Segoe UI"/>
              </a:rPr>
              <a:t>State / plans</a:t>
            </a:r>
          </a:p>
          <a:p>
            <a:pPr algn="ctr"/>
            <a:r>
              <a:rPr sz="1000" b="0" i="0">
                <a:solidFill>
                  <a:srgbClr val="605E5C"/>
                </a:solidFill>
                <a:latin typeface="Segoe UI"/>
              </a:rPr>
              <a:t>(workflow)</a:t>
            </a:r>
          </a:p>
        </p:txBody>
      </p:sp>
      <p:sp>
        <p:nvSpPr>
          <p:cNvPr id="11" name="Right Arrow 10"/>
          <p:cNvSpPr/>
          <p:nvPr/>
        </p:nvSpPr>
        <p:spPr>
          <a:xfrm>
            <a:off x="8154162" y="2162556"/>
            <a:ext cx="374904" cy="109728"/>
          </a:xfrm>
          <a:prstGeom prst="rightArrow">
            <a:avLst/>
          </a:prstGeom>
          <a:solidFill>
            <a:srgbClr val="00B7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8492490" y="1783080"/>
            <a:ext cx="2343150" cy="868680"/>
          </a:xfrm>
          <a:prstGeom prst="roundRect">
            <a:avLst/>
          </a:prstGeom>
          <a:solidFill>
            <a:srgbClr val="FFFFFF"/>
          </a:solidFill>
          <a:ln w="19050">
            <a:solidFill>
              <a:srgbClr val="0078D4"/>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i="0">
                <a:solidFill>
                  <a:srgbClr val="243A5E"/>
                </a:solidFill>
                <a:latin typeface="Segoe UI"/>
              </a:rPr>
              <a:t>Knowledge</a:t>
            </a:r>
          </a:p>
          <a:p>
            <a:pPr algn="ctr"/>
            <a:r>
              <a:rPr sz="1000" b="0" i="0">
                <a:solidFill>
                  <a:srgbClr val="605E5C"/>
                </a:solidFill>
                <a:latin typeface="Segoe UI"/>
              </a:rPr>
              <a:t>(AI Search)</a:t>
            </a:r>
          </a:p>
        </p:txBody>
      </p:sp>
      <p:sp>
        <p:nvSpPr>
          <p:cNvPr id="13" name="TextBox 12"/>
          <p:cNvSpPr txBox="1"/>
          <p:nvPr/>
        </p:nvSpPr>
        <p:spPr>
          <a:xfrm>
            <a:off x="502920" y="2880360"/>
            <a:ext cx="10332720" cy="457200"/>
          </a:xfrm>
          <a:prstGeom prst="rect">
            <a:avLst/>
          </a:prstGeom>
          <a:noFill/>
        </p:spPr>
        <p:txBody>
          <a:bodyPr wrap="square" anchor="t" lIns="0" rIns="0" tIns="0" bIns="0">
            <a:spAutoFit/>
          </a:bodyPr>
          <a:lstStyle/>
          <a:p>
            <a:pPr algn="ctr"/>
            <a:r>
              <a:rPr sz="1300" b="0" i="1">
                <a:solidFill>
                  <a:srgbClr val="605E5C"/>
                </a:solidFill>
                <a:latin typeface="Segoe UI"/>
              </a:rPr>
              <a:t>Different lifetimes · different stores — pick the right tier for each kind of memory</a:t>
            </a:r>
          </a:p>
        </p:txBody>
      </p:sp>
      <p:sp>
        <p:nvSpPr>
          <p:cNvPr id="14" name="TextBox 13"/>
          <p:cNvSpPr txBox="1"/>
          <p:nvPr/>
        </p:nvSpPr>
        <p:spPr>
          <a:xfrm>
            <a:off x="502920" y="3474720"/>
            <a:ext cx="10332720" cy="2286000"/>
          </a:xfrm>
          <a:prstGeom prst="rect">
            <a:avLst/>
          </a:prstGeom>
          <a:noFill/>
        </p:spPr>
        <p:txBody>
          <a:bodyPr wrap="square" anchor="t" lIns="0" rIns="0" tIns="0" bIns="0">
            <a:spAutoFit/>
          </a:bodyPr>
          <a:lstStyle/>
          <a:p>
            <a:pPr algn="l">
              <a:spcBef>
                <a:spcPts val="400"/>
              </a:spcBef>
              <a:spcAft>
                <a:spcPts val="500"/>
              </a:spcAft>
            </a:pPr>
            <a:r>
              <a:rPr sz="1800" b="1" i="0">
                <a:solidFill>
                  <a:srgbClr val="243A5E"/>
                </a:solidFill>
                <a:latin typeface="Segoe UI"/>
              </a:rPr>
              <a:t>■  This session builds the USER / customer tier — cross-session recall scoped to a customer</a:t>
            </a:r>
          </a:p>
          <a:p>
            <a:pPr algn="l">
              <a:spcBef>
                <a:spcPts val="0"/>
              </a:spcBef>
              <a:spcAft>
                <a:spcPts val="300"/>
              </a:spcAft>
            </a:pPr>
            <a:r>
              <a:rPr sz="1500" b="0" i="0">
                <a:solidFill>
                  <a:srgbClr val="201F1E"/>
                </a:solidFill>
                <a:latin typeface="Segoe UI"/>
              </a:rPr>
              <a:t>–  Conversation = per-run thread (Lab 06 already) · Knowledge = shared search (Lab 03) — both reused</a:t>
            </a:r>
          </a:p>
        </p:txBody>
      </p:sp>
      <p:sp>
        <p:nvSpPr>
          <p:cNvPr id="15" name="Rectangle 14"/>
          <p:cNvSpPr/>
          <p:nvPr/>
        </p:nvSpPr>
        <p:spPr>
          <a:xfrm>
            <a:off x="0" y="6601968"/>
            <a:ext cx="12192000" cy="256032"/>
          </a:xfrm>
          <a:prstGeom prst="rect">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02920" y="6611112"/>
            <a:ext cx="8229600" cy="228600"/>
          </a:xfrm>
          <a:prstGeom prst="rect">
            <a:avLst/>
          </a:prstGeom>
          <a:noFill/>
        </p:spPr>
        <p:txBody>
          <a:bodyPr wrap="square" anchor="ctr" lIns="0" rIns="0" tIns="0" bIns="0">
            <a:spAutoFit/>
          </a:bodyPr>
          <a:lstStyle/>
          <a:p>
            <a:pPr algn="l"/>
            <a:r>
              <a:rPr sz="900" b="0" i="0">
                <a:solidFill>
                  <a:srgbClr val="605E5C"/>
                </a:solidFill>
                <a:latin typeface="Segoe UI"/>
              </a:rPr>
              <a:t>Agent Modernization Workshops — Lab 06: Agent Memory Strategies   |   Concept</a:t>
            </a:r>
          </a:p>
        </p:txBody>
      </p:sp>
      <p:sp>
        <p:nvSpPr>
          <p:cNvPr id="17" name="TextBox 16"/>
          <p:cNvSpPr txBox="1"/>
          <p:nvPr/>
        </p:nvSpPr>
        <p:spPr>
          <a:xfrm>
            <a:off x="11003280" y="6611112"/>
            <a:ext cx="731520" cy="228600"/>
          </a:xfrm>
          <a:prstGeom prst="rect">
            <a:avLst/>
          </a:prstGeom>
          <a:noFill/>
        </p:spPr>
        <p:txBody>
          <a:bodyPr wrap="square" anchor="ctr" lIns="0" rIns="0" tIns="0" bIns="0">
            <a:spAutoFit/>
          </a:bodyPr>
          <a:lstStyle/>
          <a:p>
            <a:pPr algn="r"/>
            <a:r>
              <a:rPr sz="900" b="1" i="0">
                <a:solidFill>
                  <a:srgbClr val="605E5C"/>
                </a:solidFill>
                <a:latin typeface="Segoe U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51560"/>
          </a:xfrm>
          <a:prstGeom prst="rect">
            <a:avLst/>
          </a:prstGeom>
          <a:solidFill>
            <a:srgbClr val="243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51560"/>
            <a:ext cx="12192000" cy="54864"/>
          </a:xfrm>
          <a:prstGeom prst="rect">
            <a:avLst/>
          </a:prstGeom>
          <a:solidFill>
            <a:srgbClr val="00B7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64592"/>
            <a:ext cx="10058400" cy="274320"/>
          </a:xfrm>
          <a:prstGeom prst="rect">
            <a:avLst/>
          </a:prstGeom>
          <a:noFill/>
        </p:spPr>
        <p:txBody>
          <a:bodyPr wrap="square" anchor="t" lIns="0" rIns="0" tIns="0" bIns="0">
            <a:spAutoFit/>
          </a:bodyPr>
          <a:lstStyle/>
          <a:p>
            <a:pPr algn="l"/>
            <a:r>
              <a:rPr sz="1200" b="1" i="0">
                <a:solidFill>
                  <a:srgbClr val="00B7C3"/>
                </a:solidFill>
                <a:latin typeface="Segoe UI"/>
              </a:rPr>
              <a:t>CONCEPT</a:t>
            </a:r>
          </a:p>
        </p:txBody>
      </p:sp>
      <p:sp>
        <p:nvSpPr>
          <p:cNvPr id="5" name="TextBox 4"/>
          <p:cNvSpPr txBox="1"/>
          <p:nvPr/>
        </p:nvSpPr>
        <p:spPr>
          <a:xfrm>
            <a:off x="502920" y="420624"/>
            <a:ext cx="10972800" cy="566928"/>
          </a:xfrm>
          <a:prstGeom prst="rect">
            <a:avLst/>
          </a:prstGeom>
          <a:noFill/>
        </p:spPr>
        <p:txBody>
          <a:bodyPr wrap="square" anchor="ctr" lIns="0" rIns="0" tIns="0" bIns="0">
            <a:spAutoFit/>
          </a:bodyPr>
          <a:lstStyle/>
          <a:p>
            <a:pPr algn="l"/>
            <a:r>
              <a:rPr sz="2600" b="1" i="0">
                <a:solidFill>
                  <a:srgbClr val="FFFFFF"/>
                </a:solidFill>
                <a:latin typeface="Segoe UI"/>
              </a:rPr>
              <a:t>Two ways to hold customer memory</a:t>
            </a:r>
          </a:p>
        </p:txBody>
      </p:sp>
      <p:sp>
        <p:nvSpPr>
          <p:cNvPr id="6" name="TextBox 5"/>
          <p:cNvSpPr txBox="1"/>
          <p:nvPr/>
        </p:nvSpPr>
        <p:spPr>
          <a:xfrm>
            <a:off x="502920" y="1325880"/>
            <a:ext cx="5212080" cy="4572000"/>
          </a:xfrm>
          <a:prstGeom prst="rect">
            <a:avLst/>
          </a:prstGeom>
          <a:noFill/>
        </p:spPr>
        <p:txBody>
          <a:bodyPr wrap="square" anchor="t" lIns="0" rIns="0" tIns="0" bIns="0">
            <a:spAutoFit/>
          </a:bodyPr>
          <a:lstStyle/>
          <a:p>
            <a:pPr algn="l">
              <a:spcBef>
                <a:spcPts val="400"/>
              </a:spcBef>
              <a:spcAft>
                <a:spcPts val="500"/>
              </a:spcAft>
            </a:pPr>
            <a:r>
              <a:rPr sz="1800" b="1" i="0">
                <a:solidFill>
                  <a:srgbClr val="243A5E"/>
                </a:solidFill>
                <a:latin typeface="Segoe UI"/>
              </a:rPr>
              <a:t>■  Foundry-managed Memory  (preview)</a:t>
            </a:r>
          </a:p>
          <a:p>
            <a:pPr algn="l">
              <a:spcBef>
                <a:spcPts val="0"/>
              </a:spcBef>
              <a:spcAft>
                <a:spcPts val="300"/>
              </a:spcAft>
            </a:pPr>
            <a:r>
              <a:rPr sz="1500" b="0" i="0">
                <a:solidFill>
                  <a:srgbClr val="201F1E"/>
                </a:solidFill>
                <a:latin typeface="Segoe UI"/>
              </a:rPr>
              <a:t>–  The platform owns extraction, vectorization, and retrieval</a:t>
            </a:r>
          </a:p>
          <a:p>
            <a:pPr algn="l">
              <a:spcBef>
                <a:spcPts val="0"/>
              </a:spcBef>
              <a:spcAft>
                <a:spcPts val="300"/>
              </a:spcAft>
            </a:pPr>
            <a:r>
              <a:rPr sz="1500" b="0" i="0">
                <a:solidFill>
                  <a:srgbClr val="201F1E"/>
                </a:solidFill>
                <a:latin typeface="Segoe UI"/>
              </a:rPr>
              <a:t>–  Cosmos-backed under the hood; attach a memory tool, scope by user</a:t>
            </a:r>
          </a:p>
          <a:p>
            <a:pPr algn="l">
              <a:spcBef>
                <a:spcPts val="0"/>
              </a:spcBef>
              <a:spcAft>
                <a:spcPts val="300"/>
              </a:spcAft>
            </a:pPr>
            <a:r>
              <a:rPr sz="1500" b="0" i="0">
                <a:solidFill>
                  <a:srgbClr val="201F1E"/>
                </a:solidFill>
                <a:latin typeface="Segoe UI"/>
              </a:rPr>
              <a:t>–  Needs an embedding deployment + preview enabled</a:t>
            </a:r>
          </a:p>
          <a:p>
            <a:pPr algn="l">
              <a:spcBef>
                <a:spcPts val="0"/>
              </a:spcBef>
              <a:spcAft>
                <a:spcPts val="500"/>
              </a:spcAft>
            </a:pPr>
            <a:r>
              <a:rPr sz="1800" b="0" i="0">
                <a:solidFill>
                  <a:srgbClr val="201F1E"/>
                </a:solidFill>
                <a:latin typeface="Segoe UI"/>
              </a:rPr>
              <a:t>Least code — most platform dependency</a:t>
            </a:r>
          </a:p>
        </p:txBody>
      </p:sp>
      <p:sp>
        <p:nvSpPr>
          <p:cNvPr id="7" name="TextBox 6"/>
          <p:cNvSpPr txBox="1"/>
          <p:nvPr/>
        </p:nvSpPr>
        <p:spPr>
          <a:xfrm>
            <a:off x="5989320" y="1325880"/>
            <a:ext cx="5212080" cy="4572000"/>
          </a:xfrm>
          <a:prstGeom prst="rect">
            <a:avLst/>
          </a:prstGeom>
          <a:noFill/>
        </p:spPr>
        <p:txBody>
          <a:bodyPr wrap="square" anchor="t" lIns="0" rIns="0" tIns="0" bIns="0">
            <a:spAutoFit/>
          </a:bodyPr>
          <a:lstStyle/>
          <a:p>
            <a:pPr algn="l">
              <a:spcBef>
                <a:spcPts val="400"/>
              </a:spcBef>
              <a:spcAft>
                <a:spcPts val="500"/>
              </a:spcAft>
            </a:pPr>
            <a:r>
              <a:rPr sz="1800" b="1" i="0">
                <a:solidFill>
                  <a:srgbClr val="243A5E"/>
                </a:solidFill>
                <a:latin typeface="Segoe UI"/>
              </a:rPr>
              <a:t>■  Bring-your-own store  (BYO)</a:t>
            </a:r>
          </a:p>
          <a:p>
            <a:pPr algn="l">
              <a:spcBef>
                <a:spcPts val="0"/>
              </a:spcBef>
              <a:spcAft>
                <a:spcPts val="300"/>
              </a:spcAft>
            </a:pPr>
            <a:r>
              <a:rPr sz="1500" b="0" i="0">
                <a:solidFill>
                  <a:srgbClr val="201F1E"/>
                </a:solidFill>
                <a:latin typeface="Segoe UI"/>
              </a:rPr>
              <a:t>–  You own compaction + the store; the app stays in control</a:t>
            </a:r>
          </a:p>
          <a:p>
            <a:pPr algn="l">
              <a:spcBef>
                <a:spcPts val="0"/>
              </a:spcBef>
              <a:spcAft>
                <a:spcPts val="300"/>
              </a:spcAft>
            </a:pPr>
            <a:r>
              <a:rPr sz="1500" b="0" i="0">
                <a:solidFill>
                  <a:srgbClr val="201F1E"/>
                </a:solidFill>
                <a:latin typeface="Segoe UI"/>
              </a:rPr>
              <a:t>–  Portable, offline, unit-testable — local file or Cosmos, same code</a:t>
            </a:r>
          </a:p>
          <a:p>
            <a:pPr algn="l">
              <a:spcBef>
                <a:spcPts val="0"/>
              </a:spcBef>
              <a:spcAft>
                <a:spcPts val="300"/>
              </a:spcAft>
            </a:pPr>
            <a:r>
              <a:rPr sz="1500" b="0" i="0">
                <a:solidFill>
                  <a:srgbClr val="201F1E"/>
                </a:solidFill>
                <a:latin typeface="Segoe UI"/>
              </a:rPr>
              <a:t>–  Swap the store behind one interface, not a rewrite</a:t>
            </a:r>
          </a:p>
          <a:p>
            <a:pPr algn="l">
              <a:spcBef>
                <a:spcPts val="0"/>
              </a:spcBef>
              <a:spcAft>
                <a:spcPts val="500"/>
              </a:spcAft>
            </a:pPr>
            <a:r>
              <a:rPr sz="1800" b="0" i="0">
                <a:solidFill>
                  <a:srgbClr val="107C10"/>
                </a:solidFill>
                <a:latin typeface="Segoe UI"/>
              </a:rPr>
              <a:t>✓  Teach BOTH — BYO first, managed when you want platform retrieval</a:t>
            </a:r>
          </a:p>
          <a:p>
            <a:pPr algn="l">
              <a:spcBef>
                <a:spcPts val="0"/>
              </a:spcBef>
              <a:spcAft>
                <a:spcPts val="300"/>
              </a:spcAft>
            </a:pPr>
            <a:r>
              <a:rPr sz="1500" b="0" i="0">
                <a:solidFill>
                  <a:srgbClr val="201F1E"/>
                </a:solidFill>
                <a:latin typeface="Segoe UI"/>
              </a:rPr>
              <a:t>–  BYO is also the fallback if managed memory isn't in your resource yet</a:t>
            </a:r>
          </a:p>
        </p:txBody>
      </p:sp>
      <p:sp>
        <p:nvSpPr>
          <p:cNvPr id="8" name="Rectangle 7"/>
          <p:cNvSpPr/>
          <p:nvPr/>
        </p:nvSpPr>
        <p:spPr>
          <a:xfrm>
            <a:off x="0" y="6601968"/>
            <a:ext cx="12192000" cy="256032"/>
          </a:xfrm>
          <a:prstGeom prst="rect">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6611112"/>
            <a:ext cx="8229600" cy="228600"/>
          </a:xfrm>
          <a:prstGeom prst="rect">
            <a:avLst/>
          </a:prstGeom>
          <a:noFill/>
        </p:spPr>
        <p:txBody>
          <a:bodyPr wrap="square" anchor="ctr" lIns="0" rIns="0" tIns="0" bIns="0">
            <a:spAutoFit/>
          </a:bodyPr>
          <a:lstStyle/>
          <a:p>
            <a:pPr algn="l"/>
            <a:r>
              <a:rPr sz="900" b="0" i="0">
                <a:solidFill>
                  <a:srgbClr val="605E5C"/>
                </a:solidFill>
                <a:latin typeface="Segoe UI"/>
              </a:rPr>
              <a:t>Agent Modernization Workshops — Lab 06: Agent Memory Strategies   |   Concept</a:t>
            </a:r>
          </a:p>
        </p:txBody>
      </p:sp>
      <p:sp>
        <p:nvSpPr>
          <p:cNvPr id="10" name="TextBox 9"/>
          <p:cNvSpPr txBox="1"/>
          <p:nvPr/>
        </p:nvSpPr>
        <p:spPr>
          <a:xfrm>
            <a:off x="11003280" y="6611112"/>
            <a:ext cx="731520" cy="228600"/>
          </a:xfrm>
          <a:prstGeom prst="rect">
            <a:avLst/>
          </a:prstGeom>
          <a:noFill/>
        </p:spPr>
        <p:txBody>
          <a:bodyPr wrap="square" anchor="ctr" lIns="0" rIns="0" tIns="0" bIns="0">
            <a:spAutoFit/>
          </a:bodyPr>
          <a:lstStyle/>
          <a:p>
            <a:pPr algn="r"/>
            <a:r>
              <a:rPr sz="900" b="1" i="0">
                <a:solidFill>
                  <a:srgbClr val="605E5C"/>
                </a:solidFill>
                <a:latin typeface="Segoe U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51560"/>
          </a:xfrm>
          <a:prstGeom prst="rect">
            <a:avLst/>
          </a:prstGeom>
          <a:solidFill>
            <a:srgbClr val="243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51560"/>
            <a:ext cx="12192000" cy="54864"/>
          </a:xfrm>
          <a:prstGeom prst="rect">
            <a:avLst/>
          </a:prstGeom>
          <a:solidFill>
            <a:srgbClr val="00B7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64592"/>
            <a:ext cx="10058400" cy="274320"/>
          </a:xfrm>
          <a:prstGeom prst="rect">
            <a:avLst/>
          </a:prstGeom>
          <a:noFill/>
        </p:spPr>
        <p:txBody>
          <a:bodyPr wrap="square" anchor="t" lIns="0" rIns="0" tIns="0" bIns="0">
            <a:spAutoFit/>
          </a:bodyPr>
          <a:lstStyle/>
          <a:p>
            <a:pPr algn="l"/>
            <a:r>
              <a:rPr sz="1200" b="1" i="0">
                <a:solidFill>
                  <a:srgbClr val="00B7C3"/>
                </a:solidFill>
                <a:latin typeface="Segoe UI"/>
              </a:rPr>
              <a:t>THE DIFF</a:t>
            </a:r>
          </a:p>
        </p:txBody>
      </p:sp>
      <p:sp>
        <p:nvSpPr>
          <p:cNvPr id="5" name="TextBox 4"/>
          <p:cNvSpPr txBox="1"/>
          <p:nvPr/>
        </p:nvSpPr>
        <p:spPr>
          <a:xfrm>
            <a:off x="502920" y="420624"/>
            <a:ext cx="10972800" cy="566928"/>
          </a:xfrm>
          <a:prstGeom prst="rect">
            <a:avLst/>
          </a:prstGeom>
          <a:noFill/>
        </p:spPr>
        <p:txBody>
          <a:bodyPr wrap="square" anchor="ctr" lIns="0" rIns="0" tIns="0" bIns="0">
            <a:spAutoFit/>
          </a:bodyPr>
          <a:lstStyle/>
          <a:p>
            <a:pPr algn="l"/>
            <a:r>
              <a:rPr sz="2600" b="1" i="0">
                <a:solidFill>
                  <a:srgbClr val="FFFFFF"/>
                </a:solidFill>
                <a:latin typeface="Segoe UI"/>
              </a:rPr>
              <a:t>What it took to add memory</a:t>
            </a:r>
          </a:p>
        </p:txBody>
      </p:sp>
      <p:sp>
        <p:nvSpPr>
          <p:cNvPr id="6" name="TextBox 5"/>
          <p:cNvSpPr txBox="1"/>
          <p:nvPr/>
        </p:nvSpPr>
        <p:spPr>
          <a:xfrm>
            <a:off x="502920" y="1325880"/>
            <a:ext cx="5212080" cy="4572000"/>
          </a:xfrm>
          <a:prstGeom prst="rect">
            <a:avLst/>
          </a:prstGeom>
          <a:noFill/>
        </p:spPr>
        <p:txBody>
          <a:bodyPr wrap="square" anchor="t" lIns="0" rIns="0" tIns="0" bIns="0">
            <a:spAutoFit/>
          </a:bodyPr>
          <a:lstStyle/>
          <a:p>
            <a:pPr algn="l">
              <a:spcBef>
                <a:spcPts val="400"/>
              </a:spcBef>
              <a:spcAft>
                <a:spcPts val="500"/>
              </a:spcAft>
            </a:pPr>
            <a:r>
              <a:rPr sz="1800" b="1" i="0">
                <a:solidFill>
                  <a:srgbClr val="243A5E"/>
                </a:solidFill>
                <a:latin typeface="Segoe UI"/>
              </a:rPr>
              <a:t>■  Two hooks — reused from the Skills seam:</a:t>
            </a:r>
          </a:p>
          <a:p>
            <a:pPr algn="l">
              <a:spcBef>
                <a:spcPts val="0"/>
              </a:spcBef>
              <a:spcAft>
                <a:spcPts val="300"/>
              </a:spcAft>
            </a:pPr>
            <a:r>
              <a:rPr sz="1500" b="0" i="0">
                <a:solidFill>
                  <a:srgbClr val="201F1E"/>
                </a:solidFill>
                <a:latin typeface="Segoe UI"/>
              </a:rPr>
              <a:t>–  Recall → inject a memory preamble into every specialist's instructions</a:t>
            </a:r>
          </a:p>
          <a:p>
            <a:pPr algn="l">
              <a:spcBef>
                <a:spcPts val="0"/>
              </a:spcBef>
              <a:spcAft>
                <a:spcPts val="300"/>
              </a:spcAft>
            </a:pPr>
            <a:r>
              <a:rPr sz="1300" b="0" i="0">
                <a:solidFill>
                  <a:srgbClr val="201F1E"/>
                </a:solidFill>
                <a:latin typeface="Segoe UI"/>
              </a:rPr>
              <a:t>·  the exact injection point Agent→Skills already used</a:t>
            </a:r>
          </a:p>
          <a:p>
            <a:pPr algn="l">
              <a:spcBef>
                <a:spcPts val="0"/>
              </a:spcBef>
              <a:spcAft>
                <a:spcPts val="300"/>
              </a:spcAft>
            </a:pPr>
            <a:r>
              <a:rPr sz="1500" b="0" i="0">
                <a:solidFill>
                  <a:srgbClr val="201F1E"/>
                </a:solidFill>
                <a:latin typeface="Segoe UI"/>
              </a:rPr>
              <a:t>–  Record → compact → save the run's outcome after it finishes</a:t>
            </a:r>
          </a:p>
          <a:p>
            <a:pPr algn="l">
              <a:spcBef>
                <a:spcPts val="400"/>
              </a:spcBef>
              <a:spcAft>
                <a:spcPts val="500"/>
              </a:spcAft>
            </a:pPr>
            <a:r>
              <a:rPr sz="1800" b="1" i="0">
                <a:solidFill>
                  <a:srgbClr val="243A5E"/>
                </a:solidFill>
                <a:latin typeface="Segoe UI"/>
              </a:rPr>
              <a:t>■  A --memory flag mirroring --skills</a:t>
            </a:r>
          </a:p>
          <a:p>
            <a:pPr algn="l">
              <a:spcBef>
                <a:spcPts val="0"/>
              </a:spcBef>
              <a:spcAft>
                <a:spcPts val="300"/>
              </a:spcAft>
            </a:pPr>
            <a:r>
              <a:rPr sz="1500" b="0" i="0">
                <a:solidFill>
                  <a:srgbClr val="201F1E"/>
                </a:solidFill>
                <a:latin typeface="Segoe UI"/>
              </a:rPr>
              <a:t>–  off (default) · local · cosmos · foundry  —  env fallback MEMORY_MODE</a:t>
            </a:r>
          </a:p>
          <a:p>
            <a:pPr algn="l">
              <a:spcBef>
                <a:spcPts val="0"/>
              </a:spcBef>
              <a:spcAft>
                <a:spcPts val="500"/>
              </a:spcAft>
            </a:pPr>
            <a:r>
              <a:rPr sz="1800" b="0" i="0">
                <a:solidFill>
                  <a:srgbClr val="107C10"/>
                </a:solidFill>
                <a:latin typeface="Segoe UI"/>
              </a:rPr>
              <a:t>✓  No agent or workflow rewrites — memory is a host concern</a:t>
            </a:r>
          </a:p>
        </p:txBody>
      </p:sp>
      <p:sp>
        <p:nvSpPr>
          <p:cNvPr id="7" name="TextBox 6"/>
          <p:cNvSpPr txBox="1"/>
          <p:nvPr/>
        </p:nvSpPr>
        <p:spPr>
          <a:xfrm>
            <a:off x="5989320" y="1325880"/>
            <a:ext cx="5212080" cy="4572000"/>
          </a:xfrm>
          <a:prstGeom prst="rect">
            <a:avLst/>
          </a:prstGeom>
          <a:noFill/>
        </p:spPr>
        <p:txBody>
          <a:bodyPr wrap="square" anchor="t" lIns="0" rIns="0" tIns="0" bIns="0">
            <a:spAutoFit/>
          </a:bodyPr>
          <a:lstStyle/>
          <a:p>
            <a:pPr algn="l">
              <a:spcBef>
                <a:spcPts val="400"/>
              </a:spcBef>
              <a:spcAft>
                <a:spcPts val="500"/>
              </a:spcAft>
            </a:pPr>
            <a:r>
              <a:rPr sz="1800" b="1" i="0">
                <a:solidFill>
                  <a:srgbClr val="243A5E"/>
                </a:solidFill>
                <a:latin typeface="Segoe UI"/>
              </a:rPr>
              <a:t>■  The literal diff</a:t>
            </a:r>
          </a:p>
          <a:p>
            <a:pPr algn="l">
              <a:spcBef>
                <a:spcPts val="0"/>
              </a:spcBef>
              <a:spcAft>
                <a:spcPts val="300"/>
              </a:spcAft>
            </a:pPr>
            <a:r>
              <a:rPr sz="1500" b="0" i="0">
                <a:solidFill>
                  <a:srgbClr val="201F1E"/>
                </a:solidFill>
                <a:latin typeface="Segoe UI"/>
              </a:rPr>
              <a:t>–  New Memory/ folder — 5 files, ~330 lines, zero Azure deps for local</a:t>
            </a:r>
          </a:p>
          <a:p>
            <a:pPr algn="l">
              <a:spcBef>
                <a:spcPts val="0"/>
              </a:spcBef>
              <a:spcAft>
                <a:spcPts val="300"/>
              </a:spcAft>
            </a:pPr>
            <a:r>
              <a:rPr sz="1300" b="0" i="0">
                <a:solidFill>
                  <a:srgbClr val="201F1E"/>
                </a:solidFill>
                <a:latin typeface="Segoe UI"/>
              </a:rPr>
              <a:t>·  MemoryModels · IMemoryStore · LocalFileStore · Compactor · MemoryManager</a:t>
            </a:r>
          </a:p>
          <a:p>
            <a:pPr algn="l">
              <a:spcBef>
                <a:spcPts val="0"/>
              </a:spcBef>
              <a:spcAft>
                <a:spcPts val="300"/>
              </a:spcAft>
            </a:pPr>
            <a:r>
              <a:rPr sz="1500" b="0" i="0">
                <a:solidFill>
                  <a:srgbClr val="201F1E"/>
                </a:solidFill>
                <a:latin typeface="Segoe UI"/>
              </a:rPr>
              <a:t>–  Program.cs — parse --memory; recall before the run; record after; status banner</a:t>
            </a:r>
          </a:p>
          <a:p>
            <a:pPr algn="l">
              <a:spcBef>
                <a:spcPts val="0"/>
              </a:spcBef>
              <a:spcAft>
                <a:spcPts val="300"/>
              </a:spcAft>
            </a:pPr>
            <a:r>
              <a:rPr sz="1500" b="0" i="0">
                <a:solidFill>
                  <a:srgbClr val="201F1E"/>
                </a:solidFill>
                <a:latin typeface="Segoe UI"/>
              </a:rPr>
              <a:t>–  AgentTeam.cs — Build() gains one optional memoryPreamble parameter</a:t>
            </a:r>
          </a:p>
          <a:p>
            <a:pPr algn="l">
              <a:spcBef>
                <a:spcPts val="0"/>
              </a:spcBef>
              <a:spcAft>
                <a:spcPts val="300"/>
              </a:spcAft>
            </a:pPr>
            <a:r>
              <a:rPr sz="1500" b="0" i="0">
                <a:solidFill>
                  <a:srgbClr val="201F1E"/>
                </a:solidFill>
                <a:latin typeface="Segoe UI"/>
              </a:rPr>
              <a:t>–  .gitignore — ignore the runtime .memory/ store</a:t>
            </a:r>
          </a:p>
          <a:p>
            <a:pPr algn="l">
              <a:spcBef>
                <a:spcPts val="0"/>
              </a:spcBef>
              <a:spcAft>
                <a:spcPts val="500"/>
              </a:spcAft>
            </a:pPr>
            <a:r>
              <a:rPr sz="1800" b="0" i="0">
                <a:solidFill>
                  <a:srgbClr val="107C10"/>
                </a:solidFill>
                <a:latin typeface="Segoe UI"/>
              </a:rPr>
              <a:t>✓  3 files touched · +100 lines — that's the whole change</a:t>
            </a:r>
          </a:p>
        </p:txBody>
      </p:sp>
      <p:sp>
        <p:nvSpPr>
          <p:cNvPr id="8" name="Rectangle 7"/>
          <p:cNvSpPr/>
          <p:nvPr/>
        </p:nvSpPr>
        <p:spPr>
          <a:xfrm>
            <a:off x="0" y="6601968"/>
            <a:ext cx="12192000" cy="256032"/>
          </a:xfrm>
          <a:prstGeom prst="rect">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6611112"/>
            <a:ext cx="8229600" cy="228600"/>
          </a:xfrm>
          <a:prstGeom prst="rect">
            <a:avLst/>
          </a:prstGeom>
          <a:noFill/>
        </p:spPr>
        <p:txBody>
          <a:bodyPr wrap="square" anchor="ctr" lIns="0" rIns="0" tIns="0" bIns="0">
            <a:spAutoFit/>
          </a:bodyPr>
          <a:lstStyle/>
          <a:p>
            <a:pPr algn="l"/>
            <a:r>
              <a:rPr sz="900" b="0" i="0">
                <a:solidFill>
                  <a:srgbClr val="605E5C"/>
                </a:solidFill>
                <a:latin typeface="Segoe UI"/>
              </a:rPr>
              <a:t>Agent Modernization Workshops — Lab 06: Agent Memory Strategies   |   The diff</a:t>
            </a:r>
          </a:p>
        </p:txBody>
      </p:sp>
      <p:sp>
        <p:nvSpPr>
          <p:cNvPr id="10" name="TextBox 9"/>
          <p:cNvSpPr txBox="1"/>
          <p:nvPr/>
        </p:nvSpPr>
        <p:spPr>
          <a:xfrm>
            <a:off x="11003280" y="6611112"/>
            <a:ext cx="731520" cy="228600"/>
          </a:xfrm>
          <a:prstGeom prst="rect">
            <a:avLst/>
          </a:prstGeom>
          <a:noFill/>
        </p:spPr>
        <p:txBody>
          <a:bodyPr wrap="square" anchor="ctr" lIns="0" rIns="0" tIns="0" bIns="0">
            <a:spAutoFit/>
          </a:bodyPr>
          <a:lstStyle/>
          <a:p>
            <a:pPr algn="r"/>
            <a:r>
              <a:rPr sz="900" b="1" i="0">
                <a:solidFill>
                  <a:srgbClr val="605E5C"/>
                </a:solidFill>
                <a:latin typeface="Segoe U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51560"/>
          </a:xfrm>
          <a:prstGeom prst="rect">
            <a:avLst/>
          </a:prstGeom>
          <a:solidFill>
            <a:srgbClr val="243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51560"/>
            <a:ext cx="12192000" cy="54864"/>
          </a:xfrm>
          <a:prstGeom prst="rect">
            <a:avLst/>
          </a:prstGeom>
          <a:solidFill>
            <a:srgbClr val="00B7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64592"/>
            <a:ext cx="10058400" cy="274320"/>
          </a:xfrm>
          <a:prstGeom prst="rect">
            <a:avLst/>
          </a:prstGeom>
          <a:noFill/>
        </p:spPr>
        <p:txBody>
          <a:bodyPr wrap="square" anchor="t" lIns="0" rIns="0" tIns="0" bIns="0">
            <a:spAutoFit/>
          </a:bodyPr>
          <a:lstStyle/>
          <a:p>
            <a:pPr algn="l"/>
            <a:r>
              <a:rPr sz="1200" b="1" i="0">
                <a:solidFill>
                  <a:srgbClr val="00B7C3"/>
                </a:solidFill>
                <a:latin typeface="Segoe UI"/>
              </a:rPr>
              <a:t>HOW · WRITE PATH</a:t>
            </a:r>
          </a:p>
        </p:txBody>
      </p:sp>
      <p:sp>
        <p:nvSpPr>
          <p:cNvPr id="5" name="TextBox 4"/>
          <p:cNvSpPr txBox="1"/>
          <p:nvPr/>
        </p:nvSpPr>
        <p:spPr>
          <a:xfrm>
            <a:off x="502920" y="420624"/>
            <a:ext cx="10972800" cy="566928"/>
          </a:xfrm>
          <a:prstGeom prst="rect">
            <a:avLst/>
          </a:prstGeom>
          <a:noFill/>
        </p:spPr>
        <p:txBody>
          <a:bodyPr wrap="square" anchor="ctr" lIns="0" rIns="0" tIns="0" bIns="0">
            <a:spAutoFit/>
          </a:bodyPr>
          <a:lstStyle/>
          <a:p>
            <a:pPr algn="l"/>
            <a:r>
              <a:rPr sz="2600" b="1" i="0">
                <a:solidFill>
                  <a:srgbClr val="FFFFFF"/>
                </a:solidFill>
                <a:latin typeface="Segoe UI"/>
              </a:rPr>
              <a:t>Compaction — keep the facts, not the transcript</a:t>
            </a:r>
          </a:p>
        </p:txBody>
      </p:sp>
      <p:sp>
        <p:nvSpPr>
          <p:cNvPr id="6" name="TextBox 5"/>
          <p:cNvSpPr txBox="1"/>
          <p:nvPr/>
        </p:nvSpPr>
        <p:spPr>
          <a:xfrm>
            <a:off x="502920" y="1325880"/>
            <a:ext cx="5212080" cy="4572000"/>
          </a:xfrm>
          <a:prstGeom prst="rect">
            <a:avLst/>
          </a:prstGeom>
          <a:noFill/>
        </p:spPr>
        <p:txBody>
          <a:bodyPr wrap="square" anchor="t" lIns="0" rIns="0" tIns="0" bIns="0">
            <a:spAutoFit/>
          </a:bodyPr>
          <a:lstStyle/>
          <a:p>
            <a:pPr algn="l">
              <a:spcBef>
                <a:spcPts val="400"/>
              </a:spcBef>
              <a:spcAft>
                <a:spcPts val="500"/>
              </a:spcAft>
            </a:pPr>
            <a:r>
              <a:rPr sz="1800" b="1" i="0">
                <a:solidFill>
                  <a:srgbClr val="243A5E"/>
                </a:solidFill>
                <a:latin typeface="Segoe UI"/>
              </a:rPr>
              <a:t>■  We never store the raw transcript — we compact it:</a:t>
            </a:r>
          </a:p>
          <a:p>
            <a:pPr algn="l">
              <a:spcBef>
                <a:spcPts val="0"/>
              </a:spcBef>
              <a:spcAft>
                <a:spcPts val="300"/>
              </a:spcAft>
            </a:pPr>
            <a:r>
              <a:rPr sz="1500" b="0" i="0">
                <a:solidFill>
                  <a:srgbClr val="201F1E"/>
                </a:solidFill>
                <a:latin typeface="Segoe UI"/>
              </a:rPr>
              <a:t>–  { summary, facts, decisions, pending_actions }  +  the last N turns</a:t>
            </a:r>
          </a:p>
          <a:p>
            <a:pPr algn="l">
              <a:spcBef>
                <a:spcPts val="0"/>
              </a:spcBef>
              <a:spcAft>
                <a:spcPts val="300"/>
              </a:spcAft>
            </a:pPr>
            <a:r>
              <a:rPr sz="1500" b="0" i="0">
                <a:solidFill>
                  <a:srgbClr val="201F1E"/>
                </a:solidFill>
                <a:latin typeface="Segoe UI"/>
              </a:rPr>
              <a:t>–  Deterministic, no-LLM: regex-extract amounts, terms, APR → facts</a:t>
            </a:r>
          </a:p>
          <a:p>
            <a:pPr algn="l">
              <a:spcBef>
                <a:spcPts val="0"/>
              </a:spcBef>
              <a:spcAft>
                <a:spcPts val="300"/>
              </a:spcAft>
            </a:pPr>
            <a:r>
              <a:rPr sz="1500" b="0" i="0">
                <a:solidFill>
                  <a:srgbClr val="201F1E"/>
                </a:solidFill>
                <a:latin typeface="Segoe UI"/>
              </a:rPr>
              <a:t>–  Monthly payment / APR → decisions · disputes / escalations → pending</a:t>
            </a:r>
          </a:p>
          <a:p>
            <a:pPr algn="l">
              <a:spcBef>
                <a:spcPts val="0"/>
              </a:spcBef>
              <a:spcAft>
                <a:spcPts val="500"/>
              </a:spcAft>
            </a:pPr>
            <a:r>
              <a:rPr sz="1800" b="0" i="0">
                <a:solidFill>
                  <a:srgbClr val="107C10"/>
                </a:solidFill>
                <a:latin typeface="Segoe UI"/>
              </a:rPr>
              <a:t>✓  Verified: recall surfaced facts $25,000 · 60-month term · auto loan</a:t>
            </a:r>
          </a:p>
        </p:txBody>
      </p:sp>
      <p:sp>
        <p:nvSpPr>
          <p:cNvPr id="7" name="TextBox 6"/>
          <p:cNvSpPr txBox="1"/>
          <p:nvPr/>
        </p:nvSpPr>
        <p:spPr>
          <a:xfrm>
            <a:off x="5989320" y="1325880"/>
            <a:ext cx="5212080" cy="4572000"/>
          </a:xfrm>
          <a:prstGeom prst="rect">
            <a:avLst/>
          </a:prstGeom>
          <a:noFill/>
        </p:spPr>
        <p:txBody>
          <a:bodyPr wrap="square" anchor="t" lIns="0" rIns="0" tIns="0" bIns="0">
            <a:spAutoFit/>
          </a:bodyPr>
          <a:lstStyle/>
          <a:p>
            <a:pPr algn="l">
              <a:spcBef>
                <a:spcPts val="400"/>
              </a:spcBef>
              <a:spcAft>
                <a:spcPts val="500"/>
              </a:spcAft>
            </a:pPr>
            <a:r>
              <a:rPr sz="1800" b="1" i="0">
                <a:solidFill>
                  <a:srgbClr val="243A5E"/>
                </a:solidFill>
                <a:latin typeface="Segoe UI"/>
              </a:rPr>
              <a:t>■  Why deterministic first</a:t>
            </a:r>
          </a:p>
          <a:p>
            <a:pPr algn="l">
              <a:spcBef>
                <a:spcPts val="0"/>
              </a:spcBef>
              <a:spcAft>
                <a:spcPts val="300"/>
              </a:spcAft>
            </a:pPr>
            <a:r>
              <a:rPr sz="1500" b="0" i="0">
                <a:solidFill>
                  <a:srgbClr val="201F1E"/>
                </a:solidFill>
                <a:latin typeface="Segoe UI"/>
              </a:rPr>
              <a:t>–  Cheap + instant — no extra model call on the hot path</a:t>
            </a:r>
          </a:p>
          <a:p>
            <a:pPr algn="l">
              <a:spcBef>
                <a:spcPts val="0"/>
              </a:spcBef>
              <a:spcAft>
                <a:spcPts val="300"/>
              </a:spcAft>
            </a:pPr>
            <a:r>
              <a:rPr sz="1500" b="0" i="0">
                <a:solidFill>
                  <a:srgbClr val="201F1E"/>
                </a:solidFill>
                <a:latin typeface="Segoe UI"/>
              </a:rPr>
              <a:t>–  Unbreakable in a demo — same input, same record</a:t>
            </a:r>
          </a:p>
          <a:p>
            <a:pPr algn="l">
              <a:spcBef>
                <a:spcPts val="0"/>
              </a:spcBef>
              <a:spcAft>
                <a:spcPts val="300"/>
              </a:spcAft>
            </a:pPr>
            <a:r>
              <a:rPr sz="1500" b="0" i="0">
                <a:solidFill>
                  <a:srgbClr val="201F1E"/>
                </a:solidFill>
                <a:latin typeface="Segoe UI"/>
              </a:rPr>
              <a:t>–  Upgrade to LLM summarization later — agents untouched</a:t>
            </a:r>
          </a:p>
          <a:p>
            <a:pPr algn="l">
              <a:spcBef>
                <a:spcPts val="0"/>
              </a:spcBef>
              <a:spcAft>
                <a:spcPts val="500"/>
              </a:spcAft>
            </a:pPr>
            <a:r>
              <a:rPr sz="1800" b="0" i="0">
                <a:solidFill>
                  <a:srgbClr val="107C10"/>
                </a:solidFill>
                <a:latin typeface="Segoe UI"/>
              </a:rPr>
              <a:t>✓  The shape matches the tiered model</a:t>
            </a:r>
          </a:p>
          <a:p>
            <a:pPr algn="l">
              <a:spcBef>
                <a:spcPts val="0"/>
              </a:spcBef>
              <a:spcAft>
                <a:spcPts val="300"/>
              </a:spcAft>
            </a:pPr>
            <a:r>
              <a:rPr sz="1500" b="0" i="0">
                <a:solidFill>
                  <a:srgbClr val="201F1E"/>
                </a:solidFill>
                <a:latin typeface="Segoe UI"/>
              </a:rPr>
              <a:t>–  summary / facts / decisions / pending — not a chat log</a:t>
            </a:r>
          </a:p>
        </p:txBody>
      </p:sp>
      <p:sp>
        <p:nvSpPr>
          <p:cNvPr id="8" name="Rectangle 7"/>
          <p:cNvSpPr/>
          <p:nvPr/>
        </p:nvSpPr>
        <p:spPr>
          <a:xfrm>
            <a:off x="0" y="6601968"/>
            <a:ext cx="12192000" cy="256032"/>
          </a:xfrm>
          <a:prstGeom prst="rect">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6611112"/>
            <a:ext cx="8229600" cy="228600"/>
          </a:xfrm>
          <a:prstGeom prst="rect">
            <a:avLst/>
          </a:prstGeom>
          <a:noFill/>
        </p:spPr>
        <p:txBody>
          <a:bodyPr wrap="square" anchor="ctr" lIns="0" rIns="0" tIns="0" bIns="0">
            <a:spAutoFit/>
          </a:bodyPr>
          <a:lstStyle/>
          <a:p>
            <a:pPr algn="l"/>
            <a:r>
              <a:rPr sz="900" b="0" i="0">
                <a:solidFill>
                  <a:srgbClr val="605E5C"/>
                </a:solidFill>
                <a:latin typeface="Segoe UI"/>
              </a:rPr>
              <a:t>Agent Modernization Workshops — Lab 06: Agent Memory Strategies   |   How · write path</a:t>
            </a:r>
          </a:p>
        </p:txBody>
      </p:sp>
      <p:sp>
        <p:nvSpPr>
          <p:cNvPr id="10" name="TextBox 9"/>
          <p:cNvSpPr txBox="1"/>
          <p:nvPr/>
        </p:nvSpPr>
        <p:spPr>
          <a:xfrm>
            <a:off x="11003280" y="6611112"/>
            <a:ext cx="731520" cy="228600"/>
          </a:xfrm>
          <a:prstGeom prst="rect">
            <a:avLst/>
          </a:prstGeom>
          <a:noFill/>
        </p:spPr>
        <p:txBody>
          <a:bodyPr wrap="square" anchor="ctr" lIns="0" rIns="0" tIns="0" bIns="0">
            <a:spAutoFit/>
          </a:bodyPr>
          <a:lstStyle/>
          <a:p>
            <a:pPr algn="r"/>
            <a:r>
              <a:rPr sz="900" b="1" i="0">
                <a:solidFill>
                  <a:srgbClr val="605E5C"/>
                </a:solidFill>
                <a:latin typeface="Segoe U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51560"/>
          </a:xfrm>
          <a:prstGeom prst="rect">
            <a:avLst/>
          </a:prstGeom>
          <a:solidFill>
            <a:srgbClr val="243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51560"/>
            <a:ext cx="12192000" cy="54864"/>
          </a:xfrm>
          <a:prstGeom prst="rect">
            <a:avLst/>
          </a:prstGeom>
          <a:solidFill>
            <a:srgbClr val="00B7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64592"/>
            <a:ext cx="10058400" cy="274320"/>
          </a:xfrm>
          <a:prstGeom prst="rect">
            <a:avLst/>
          </a:prstGeom>
          <a:noFill/>
        </p:spPr>
        <p:txBody>
          <a:bodyPr wrap="square" anchor="t" lIns="0" rIns="0" tIns="0" bIns="0">
            <a:spAutoFit/>
          </a:bodyPr>
          <a:lstStyle/>
          <a:p>
            <a:pPr algn="l"/>
            <a:r>
              <a:rPr sz="1200" b="1" i="0">
                <a:solidFill>
                  <a:srgbClr val="00B7C3"/>
                </a:solidFill>
                <a:latin typeface="Segoe UI"/>
              </a:rPr>
              <a:t>HOW · READ PATH</a:t>
            </a:r>
          </a:p>
        </p:txBody>
      </p:sp>
      <p:sp>
        <p:nvSpPr>
          <p:cNvPr id="5" name="TextBox 4"/>
          <p:cNvSpPr txBox="1"/>
          <p:nvPr/>
        </p:nvSpPr>
        <p:spPr>
          <a:xfrm>
            <a:off x="502920" y="420624"/>
            <a:ext cx="10972800" cy="566928"/>
          </a:xfrm>
          <a:prstGeom prst="rect">
            <a:avLst/>
          </a:prstGeom>
          <a:noFill/>
        </p:spPr>
        <p:txBody>
          <a:bodyPr wrap="square" anchor="ctr" lIns="0" rIns="0" tIns="0" bIns="0">
            <a:spAutoFit/>
          </a:bodyPr>
          <a:lstStyle/>
          <a:p>
            <a:pPr algn="l"/>
            <a:r>
              <a:rPr sz="2600" b="1" i="0">
                <a:solidFill>
                  <a:srgbClr val="FFFFFF"/>
                </a:solidFill>
                <a:latin typeface="Segoe UI"/>
              </a:rPr>
              <a:t>Recall — inject what we know, before the run</a:t>
            </a:r>
          </a:p>
        </p:txBody>
      </p:sp>
      <p:sp>
        <p:nvSpPr>
          <p:cNvPr id="6" name="TextBox 5"/>
          <p:cNvSpPr txBox="1"/>
          <p:nvPr/>
        </p:nvSpPr>
        <p:spPr>
          <a:xfrm>
            <a:off x="502920" y="1325880"/>
            <a:ext cx="5212080" cy="4572000"/>
          </a:xfrm>
          <a:prstGeom prst="rect">
            <a:avLst/>
          </a:prstGeom>
          <a:noFill/>
        </p:spPr>
        <p:txBody>
          <a:bodyPr wrap="square" anchor="t" lIns="0" rIns="0" tIns="0" bIns="0">
            <a:spAutoFit/>
          </a:bodyPr>
          <a:lstStyle/>
          <a:p>
            <a:pPr algn="l">
              <a:spcBef>
                <a:spcPts val="400"/>
              </a:spcBef>
              <a:spcAft>
                <a:spcPts val="500"/>
              </a:spcAft>
            </a:pPr>
            <a:r>
              <a:rPr sz="1800" b="1" i="0">
                <a:solidFill>
                  <a:srgbClr val="243A5E"/>
                </a:solidFill>
                <a:latin typeface="Segoe UI"/>
              </a:rPr>
              <a:t>■  Before the team runs, we recall + inject:</a:t>
            </a:r>
          </a:p>
          <a:p>
            <a:pPr algn="l">
              <a:spcBef>
                <a:spcPts val="0"/>
              </a:spcBef>
              <a:spcAft>
                <a:spcPts val="300"/>
              </a:spcAft>
            </a:pPr>
            <a:r>
              <a:rPr sz="1500" b="0" i="0">
                <a:solidFill>
                  <a:srgbClr val="201F1E"/>
                </a:solidFill>
                <a:latin typeface="Segoe UI"/>
              </a:rPr>
              <a:t>–  Load the customer's memory record from the store</a:t>
            </a:r>
          </a:p>
          <a:p>
            <a:pPr algn="l">
              <a:spcBef>
                <a:spcPts val="0"/>
              </a:spcBef>
              <a:spcAft>
                <a:spcPts val="300"/>
              </a:spcAft>
            </a:pPr>
            <a:r>
              <a:rPr sz="1500" b="0" i="0">
                <a:solidFill>
                  <a:srgbClr val="201F1E"/>
                </a:solidFill>
                <a:latin typeface="Segoe UI"/>
              </a:rPr>
              <a:t>–  Build a short preamble from summary + facts + decisions + pending</a:t>
            </a:r>
          </a:p>
          <a:p>
            <a:pPr algn="l">
              <a:spcBef>
                <a:spcPts val="0"/>
              </a:spcBef>
              <a:spcAft>
                <a:spcPts val="300"/>
              </a:spcAft>
            </a:pPr>
            <a:r>
              <a:rPr sz="1500" b="0" i="0">
                <a:solidFill>
                  <a:srgbClr val="201F1E"/>
                </a:solidFill>
                <a:latin typeface="Segoe UI"/>
              </a:rPr>
              <a:t>–  Inject it into every specialist's instructions — the Skills seam</a:t>
            </a:r>
          </a:p>
          <a:p>
            <a:pPr algn="l">
              <a:spcBef>
                <a:spcPts val="0"/>
              </a:spcBef>
              <a:spcAft>
                <a:spcPts val="500"/>
              </a:spcAft>
            </a:pPr>
            <a:r>
              <a:rPr sz="1800" b="0" i="0">
                <a:solidFill>
                  <a:srgbClr val="107C10"/>
                </a:solidFill>
                <a:latin typeface="Segoe UI"/>
              </a:rPr>
              <a:t>✓  The team starts already knowing the customer</a:t>
            </a:r>
          </a:p>
        </p:txBody>
      </p:sp>
      <p:sp>
        <p:nvSpPr>
          <p:cNvPr id="7" name="TextBox 6"/>
          <p:cNvSpPr txBox="1"/>
          <p:nvPr/>
        </p:nvSpPr>
        <p:spPr>
          <a:xfrm>
            <a:off x="5989320" y="1325880"/>
            <a:ext cx="5212080" cy="4572000"/>
          </a:xfrm>
          <a:prstGeom prst="rect">
            <a:avLst/>
          </a:prstGeom>
          <a:noFill/>
        </p:spPr>
        <p:txBody>
          <a:bodyPr wrap="square" anchor="t" lIns="0" rIns="0" tIns="0" bIns="0">
            <a:spAutoFit/>
          </a:bodyPr>
          <a:lstStyle/>
          <a:p>
            <a:pPr algn="l">
              <a:spcBef>
                <a:spcPts val="400"/>
              </a:spcBef>
              <a:spcAft>
                <a:spcPts val="500"/>
              </a:spcAft>
            </a:pPr>
            <a:r>
              <a:rPr sz="1800" b="1" i="0">
                <a:solidFill>
                  <a:srgbClr val="243A5E"/>
                </a:solidFill>
                <a:latin typeface="Segoe UI"/>
              </a:rPr>
              <a:t>■  Scope — two different keys</a:t>
            </a:r>
          </a:p>
          <a:p>
            <a:pPr algn="l">
              <a:spcBef>
                <a:spcPts val="0"/>
              </a:spcBef>
              <a:spcAft>
                <a:spcPts val="300"/>
              </a:spcAft>
            </a:pPr>
            <a:r>
              <a:rPr sz="1500" b="0" i="0">
                <a:solidFill>
                  <a:srgbClr val="201F1E"/>
                </a:solidFill>
                <a:latin typeface="Segoe UI"/>
              </a:rPr>
              <a:t>–  customerId = WHOSE memory (persists across sessions)</a:t>
            </a:r>
          </a:p>
          <a:p>
            <a:pPr algn="l">
              <a:spcBef>
                <a:spcPts val="0"/>
              </a:spcBef>
              <a:spcAft>
                <a:spcPts val="300"/>
              </a:spcAft>
            </a:pPr>
            <a:r>
              <a:rPr sz="1500" b="0" i="0">
                <a:solidFill>
                  <a:srgbClr val="201F1E"/>
                </a:solidFill>
                <a:latin typeface="Segoe UI"/>
              </a:rPr>
              <a:t>–  threadId = WHICH conversation (one run, then gone)</a:t>
            </a:r>
          </a:p>
          <a:p>
            <a:pPr algn="l">
              <a:spcBef>
                <a:spcPts val="0"/>
              </a:spcBef>
              <a:spcAft>
                <a:spcPts val="300"/>
              </a:spcAft>
            </a:pPr>
            <a:r>
              <a:rPr sz="1500" b="0" i="0">
                <a:solidFill>
                  <a:srgbClr val="201F1E"/>
                </a:solidFill>
                <a:latin typeface="Segoe UI"/>
              </a:rPr>
              <a:t>–  Keep them separate — one customer, many threads</a:t>
            </a:r>
          </a:p>
          <a:p>
            <a:pPr algn="l">
              <a:spcBef>
                <a:spcPts val="0"/>
              </a:spcBef>
              <a:spcAft>
                <a:spcPts val="500"/>
              </a:spcAft>
            </a:pPr>
            <a:r>
              <a:rPr sz="1800" b="0" i="0">
                <a:solidFill>
                  <a:srgbClr val="107C10"/>
                </a:solidFill>
                <a:latin typeface="Segoe UI"/>
              </a:rPr>
              <a:t>✓  You can see it at startup</a:t>
            </a:r>
          </a:p>
          <a:p>
            <a:pPr algn="l">
              <a:spcBef>
                <a:spcPts val="0"/>
              </a:spcBef>
              <a:spcAft>
                <a:spcPts val="300"/>
              </a:spcAft>
            </a:pPr>
            <a:r>
              <a:rPr sz="1500" b="0" i="0">
                <a:solidFill>
                  <a:srgbClr val="201F1E"/>
                </a:solidFill>
                <a:latin typeface="Segoe UI"/>
              </a:rPr>
              <a:t>–  Banner prints recalled session count + the recalled facts</a:t>
            </a:r>
          </a:p>
        </p:txBody>
      </p:sp>
      <p:sp>
        <p:nvSpPr>
          <p:cNvPr id="8" name="Rectangle 7"/>
          <p:cNvSpPr/>
          <p:nvPr/>
        </p:nvSpPr>
        <p:spPr>
          <a:xfrm>
            <a:off x="0" y="6601968"/>
            <a:ext cx="12192000" cy="256032"/>
          </a:xfrm>
          <a:prstGeom prst="rect">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6611112"/>
            <a:ext cx="8229600" cy="228600"/>
          </a:xfrm>
          <a:prstGeom prst="rect">
            <a:avLst/>
          </a:prstGeom>
          <a:noFill/>
        </p:spPr>
        <p:txBody>
          <a:bodyPr wrap="square" anchor="ctr" lIns="0" rIns="0" tIns="0" bIns="0">
            <a:spAutoFit/>
          </a:bodyPr>
          <a:lstStyle/>
          <a:p>
            <a:pPr algn="l"/>
            <a:r>
              <a:rPr sz="900" b="0" i="0">
                <a:solidFill>
                  <a:srgbClr val="605E5C"/>
                </a:solidFill>
                <a:latin typeface="Segoe UI"/>
              </a:rPr>
              <a:t>Agent Modernization Workshops — Lab 06: Agent Memory Strategies   |   How · read path</a:t>
            </a:r>
          </a:p>
        </p:txBody>
      </p:sp>
      <p:sp>
        <p:nvSpPr>
          <p:cNvPr id="10" name="TextBox 9"/>
          <p:cNvSpPr txBox="1"/>
          <p:nvPr/>
        </p:nvSpPr>
        <p:spPr>
          <a:xfrm>
            <a:off x="11003280" y="6611112"/>
            <a:ext cx="731520" cy="228600"/>
          </a:xfrm>
          <a:prstGeom prst="rect">
            <a:avLst/>
          </a:prstGeom>
          <a:noFill/>
        </p:spPr>
        <p:txBody>
          <a:bodyPr wrap="square" anchor="ctr" lIns="0" rIns="0" tIns="0" bIns="0">
            <a:spAutoFit/>
          </a:bodyPr>
          <a:lstStyle/>
          <a:p>
            <a:pPr algn="r"/>
            <a:r>
              <a:rPr sz="900" b="1" i="0">
                <a:solidFill>
                  <a:srgbClr val="605E5C"/>
                </a:solidFill>
                <a:latin typeface="Segoe U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243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2468880"/>
            <a:ext cx="109728" cy="1554480"/>
          </a:xfrm>
          <a:prstGeom prst="rect">
            <a:avLst/>
          </a:prstGeom>
          <a:solidFill>
            <a:srgbClr val="00B7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331720"/>
            <a:ext cx="2743200" cy="914400"/>
          </a:xfrm>
          <a:prstGeom prst="rect">
            <a:avLst/>
          </a:prstGeom>
          <a:noFill/>
        </p:spPr>
        <p:txBody>
          <a:bodyPr wrap="square" anchor="t" lIns="0" rIns="0" tIns="0" bIns="0">
            <a:spAutoFit/>
          </a:bodyPr>
          <a:lstStyle/>
          <a:p>
            <a:pPr algn="l"/>
            <a:r>
              <a:rPr sz="6600" b="1" i="0">
                <a:solidFill>
                  <a:srgbClr val="00B7C3"/>
                </a:solidFill>
                <a:latin typeface="Segoe UI"/>
              </a:rPr>
              <a:t>02</a:t>
            </a:r>
          </a:p>
        </p:txBody>
      </p:sp>
      <p:sp>
        <p:nvSpPr>
          <p:cNvPr id="5" name="TextBox 4"/>
          <p:cNvSpPr txBox="1"/>
          <p:nvPr/>
        </p:nvSpPr>
        <p:spPr>
          <a:xfrm>
            <a:off x="868680" y="3200400"/>
            <a:ext cx="9601200" cy="914400"/>
          </a:xfrm>
          <a:prstGeom prst="rect">
            <a:avLst/>
          </a:prstGeom>
          <a:noFill/>
        </p:spPr>
        <p:txBody>
          <a:bodyPr wrap="square" anchor="t" lIns="0" rIns="0" tIns="0" bIns="0">
            <a:spAutoFit/>
          </a:bodyPr>
          <a:lstStyle/>
          <a:p>
            <a:pPr algn="l"/>
            <a:r>
              <a:rPr sz="3800" b="1" i="0">
                <a:solidFill>
                  <a:srgbClr val="FFFFFF"/>
                </a:solidFill>
                <a:latin typeface="Segoe UI"/>
              </a:rPr>
              <a:t>Live</a:t>
            </a:r>
          </a:p>
        </p:txBody>
      </p:sp>
      <p:sp>
        <p:nvSpPr>
          <p:cNvPr id="6" name="TextBox 5"/>
          <p:cNvSpPr txBox="1"/>
          <p:nvPr/>
        </p:nvSpPr>
        <p:spPr>
          <a:xfrm>
            <a:off x="896112" y="4114800"/>
            <a:ext cx="9601200" cy="731520"/>
          </a:xfrm>
          <a:prstGeom prst="rect">
            <a:avLst/>
          </a:prstGeom>
          <a:noFill/>
        </p:spPr>
        <p:txBody>
          <a:bodyPr wrap="square" anchor="t" lIns="0" rIns="0" tIns="0" bIns="0">
            <a:spAutoFit/>
          </a:bodyPr>
          <a:lstStyle/>
          <a:p>
            <a:pPr algn="l"/>
            <a:r>
              <a:rPr sz="1800" b="0" i="0">
                <a:solidFill>
                  <a:srgbClr val="BFD7F0"/>
                </a:solidFill>
                <a:latin typeface="Segoe UI"/>
              </a:rPr>
              <a:t>Memory changes what the team can answer — seed, then follow up</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51560"/>
          </a:xfrm>
          <a:prstGeom prst="rect">
            <a:avLst/>
          </a:prstGeom>
          <a:solidFill>
            <a:srgbClr val="243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51560"/>
            <a:ext cx="12192000" cy="54864"/>
          </a:xfrm>
          <a:prstGeom prst="rect">
            <a:avLst/>
          </a:prstGeom>
          <a:solidFill>
            <a:srgbClr val="00B7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64592"/>
            <a:ext cx="10058400" cy="274320"/>
          </a:xfrm>
          <a:prstGeom prst="rect">
            <a:avLst/>
          </a:prstGeom>
          <a:noFill/>
        </p:spPr>
        <p:txBody>
          <a:bodyPr wrap="square" anchor="t" lIns="0" rIns="0" tIns="0" bIns="0">
            <a:spAutoFit/>
          </a:bodyPr>
          <a:lstStyle/>
          <a:p>
            <a:pPr algn="l"/>
            <a:r>
              <a:rPr sz="1200" b="1" i="0">
                <a:solidFill>
                  <a:srgbClr val="00B7C3"/>
                </a:solidFill>
                <a:latin typeface="Segoe UI"/>
              </a:rPr>
              <a:t>DEMO</a:t>
            </a:r>
          </a:p>
        </p:txBody>
      </p:sp>
      <p:sp>
        <p:nvSpPr>
          <p:cNvPr id="5" name="TextBox 4"/>
          <p:cNvSpPr txBox="1"/>
          <p:nvPr/>
        </p:nvSpPr>
        <p:spPr>
          <a:xfrm>
            <a:off x="502920" y="420624"/>
            <a:ext cx="10972800" cy="566928"/>
          </a:xfrm>
          <a:prstGeom prst="rect">
            <a:avLst/>
          </a:prstGeom>
          <a:noFill/>
        </p:spPr>
        <p:txBody>
          <a:bodyPr wrap="square" anchor="ctr" lIns="0" rIns="0" tIns="0" bIns="0">
            <a:spAutoFit/>
          </a:bodyPr>
          <a:lstStyle/>
          <a:p>
            <a:pPr algn="l"/>
            <a:r>
              <a:rPr sz="2600" b="1" i="0">
                <a:solidFill>
                  <a:srgbClr val="FFFFFF"/>
                </a:solidFill>
                <a:latin typeface="Segoe UI"/>
              </a:rPr>
              <a:t>The team remembers — and it shows in the answer</a:t>
            </a:r>
          </a:p>
        </p:txBody>
      </p:sp>
      <p:sp>
        <p:nvSpPr>
          <p:cNvPr id="6" name="TextBox 5"/>
          <p:cNvSpPr txBox="1"/>
          <p:nvPr/>
        </p:nvSpPr>
        <p:spPr>
          <a:xfrm>
            <a:off x="502920" y="1325880"/>
            <a:ext cx="5212080" cy="4572000"/>
          </a:xfrm>
          <a:prstGeom prst="rect">
            <a:avLst/>
          </a:prstGeom>
          <a:noFill/>
        </p:spPr>
        <p:txBody>
          <a:bodyPr wrap="square" anchor="t" lIns="0" rIns="0" tIns="0" bIns="0">
            <a:spAutoFit/>
          </a:bodyPr>
          <a:lstStyle/>
          <a:p>
            <a:pPr algn="l">
              <a:spcBef>
                <a:spcPts val="400"/>
              </a:spcBef>
              <a:spcAft>
                <a:spcPts val="500"/>
              </a:spcAft>
            </a:pPr>
            <a:r>
              <a:rPr sz="1800" b="1" i="0">
                <a:solidFill>
                  <a:srgbClr val="243A5E"/>
                </a:solidFill>
                <a:latin typeface="Segoe UI"/>
              </a:rPr>
              <a:t>■  Seed one session, then ask a follow-up that omits the details:</a:t>
            </a:r>
          </a:p>
          <a:p>
            <a:pPr algn="l">
              <a:spcBef>
                <a:spcPts val="0"/>
              </a:spcBef>
              <a:spcAft>
                <a:spcPts val="300"/>
              </a:spcAft>
            </a:pPr>
            <a:r>
              <a:rPr sz="1500" b="0" i="0">
                <a:solidFill>
                  <a:srgbClr val="201F1E"/>
                </a:solidFill>
                <a:latin typeface="Segoe UI"/>
              </a:rPr>
              <a:t>–  Run 1  —  seed · --memory local  →  prepares the $25,000 / 60-mo offer, SAVES the facts</a:t>
            </a:r>
          </a:p>
          <a:p>
            <a:pPr algn="l">
              <a:spcBef>
                <a:spcPts val="0"/>
              </a:spcBef>
              <a:spcAft>
                <a:spcPts val="300"/>
              </a:spcAft>
            </a:pPr>
            <a:r>
              <a:rPr sz="1500" b="0" i="0">
                <a:solidFill>
                  <a:srgbClr val="201F1E"/>
                </a:solidFill>
                <a:latin typeface="Segoe UI"/>
              </a:rPr>
              <a:t>–  Run 2  —  follow-up · --memory local  →  “finalize the loan we discussed” → recalls $25,000 · 60-mo · 4.99%</a:t>
            </a:r>
          </a:p>
          <a:p>
            <a:pPr algn="l">
              <a:spcBef>
                <a:spcPts val="0"/>
              </a:spcBef>
              <a:spcAft>
                <a:spcPts val="300"/>
              </a:spcAft>
            </a:pPr>
            <a:r>
              <a:rPr sz="1500" b="0" i="0">
                <a:solidFill>
                  <a:srgbClr val="201F1E"/>
                </a:solidFill>
                <a:latin typeface="Segoe UI"/>
              </a:rPr>
              <a:t>–  Run 3  —  same follow-up · --memory off  →  “which loan? please re-supply the details”</a:t>
            </a:r>
          </a:p>
          <a:p>
            <a:pPr algn="l">
              <a:spcBef>
                <a:spcPts val="0"/>
              </a:spcBef>
              <a:spcAft>
                <a:spcPts val="500"/>
              </a:spcAft>
            </a:pPr>
            <a:r>
              <a:rPr sz="1800" b="0" i="0">
                <a:solidFill>
                  <a:srgbClr val="107C10"/>
                </a:solidFill>
                <a:latin typeface="Segoe UI"/>
              </a:rPr>
              <a:t>✓  Same question — memory ON answers it, memory OFF can’t. That’s the difference</a:t>
            </a:r>
          </a:p>
        </p:txBody>
      </p:sp>
      <p:sp>
        <p:nvSpPr>
          <p:cNvPr id="7" name="TextBox 6"/>
          <p:cNvSpPr txBox="1"/>
          <p:nvPr/>
        </p:nvSpPr>
        <p:spPr>
          <a:xfrm>
            <a:off x="5989320" y="1325880"/>
            <a:ext cx="5212080" cy="4572000"/>
          </a:xfrm>
          <a:prstGeom prst="rect">
            <a:avLst/>
          </a:prstGeom>
          <a:noFill/>
        </p:spPr>
        <p:txBody>
          <a:bodyPr wrap="square" anchor="t" lIns="0" rIns="0" tIns="0" bIns="0">
            <a:spAutoFit/>
          </a:bodyPr>
          <a:lstStyle/>
          <a:p>
            <a:pPr algn="l">
              <a:spcBef>
                <a:spcPts val="400"/>
              </a:spcBef>
              <a:spcAft>
                <a:spcPts val="500"/>
              </a:spcAft>
            </a:pPr>
            <a:r>
              <a:rPr sz="1800" b="1" i="0">
                <a:solidFill>
                  <a:srgbClr val="243A5E"/>
                </a:solidFill>
                <a:latin typeface="Segoe UI"/>
              </a:rPr>
              <a:t>■  Point out</a:t>
            </a:r>
          </a:p>
          <a:p>
            <a:pPr algn="l">
              <a:spcBef>
                <a:spcPts val="0"/>
              </a:spcBef>
              <a:spcAft>
                <a:spcPts val="300"/>
              </a:spcAft>
            </a:pPr>
            <a:r>
              <a:rPr sz="1500" b="0" i="0">
                <a:solidFill>
                  <a:srgbClr val="201F1E"/>
                </a:solidFill>
                <a:latin typeface="Segoe UI"/>
              </a:rPr>
              <a:t>–  The follow-up OMITS the numbers — that’s why recall matters</a:t>
            </a:r>
          </a:p>
          <a:p>
            <a:pPr algn="l">
              <a:spcBef>
                <a:spcPts val="0"/>
              </a:spcBef>
              <a:spcAft>
                <a:spcPts val="300"/>
              </a:spcAft>
            </a:pPr>
            <a:r>
              <a:rPr sz="1500" b="0" i="0">
                <a:solidFill>
                  <a:srgbClr val="201F1E"/>
                </a:solidFill>
                <a:latin typeface="Segoe UI"/>
              </a:rPr>
              <a:t>–  Memory OFF signals absence (asks for details) — it doesn’t bluff</a:t>
            </a:r>
          </a:p>
          <a:p>
            <a:pPr algn="l">
              <a:spcBef>
                <a:spcPts val="0"/>
              </a:spcBef>
              <a:spcAft>
                <a:spcPts val="300"/>
              </a:spcAft>
            </a:pPr>
            <a:r>
              <a:rPr sz="1500" b="0" i="0">
                <a:solidFill>
                  <a:srgbClr val="201F1E"/>
                </a:solidFill>
                <a:latin typeface="Segoe UI"/>
              </a:rPr>
              <a:t>–  The store is a plain JSON file under .memory/ — open it and show it</a:t>
            </a:r>
          </a:p>
          <a:p>
            <a:pPr algn="l">
              <a:spcBef>
                <a:spcPts val="0"/>
              </a:spcBef>
              <a:spcAft>
                <a:spcPts val="500"/>
              </a:spcAft>
            </a:pPr>
            <a:r>
              <a:rPr sz="1800" b="0" i="0">
                <a:solidFill>
                  <a:srgbClr val="107C10"/>
                </a:solidFill>
                <a:latin typeface="Segoe UI"/>
              </a:rPr>
              <a:t>✓  Validated live — .NET on Foundry gpt-4o</a:t>
            </a:r>
          </a:p>
        </p:txBody>
      </p:sp>
      <p:sp>
        <p:nvSpPr>
          <p:cNvPr id="8" name="Rectangle 7"/>
          <p:cNvSpPr/>
          <p:nvPr/>
        </p:nvSpPr>
        <p:spPr>
          <a:xfrm>
            <a:off x="0" y="6601968"/>
            <a:ext cx="12192000" cy="256032"/>
          </a:xfrm>
          <a:prstGeom prst="rect">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6611112"/>
            <a:ext cx="8229600" cy="228600"/>
          </a:xfrm>
          <a:prstGeom prst="rect">
            <a:avLst/>
          </a:prstGeom>
          <a:noFill/>
        </p:spPr>
        <p:txBody>
          <a:bodyPr wrap="square" anchor="ctr" lIns="0" rIns="0" tIns="0" bIns="0">
            <a:spAutoFit/>
          </a:bodyPr>
          <a:lstStyle/>
          <a:p>
            <a:pPr algn="l"/>
            <a:r>
              <a:rPr sz="900" b="0" i="0">
                <a:solidFill>
                  <a:srgbClr val="605E5C"/>
                </a:solidFill>
                <a:latin typeface="Segoe UI"/>
              </a:rPr>
              <a:t>Agent Modernization Workshops — Lab 06: Agent Memory Strategies   |   Demo</a:t>
            </a:r>
          </a:p>
        </p:txBody>
      </p:sp>
      <p:sp>
        <p:nvSpPr>
          <p:cNvPr id="10" name="TextBox 9"/>
          <p:cNvSpPr txBox="1"/>
          <p:nvPr/>
        </p:nvSpPr>
        <p:spPr>
          <a:xfrm>
            <a:off x="11003280" y="6611112"/>
            <a:ext cx="731520" cy="228600"/>
          </a:xfrm>
          <a:prstGeom prst="rect">
            <a:avLst/>
          </a:prstGeom>
          <a:noFill/>
        </p:spPr>
        <p:txBody>
          <a:bodyPr wrap="square" anchor="ctr" lIns="0" rIns="0" tIns="0" bIns="0">
            <a:spAutoFit/>
          </a:bodyPr>
          <a:lstStyle/>
          <a:p>
            <a:pPr algn="r"/>
            <a:r>
              <a:rPr sz="900" b="1" i="0">
                <a:solidFill>
                  <a:srgbClr val="605E5C"/>
                </a:solidFill>
                <a:latin typeface="Segoe UI"/>
              </a:rPr>
              <a:t>13</a:t>
            </a:r>
          </a:p>
        </p:txBody>
      </p:sp>
      <p:sp>
        <p:nvSpPr>
          <p:cNvPr id="11" name="Rounded Rectangle 10"/>
          <p:cNvSpPr/>
          <p:nvPr/>
        </p:nvSpPr>
        <p:spPr>
          <a:xfrm>
            <a:off x="502920" y="5961888"/>
            <a:ext cx="10332720" cy="530352"/>
          </a:xfrm>
          <a:prstGeom prst="roundRect">
            <a:avLst/>
          </a:prstGeom>
          <a:solidFill>
            <a:srgbClr val="E3F3F6"/>
          </a:solidFill>
          <a:ln w="15875">
            <a:solidFill>
              <a:srgbClr val="00B7C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04088" y="5961888"/>
            <a:ext cx="1417320" cy="530352"/>
          </a:xfrm>
          <a:prstGeom prst="rect">
            <a:avLst/>
          </a:prstGeom>
          <a:noFill/>
        </p:spPr>
        <p:txBody>
          <a:bodyPr wrap="square" anchor="ctr" lIns="0" rIns="0" tIns="0" bIns="0">
            <a:spAutoFit/>
          </a:bodyPr>
          <a:lstStyle/>
          <a:p>
            <a:pPr algn="l"/>
            <a:r>
              <a:rPr sz="1400" b="1" i="0">
                <a:solidFill>
                  <a:srgbClr val="00B7C3"/>
                </a:solidFill>
                <a:latin typeface="Segoe UI"/>
              </a:rPr>
              <a:t>▶ DEMO</a:t>
            </a:r>
          </a:p>
        </p:txBody>
      </p:sp>
      <p:sp>
        <p:nvSpPr>
          <p:cNvPr id="13" name="TextBox 12"/>
          <p:cNvSpPr txBox="1"/>
          <p:nvPr/>
        </p:nvSpPr>
        <p:spPr>
          <a:xfrm>
            <a:off x="2057400" y="5961888"/>
            <a:ext cx="8595360" cy="530352"/>
          </a:xfrm>
          <a:prstGeom prst="rect">
            <a:avLst/>
          </a:prstGeom>
          <a:noFill/>
        </p:spPr>
        <p:txBody>
          <a:bodyPr wrap="square" anchor="ctr" lIns="0" rIns="0" tIns="0" bIns="0">
            <a:spAutoFit/>
          </a:bodyPr>
          <a:lstStyle/>
          <a:p>
            <a:pPr algn="l"/>
            <a:r>
              <a:rPr sz="1300" b="1" i="0">
                <a:solidFill>
                  <a:srgbClr val="243A5E"/>
                </a:solidFill>
                <a:latin typeface="Segoe UI"/>
              </a:rPr>
              <a:t>seed → --memory local  (team recalls the loan)   vs   --memory off  (team has to ask)</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51560"/>
          </a:xfrm>
          <a:prstGeom prst="rect">
            <a:avLst/>
          </a:prstGeom>
          <a:solidFill>
            <a:srgbClr val="243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51560"/>
            <a:ext cx="12192000" cy="54864"/>
          </a:xfrm>
          <a:prstGeom prst="rect">
            <a:avLst/>
          </a:prstGeom>
          <a:solidFill>
            <a:srgbClr val="00B7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64592"/>
            <a:ext cx="10058400" cy="274320"/>
          </a:xfrm>
          <a:prstGeom prst="rect">
            <a:avLst/>
          </a:prstGeom>
          <a:noFill/>
        </p:spPr>
        <p:txBody>
          <a:bodyPr wrap="square" anchor="t" lIns="0" rIns="0" tIns="0" bIns="0">
            <a:spAutoFit/>
          </a:bodyPr>
          <a:lstStyle/>
          <a:p>
            <a:pPr algn="l"/>
            <a:r>
              <a:rPr sz="1200" b="1" i="0">
                <a:solidFill>
                  <a:srgbClr val="00B7C3"/>
                </a:solidFill>
                <a:latin typeface="Segoe UI"/>
              </a:rPr>
              <a:t>HOW</a:t>
            </a:r>
          </a:p>
        </p:txBody>
      </p:sp>
      <p:sp>
        <p:nvSpPr>
          <p:cNvPr id="5" name="TextBox 4"/>
          <p:cNvSpPr txBox="1"/>
          <p:nvPr/>
        </p:nvSpPr>
        <p:spPr>
          <a:xfrm>
            <a:off x="502920" y="420624"/>
            <a:ext cx="10972800" cy="566928"/>
          </a:xfrm>
          <a:prstGeom prst="rect">
            <a:avLst/>
          </a:prstGeom>
          <a:noFill/>
        </p:spPr>
        <p:txBody>
          <a:bodyPr wrap="square" anchor="ctr" lIns="0" rIns="0" tIns="0" bIns="0">
            <a:spAutoFit/>
          </a:bodyPr>
          <a:lstStyle/>
          <a:p>
            <a:pPr algn="l"/>
            <a:r>
              <a:rPr sz="2600" b="1" i="0">
                <a:solidFill>
                  <a:srgbClr val="FFFFFF"/>
                </a:solidFill>
                <a:latin typeface="Segoe UI"/>
              </a:rPr>
              <a:t>--memory: four modes, two memory models</a:t>
            </a:r>
          </a:p>
        </p:txBody>
      </p:sp>
      <p:sp>
        <p:nvSpPr>
          <p:cNvPr id="6" name="TextBox 5"/>
          <p:cNvSpPr txBox="1"/>
          <p:nvPr/>
        </p:nvSpPr>
        <p:spPr>
          <a:xfrm>
            <a:off x="502920" y="1325880"/>
            <a:ext cx="5212080" cy="4572000"/>
          </a:xfrm>
          <a:prstGeom prst="rect">
            <a:avLst/>
          </a:prstGeom>
          <a:noFill/>
        </p:spPr>
        <p:txBody>
          <a:bodyPr wrap="square" anchor="t" lIns="0" rIns="0" tIns="0" bIns="0">
            <a:spAutoFit/>
          </a:bodyPr>
          <a:lstStyle/>
          <a:p>
            <a:pPr algn="l">
              <a:spcBef>
                <a:spcPts val="400"/>
              </a:spcBef>
              <a:spcAft>
                <a:spcPts val="500"/>
              </a:spcAft>
            </a:pPr>
            <a:r>
              <a:rPr sz="1800" b="1" i="0">
                <a:solidFill>
                  <a:srgbClr val="243A5E"/>
                </a:solidFill>
                <a:latin typeface="Segoe UI"/>
              </a:rPr>
              <a:t>■  off   —  default; clean, stateless runs (every other demo)</a:t>
            </a:r>
          </a:p>
          <a:p>
            <a:pPr algn="l">
              <a:spcBef>
                <a:spcPts val="0"/>
              </a:spcBef>
              <a:spcAft>
                <a:spcPts val="500"/>
              </a:spcAft>
            </a:pPr>
            <a:r>
              <a:rPr sz="1800" b="0" i="0">
                <a:solidFill>
                  <a:srgbClr val="107C10"/>
                </a:solidFill>
                <a:latin typeface="Segoe UI"/>
              </a:rPr>
              <a:t>✓  local —  BYO file store, no Azure  —  verified live</a:t>
            </a:r>
          </a:p>
          <a:p>
            <a:pPr algn="l">
              <a:spcBef>
                <a:spcPts val="0"/>
              </a:spcBef>
              <a:spcAft>
                <a:spcPts val="500"/>
              </a:spcAft>
            </a:pPr>
            <a:r>
              <a:rPr sz="1800" b="0" i="0">
                <a:solidFill>
                  <a:srgbClr val="107C10"/>
                </a:solidFill>
                <a:latin typeface="Segoe UI"/>
              </a:rPr>
              <a:t>✓  cosmos —  BYO managed store (Cosmos DB)  —  verified live</a:t>
            </a:r>
          </a:p>
          <a:p>
            <a:pPr algn="l">
              <a:spcBef>
                <a:spcPts val="0"/>
              </a:spcBef>
              <a:spcAft>
                <a:spcPts val="500"/>
              </a:spcAft>
            </a:pPr>
            <a:r>
              <a:rPr sz="1800" b="0" i="0">
                <a:solidFill>
                  <a:srgbClr val="107C10"/>
                </a:solidFill>
                <a:latin typeface="Segoe UI"/>
              </a:rPr>
              <a:t>✓  foundry — platform-managed Memory (preview)  —  verified live</a:t>
            </a:r>
          </a:p>
        </p:txBody>
      </p:sp>
      <p:sp>
        <p:nvSpPr>
          <p:cNvPr id="7" name="TextBox 6"/>
          <p:cNvSpPr txBox="1"/>
          <p:nvPr/>
        </p:nvSpPr>
        <p:spPr>
          <a:xfrm>
            <a:off x="5989320" y="1325880"/>
            <a:ext cx="5212080" cy="4572000"/>
          </a:xfrm>
          <a:prstGeom prst="rect">
            <a:avLst/>
          </a:prstGeom>
          <a:noFill/>
        </p:spPr>
        <p:txBody>
          <a:bodyPr wrap="square" anchor="t" lIns="0" rIns="0" tIns="0" bIns="0">
            <a:spAutoFit/>
          </a:bodyPr>
          <a:lstStyle/>
          <a:p>
            <a:pPr algn="l">
              <a:spcBef>
                <a:spcPts val="400"/>
              </a:spcBef>
              <a:spcAft>
                <a:spcPts val="500"/>
              </a:spcAft>
            </a:pPr>
            <a:r>
              <a:rPr sz="1800" b="1" i="0">
                <a:solidFill>
                  <a:srgbClr val="243A5E"/>
                </a:solidFill>
                <a:latin typeface="Segoe UI"/>
              </a:rPr>
              <a:t>■  BYO tiers (local + cosmos)</a:t>
            </a:r>
          </a:p>
          <a:p>
            <a:pPr algn="l">
              <a:spcBef>
                <a:spcPts val="0"/>
              </a:spcBef>
              <a:spcAft>
                <a:spcPts val="300"/>
              </a:spcAft>
            </a:pPr>
            <a:r>
              <a:rPr sz="1500" b="0" i="0">
                <a:solidFill>
                  <a:srgbClr val="201F1E"/>
                </a:solidFill>
                <a:latin typeface="Segoe UI"/>
              </a:rPr>
              <a:t>–  One contract: IMemoryStore — Load / Save / Describe</a:t>
            </a:r>
          </a:p>
          <a:p>
            <a:pPr algn="l">
              <a:spcBef>
                <a:spcPts val="0"/>
              </a:spcBef>
              <a:spcAft>
                <a:spcPts val="300"/>
              </a:spcAft>
            </a:pPr>
            <a:r>
              <a:rPr sz="1500" b="0" i="0">
                <a:solidFill>
                  <a:srgbClr val="201F1E"/>
                </a:solidFill>
                <a:latin typeface="Segoe UI"/>
              </a:rPr>
              <a:t>–  Swap the store — app, agents, and workflow stay identical</a:t>
            </a:r>
          </a:p>
          <a:p>
            <a:pPr algn="l">
              <a:spcBef>
                <a:spcPts val="400"/>
              </a:spcBef>
              <a:spcAft>
                <a:spcPts val="500"/>
              </a:spcAft>
            </a:pPr>
            <a:r>
              <a:rPr sz="1800" b="1" i="0">
                <a:solidFill>
                  <a:srgbClr val="243A5E"/>
                </a:solidFill>
                <a:latin typeface="Segoe UI"/>
              </a:rPr>
              <a:t>■  Managed tier (foundry)</a:t>
            </a:r>
          </a:p>
          <a:p>
            <a:pPr algn="l">
              <a:spcBef>
                <a:spcPts val="0"/>
              </a:spcBef>
              <a:spcAft>
                <a:spcPts val="300"/>
              </a:spcAft>
            </a:pPr>
            <a:r>
              <a:rPr sz="1500" b="0" i="0">
                <a:solidFill>
                  <a:srgbClr val="201F1E"/>
                </a:solidFill>
                <a:latin typeface="Segoe UI"/>
              </a:rPr>
              <a:t>–  FoundryMemoryProvider on a single agent + session — platform extracts/embeds/recalls</a:t>
            </a:r>
          </a:p>
          <a:p>
            <a:pPr algn="l">
              <a:spcBef>
                <a:spcPts val="0"/>
              </a:spcBef>
              <a:spcAft>
                <a:spcPts val="500"/>
              </a:spcAft>
            </a:pPr>
            <a:r>
              <a:rPr sz="1800" b="0" i="0">
                <a:solidFill>
                  <a:srgbClr val="107C10"/>
                </a:solidFill>
                <a:latin typeface="Segoe UI"/>
              </a:rPr>
              <a:t>✓  Honest status banner — prints the backend it truly used</a:t>
            </a:r>
          </a:p>
        </p:txBody>
      </p:sp>
      <p:sp>
        <p:nvSpPr>
          <p:cNvPr id="8" name="Rectangle 7"/>
          <p:cNvSpPr/>
          <p:nvPr/>
        </p:nvSpPr>
        <p:spPr>
          <a:xfrm>
            <a:off x="0" y="6601968"/>
            <a:ext cx="12192000" cy="256032"/>
          </a:xfrm>
          <a:prstGeom prst="rect">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6611112"/>
            <a:ext cx="8229600" cy="228600"/>
          </a:xfrm>
          <a:prstGeom prst="rect">
            <a:avLst/>
          </a:prstGeom>
          <a:noFill/>
        </p:spPr>
        <p:txBody>
          <a:bodyPr wrap="square" anchor="ctr" lIns="0" rIns="0" tIns="0" bIns="0">
            <a:spAutoFit/>
          </a:bodyPr>
          <a:lstStyle/>
          <a:p>
            <a:pPr algn="l"/>
            <a:r>
              <a:rPr sz="900" b="0" i="0">
                <a:solidFill>
                  <a:srgbClr val="605E5C"/>
                </a:solidFill>
                <a:latin typeface="Segoe UI"/>
              </a:rPr>
              <a:t>Agent Modernization Workshops — Lab 06: Agent Memory Strategies   |   How</a:t>
            </a:r>
          </a:p>
        </p:txBody>
      </p:sp>
      <p:sp>
        <p:nvSpPr>
          <p:cNvPr id="10" name="TextBox 9"/>
          <p:cNvSpPr txBox="1"/>
          <p:nvPr/>
        </p:nvSpPr>
        <p:spPr>
          <a:xfrm>
            <a:off x="11003280" y="6611112"/>
            <a:ext cx="731520" cy="228600"/>
          </a:xfrm>
          <a:prstGeom prst="rect">
            <a:avLst/>
          </a:prstGeom>
          <a:noFill/>
        </p:spPr>
        <p:txBody>
          <a:bodyPr wrap="square" anchor="ctr" lIns="0" rIns="0" tIns="0" bIns="0">
            <a:spAutoFit/>
          </a:bodyPr>
          <a:lstStyle/>
          <a:p>
            <a:pPr algn="r"/>
            <a:r>
              <a:rPr sz="900" b="1" i="0">
                <a:solidFill>
                  <a:srgbClr val="605E5C"/>
                </a:solidFill>
                <a:latin typeface="Segoe UI"/>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51560"/>
          </a:xfrm>
          <a:prstGeom prst="rect">
            <a:avLst/>
          </a:prstGeom>
          <a:solidFill>
            <a:srgbClr val="243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51560"/>
            <a:ext cx="12192000" cy="54864"/>
          </a:xfrm>
          <a:prstGeom prst="rect">
            <a:avLst/>
          </a:prstGeom>
          <a:solidFill>
            <a:srgbClr val="00B7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64592"/>
            <a:ext cx="10058400" cy="274320"/>
          </a:xfrm>
          <a:prstGeom prst="rect">
            <a:avLst/>
          </a:prstGeom>
          <a:noFill/>
        </p:spPr>
        <p:txBody>
          <a:bodyPr wrap="square" anchor="t" lIns="0" rIns="0" tIns="0" bIns="0">
            <a:spAutoFit/>
          </a:bodyPr>
          <a:lstStyle/>
          <a:p>
            <a:pPr algn="l"/>
            <a:r>
              <a:rPr sz="1200" b="1" i="0">
                <a:solidFill>
                  <a:srgbClr val="00B7C3"/>
                </a:solidFill>
                <a:latin typeface="Segoe UI"/>
              </a:rPr>
              <a:t>ROADMAP</a:t>
            </a:r>
          </a:p>
        </p:txBody>
      </p:sp>
      <p:sp>
        <p:nvSpPr>
          <p:cNvPr id="5" name="TextBox 4"/>
          <p:cNvSpPr txBox="1"/>
          <p:nvPr/>
        </p:nvSpPr>
        <p:spPr>
          <a:xfrm>
            <a:off x="502920" y="420624"/>
            <a:ext cx="10972800" cy="566928"/>
          </a:xfrm>
          <a:prstGeom prst="rect">
            <a:avLst/>
          </a:prstGeom>
          <a:noFill/>
        </p:spPr>
        <p:txBody>
          <a:bodyPr wrap="square" anchor="ctr" lIns="0" rIns="0" tIns="0" bIns="0">
            <a:spAutoFit/>
          </a:bodyPr>
          <a:lstStyle/>
          <a:p>
            <a:pPr algn="l"/>
            <a:r>
              <a:rPr sz="2600" b="1" i="0">
                <a:solidFill>
                  <a:srgbClr val="FFFFFF"/>
                </a:solidFill>
                <a:latin typeface="Segoe UI"/>
              </a:rPr>
              <a:t>From file, to Cosmos, to platform-managed</a:t>
            </a:r>
          </a:p>
        </p:txBody>
      </p:sp>
      <p:sp>
        <p:nvSpPr>
          <p:cNvPr id="6" name="Rounded Rectangle 5"/>
          <p:cNvSpPr/>
          <p:nvPr/>
        </p:nvSpPr>
        <p:spPr>
          <a:xfrm>
            <a:off x="502920" y="1783080"/>
            <a:ext cx="2343150" cy="868680"/>
          </a:xfrm>
          <a:prstGeom prst="roundRect">
            <a:avLst/>
          </a:prstGeom>
          <a:solidFill>
            <a:srgbClr val="FFFFFF"/>
          </a:solidFill>
          <a:ln w="19050">
            <a:solidFill>
              <a:srgbClr val="0078D4"/>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i="0">
                <a:solidFill>
                  <a:srgbClr val="243A5E"/>
                </a:solidFill>
                <a:latin typeface="Segoe UI"/>
              </a:rPr>
              <a:t>local file</a:t>
            </a:r>
          </a:p>
          <a:p>
            <a:pPr algn="ctr"/>
            <a:r>
              <a:rPr sz="1000" b="0" i="0">
                <a:solidFill>
                  <a:srgbClr val="605E5C"/>
                </a:solidFill>
                <a:latin typeface="Segoe UI"/>
              </a:rPr>
              <a:t>(done)</a:t>
            </a:r>
          </a:p>
        </p:txBody>
      </p:sp>
      <p:sp>
        <p:nvSpPr>
          <p:cNvPr id="7" name="Right Arrow 6"/>
          <p:cNvSpPr/>
          <p:nvPr/>
        </p:nvSpPr>
        <p:spPr>
          <a:xfrm>
            <a:off x="2827782" y="2162556"/>
            <a:ext cx="374904" cy="109728"/>
          </a:xfrm>
          <a:prstGeom prst="rightArrow">
            <a:avLst/>
          </a:prstGeom>
          <a:solidFill>
            <a:srgbClr val="00B7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3166110" y="1783080"/>
            <a:ext cx="2343150" cy="868680"/>
          </a:xfrm>
          <a:prstGeom prst="roundRect">
            <a:avLst/>
          </a:prstGeom>
          <a:solidFill>
            <a:srgbClr val="FFFFFF"/>
          </a:solidFill>
          <a:ln w="19050">
            <a:solidFill>
              <a:srgbClr val="0078D4"/>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i="0">
                <a:solidFill>
                  <a:srgbClr val="243A5E"/>
                </a:solidFill>
                <a:latin typeface="Segoe UI"/>
              </a:rPr>
              <a:t>Cosmos DB</a:t>
            </a:r>
          </a:p>
          <a:p>
            <a:pPr algn="ctr"/>
            <a:r>
              <a:rPr sz="1000" b="0" i="0">
                <a:solidFill>
                  <a:srgbClr val="605E5C"/>
                </a:solidFill>
                <a:latin typeface="Segoe UI"/>
              </a:rPr>
              <a:t>(done)</a:t>
            </a:r>
          </a:p>
        </p:txBody>
      </p:sp>
      <p:sp>
        <p:nvSpPr>
          <p:cNvPr id="9" name="Right Arrow 8"/>
          <p:cNvSpPr/>
          <p:nvPr/>
        </p:nvSpPr>
        <p:spPr>
          <a:xfrm>
            <a:off x="5490972" y="2162556"/>
            <a:ext cx="374904" cy="109728"/>
          </a:xfrm>
          <a:prstGeom prst="rightArrow">
            <a:avLst/>
          </a:prstGeom>
          <a:solidFill>
            <a:srgbClr val="00B7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5829300" y="1783080"/>
            <a:ext cx="2343150" cy="868680"/>
          </a:xfrm>
          <a:prstGeom prst="roundRect">
            <a:avLst/>
          </a:prstGeom>
          <a:solidFill>
            <a:srgbClr val="FFFFFF"/>
          </a:solidFill>
          <a:ln w="19050">
            <a:solidFill>
              <a:srgbClr val="0078D4"/>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i="0">
                <a:solidFill>
                  <a:srgbClr val="243A5E"/>
                </a:solidFill>
                <a:latin typeface="Segoe UI"/>
              </a:rPr>
              <a:t>Foundry Memory</a:t>
            </a:r>
          </a:p>
          <a:p>
            <a:pPr algn="ctr"/>
            <a:r>
              <a:rPr sz="1000" b="0" i="0">
                <a:solidFill>
                  <a:srgbClr val="605E5C"/>
                </a:solidFill>
                <a:latin typeface="Segoe UI"/>
              </a:rPr>
              <a:t>(managed, done)</a:t>
            </a:r>
          </a:p>
        </p:txBody>
      </p:sp>
      <p:sp>
        <p:nvSpPr>
          <p:cNvPr id="11" name="Right Arrow 10"/>
          <p:cNvSpPr/>
          <p:nvPr/>
        </p:nvSpPr>
        <p:spPr>
          <a:xfrm>
            <a:off x="8154162" y="2162556"/>
            <a:ext cx="374904" cy="109728"/>
          </a:xfrm>
          <a:prstGeom prst="rightArrow">
            <a:avLst/>
          </a:prstGeom>
          <a:solidFill>
            <a:srgbClr val="00B7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8492490" y="1783080"/>
            <a:ext cx="2343150" cy="868680"/>
          </a:xfrm>
          <a:prstGeom prst="roundRect">
            <a:avLst/>
          </a:prstGeom>
          <a:solidFill>
            <a:srgbClr val="FFFFFF"/>
          </a:solidFill>
          <a:ln w="19050">
            <a:solidFill>
              <a:srgbClr val="0078D4"/>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i="0">
                <a:solidFill>
                  <a:srgbClr val="243A5E"/>
                </a:solidFill>
                <a:latin typeface="Segoe UI"/>
              </a:rPr>
              <a:t>+ AI Search</a:t>
            </a:r>
          </a:p>
          <a:p>
            <a:pPr algn="ctr"/>
            <a:r>
              <a:rPr sz="1000" b="0" i="0">
                <a:solidFill>
                  <a:srgbClr val="605E5C"/>
                </a:solidFill>
                <a:latin typeface="Segoe UI"/>
              </a:rPr>
              <a:t>(next)</a:t>
            </a:r>
          </a:p>
        </p:txBody>
      </p:sp>
      <p:sp>
        <p:nvSpPr>
          <p:cNvPr id="13" name="TextBox 12"/>
          <p:cNvSpPr txBox="1"/>
          <p:nvPr/>
        </p:nvSpPr>
        <p:spPr>
          <a:xfrm>
            <a:off x="502920" y="2880360"/>
            <a:ext cx="10332720" cy="457200"/>
          </a:xfrm>
          <a:prstGeom prst="rect">
            <a:avLst/>
          </a:prstGeom>
          <a:noFill/>
        </p:spPr>
        <p:txBody>
          <a:bodyPr wrap="square" anchor="t" lIns="0" rIns="0" tIns="0" bIns="0">
            <a:spAutoFit/>
          </a:bodyPr>
          <a:lstStyle/>
          <a:p>
            <a:pPr algn="ctr"/>
            <a:r>
              <a:rPr sz="1300" b="0" i="1">
                <a:solidFill>
                  <a:srgbClr val="605E5C"/>
                </a:solidFill>
                <a:latin typeface="Segoe UI"/>
              </a:rPr>
              <a:t>BYO swaps behind one interface · managed is the platform-owned tier · knowledge is next</a:t>
            </a:r>
          </a:p>
        </p:txBody>
      </p:sp>
      <p:sp>
        <p:nvSpPr>
          <p:cNvPr id="14" name="TextBox 13"/>
          <p:cNvSpPr txBox="1"/>
          <p:nvPr/>
        </p:nvSpPr>
        <p:spPr>
          <a:xfrm>
            <a:off x="502920" y="3474720"/>
            <a:ext cx="10332720" cy="2286000"/>
          </a:xfrm>
          <a:prstGeom prst="rect">
            <a:avLst/>
          </a:prstGeom>
          <a:noFill/>
        </p:spPr>
        <p:txBody>
          <a:bodyPr wrap="square" anchor="t" lIns="0" rIns="0" tIns="0" bIns="0">
            <a:spAutoFit/>
          </a:bodyPr>
          <a:lstStyle/>
          <a:p>
            <a:pPr algn="l">
              <a:spcBef>
                <a:spcPts val="0"/>
              </a:spcBef>
              <a:spcAft>
                <a:spcPts val="500"/>
              </a:spcAft>
            </a:pPr>
            <a:r>
              <a:rPr sz="1800" b="0" i="0">
                <a:solidFill>
                  <a:srgbClr val="107C10"/>
                </a:solidFill>
                <a:latin typeface="Segoe UI"/>
              </a:rPr>
              <a:t>✓  Cosmos (done): partition by /userId · keyless Entra RBAC · serverless · infra/provision-cosmos.ps1</a:t>
            </a:r>
          </a:p>
          <a:p>
            <a:pPr algn="l">
              <a:spcBef>
                <a:spcPts val="0"/>
              </a:spcBef>
              <a:spcAft>
                <a:spcPts val="500"/>
              </a:spcAft>
            </a:pPr>
            <a:r>
              <a:rPr sz="1800" b="0" i="0">
                <a:solidFill>
                  <a:srgbClr val="107C10"/>
                </a:solidFill>
                <a:latin typeface="Segoe UI"/>
              </a:rPr>
              <a:t>✓  Foundry Memory (done): managed provider, scope by user · embedding deploy + preview + MI role · provision-foundry-memory.ps1</a:t>
            </a:r>
          </a:p>
          <a:p>
            <a:pPr algn="l">
              <a:spcBef>
                <a:spcPts val="400"/>
              </a:spcBef>
              <a:spcAft>
                <a:spcPts val="500"/>
              </a:spcAft>
            </a:pPr>
            <a:r>
              <a:rPr sz="1800" b="1" i="0">
                <a:solidFill>
                  <a:srgbClr val="243A5E"/>
                </a:solidFill>
                <a:latin typeface="Segoe UI"/>
              </a:rPr>
              <a:t>■  Shared AI Search (next): the knowledge-memory tier — reuse the Lab 03 index · Python parity to follow</a:t>
            </a:r>
          </a:p>
        </p:txBody>
      </p:sp>
      <p:sp>
        <p:nvSpPr>
          <p:cNvPr id="15" name="Rectangle 14"/>
          <p:cNvSpPr/>
          <p:nvPr/>
        </p:nvSpPr>
        <p:spPr>
          <a:xfrm>
            <a:off x="0" y="6601968"/>
            <a:ext cx="12192000" cy="256032"/>
          </a:xfrm>
          <a:prstGeom prst="rect">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02920" y="6611112"/>
            <a:ext cx="8229600" cy="228600"/>
          </a:xfrm>
          <a:prstGeom prst="rect">
            <a:avLst/>
          </a:prstGeom>
          <a:noFill/>
        </p:spPr>
        <p:txBody>
          <a:bodyPr wrap="square" anchor="ctr" lIns="0" rIns="0" tIns="0" bIns="0">
            <a:spAutoFit/>
          </a:bodyPr>
          <a:lstStyle/>
          <a:p>
            <a:pPr algn="l"/>
            <a:r>
              <a:rPr sz="900" b="0" i="0">
                <a:solidFill>
                  <a:srgbClr val="605E5C"/>
                </a:solidFill>
                <a:latin typeface="Segoe UI"/>
              </a:rPr>
              <a:t>Agent Modernization Workshops — Lab 06: Agent Memory Strategies   |   Roadmap</a:t>
            </a:r>
          </a:p>
        </p:txBody>
      </p:sp>
      <p:sp>
        <p:nvSpPr>
          <p:cNvPr id="17" name="TextBox 16"/>
          <p:cNvSpPr txBox="1"/>
          <p:nvPr/>
        </p:nvSpPr>
        <p:spPr>
          <a:xfrm>
            <a:off x="11003280" y="6611112"/>
            <a:ext cx="731520" cy="228600"/>
          </a:xfrm>
          <a:prstGeom prst="rect">
            <a:avLst/>
          </a:prstGeom>
          <a:noFill/>
        </p:spPr>
        <p:txBody>
          <a:bodyPr wrap="square" anchor="ctr" lIns="0" rIns="0" tIns="0" bIns="0">
            <a:spAutoFit/>
          </a:bodyPr>
          <a:lstStyle/>
          <a:p>
            <a:pPr algn="r"/>
            <a:r>
              <a:rPr sz="900" b="1" i="0">
                <a:solidFill>
                  <a:srgbClr val="605E5C"/>
                </a:solidFill>
                <a:latin typeface="Segoe UI"/>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51560"/>
          </a:xfrm>
          <a:prstGeom prst="rect">
            <a:avLst/>
          </a:prstGeom>
          <a:solidFill>
            <a:srgbClr val="243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51560"/>
            <a:ext cx="12192000" cy="54864"/>
          </a:xfrm>
          <a:prstGeom prst="rect">
            <a:avLst/>
          </a:prstGeom>
          <a:solidFill>
            <a:srgbClr val="00B7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64592"/>
            <a:ext cx="10058400" cy="274320"/>
          </a:xfrm>
          <a:prstGeom prst="rect">
            <a:avLst/>
          </a:prstGeom>
          <a:noFill/>
        </p:spPr>
        <p:txBody>
          <a:bodyPr wrap="square" anchor="t" lIns="0" rIns="0" tIns="0" bIns="0">
            <a:spAutoFit/>
          </a:bodyPr>
          <a:lstStyle/>
          <a:p>
            <a:pPr algn="l"/>
            <a:r>
              <a:rPr sz="1200" b="1" i="0">
                <a:solidFill>
                  <a:srgbClr val="00B7C3"/>
                </a:solidFill>
                <a:latin typeface="Segoe UI"/>
              </a:rPr>
              <a:t>GUIDANCE</a:t>
            </a:r>
          </a:p>
        </p:txBody>
      </p:sp>
      <p:sp>
        <p:nvSpPr>
          <p:cNvPr id="5" name="TextBox 4"/>
          <p:cNvSpPr txBox="1"/>
          <p:nvPr/>
        </p:nvSpPr>
        <p:spPr>
          <a:xfrm>
            <a:off x="502920" y="420624"/>
            <a:ext cx="10972800" cy="566928"/>
          </a:xfrm>
          <a:prstGeom prst="rect">
            <a:avLst/>
          </a:prstGeom>
          <a:noFill/>
        </p:spPr>
        <p:txBody>
          <a:bodyPr wrap="square" anchor="ctr" lIns="0" rIns="0" tIns="0" bIns="0">
            <a:spAutoFit/>
          </a:bodyPr>
          <a:lstStyle/>
          <a:p>
            <a:pPr algn="l"/>
            <a:r>
              <a:rPr sz="2600" b="1" i="0">
                <a:solidFill>
                  <a:srgbClr val="FFFFFF"/>
                </a:solidFill>
                <a:latin typeface="Segoe UI"/>
              </a:rPr>
              <a:t>Design guidance for agent memory</a:t>
            </a:r>
          </a:p>
        </p:txBody>
      </p:sp>
      <p:sp>
        <p:nvSpPr>
          <p:cNvPr id="6" name="TextBox 5"/>
          <p:cNvSpPr txBox="1"/>
          <p:nvPr/>
        </p:nvSpPr>
        <p:spPr>
          <a:xfrm>
            <a:off x="502920" y="1325880"/>
            <a:ext cx="5212080" cy="4572000"/>
          </a:xfrm>
          <a:prstGeom prst="rect">
            <a:avLst/>
          </a:prstGeom>
          <a:noFill/>
        </p:spPr>
        <p:txBody>
          <a:bodyPr wrap="square" anchor="t" lIns="0" rIns="0" tIns="0" bIns="0">
            <a:spAutoFit/>
          </a:bodyPr>
          <a:lstStyle/>
          <a:p>
            <a:pPr algn="l">
              <a:spcBef>
                <a:spcPts val="400"/>
              </a:spcBef>
              <a:spcAft>
                <a:spcPts val="500"/>
              </a:spcAft>
            </a:pPr>
            <a:r>
              <a:rPr sz="1800" b="1" i="0">
                <a:solidFill>
                  <a:srgbClr val="243A5E"/>
                </a:solidFill>
                <a:latin typeface="Segoe UI"/>
              </a:rPr>
              <a:t>■  Treat memory as a host concern, not an agent feature</a:t>
            </a:r>
          </a:p>
          <a:p>
            <a:pPr algn="l">
              <a:spcBef>
                <a:spcPts val="0"/>
              </a:spcBef>
              <a:spcAft>
                <a:spcPts val="300"/>
              </a:spcAft>
            </a:pPr>
            <a:r>
              <a:rPr sz="1500" b="0" i="0">
                <a:solidFill>
                  <a:srgbClr val="201F1E"/>
                </a:solidFill>
                <a:latin typeface="Segoe UI"/>
              </a:rPr>
              <a:t>–  Same seam as skills — inject on read, compact on write</a:t>
            </a:r>
          </a:p>
          <a:p>
            <a:pPr algn="l">
              <a:spcBef>
                <a:spcPts val="400"/>
              </a:spcBef>
              <a:spcAft>
                <a:spcPts val="500"/>
              </a:spcAft>
            </a:pPr>
            <a:r>
              <a:rPr sz="1800" b="1" i="0">
                <a:solidFill>
                  <a:srgbClr val="243A5E"/>
                </a:solidFill>
                <a:latin typeface="Segoe UI"/>
              </a:rPr>
              <a:t>■  Use tiers — don't force one store to do all four</a:t>
            </a:r>
          </a:p>
          <a:p>
            <a:pPr algn="l">
              <a:spcBef>
                <a:spcPts val="0"/>
              </a:spcBef>
              <a:spcAft>
                <a:spcPts val="300"/>
              </a:spcAft>
            </a:pPr>
            <a:r>
              <a:rPr sz="1500" b="0" i="0">
                <a:solidFill>
                  <a:srgbClr val="201F1E"/>
                </a:solidFill>
                <a:latin typeface="Segoe UI"/>
              </a:rPr>
              <a:t>–  Conversation ≠ user memory ≠ state ≠ knowledge</a:t>
            </a:r>
          </a:p>
          <a:p>
            <a:pPr algn="l">
              <a:spcBef>
                <a:spcPts val="400"/>
              </a:spcBef>
              <a:spcAft>
                <a:spcPts val="500"/>
              </a:spcAft>
            </a:pPr>
            <a:r>
              <a:rPr sz="1800" b="1" i="0">
                <a:solidFill>
                  <a:srgbClr val="243A5E"/>
                </a:solidFill>
                <a:latin typeface="Segoe UI"/>
              </a:rPr>
              <a:t>■  Compact to { summary, facts, decisions, pending } — not a chat log</a:t>
            </a:r>
          </a:p>
        </p:txBody>
      </p:sp>
      <p:sp>
        <p:nvSpPr>
          <p:cNvPr id="7" name="TextBox 6"/>
          <p:cNvSpPr txBox="1"/>
          <p:nvPr/>
        </p:nvSpPr>
        <p:spPr>
          <a:xfrm>
            <a:off x="5989320" y="1325880"/>
            <a:ext cx="5212080" cy="4572000"/>
          </a:xfrm>
          <a:prstGeom prst="rect">
            <a:avLst/>
          </a:prstGeom>
          <a:noFill/>
        </p:spPr>
        <p:txBody>
          <a:bodyPr wrap="square" anchor="t" lIns="0" rIns="0" tIns="0" bIns="0">
            <a:spAutoFit/>
          </a:bodyPr>
          <a:lstStyle/>
          <a:p>
            <a:pPr algn="l">
              <a:spcBef>
                <a:spcPts val="400"/>
              </a:spcBef>
              <a:spcAft>
                <a:spcPts val="500"/>
              </a:spcAft>
            </a:pPr>
            <a:r>
              <a:rPr sz="1800" b="1" i="0">
                <a:solidFill>
                  <a:srgbClr val="243A5E"/>
                </a:solidFill>
                <a:latin typeface="Segoe UI"/>
              </a:rPr>
              <a:t>■  Scope by user — separate from thread</a:t>
            </a:r>
          </a:p>
          <a:p>
            <a:pPr algn="l">
              <a:spcBef>
                <a:spcPts val="0"/>
              </a:spcBef>
              <a:spcAft>
                <a:spcPts val="300"/>
              </a:spcAft>
            </a:pPr>
            <a:r>
              <a:rPr sz="1500" b="0" i="0">
                <a:solidFill>
                  <a:srgbClr val="201F1E"/>
                </a:solidFill>
                <a:latin typeface="Segoe UI"/>
              </a:rPr>
              <a:t>–  customerId persists; threadId is per-run</a:t>
            </a:r>
          </a:p>
          <a:p>
            <a:pPr algn="l">
              <a:spcBef>
                <a:spcPts val="400"/>
              </a:spcBef>
              <a:spcAft>
                <a:spcPts val="500"/>
              </a:spcAft>
            </a:pPr>
            <a:r>
              <a:rPr sz="1800" b="1" i="0">
                <a:solidFill>
                  <a:srgbClr val="243A5E"/>
                </a:solidFill>
                <a:latin typeface="Segoe UI"/>
              </a:rPr>
              <a:t>■  Store decisions + facts, not raw PII</a:t>
            </a:r>
          </a:p>
          <a:p>
            <a:pPr algn="l">
              <a:spcBef>
                <a:spcPts val="0"/>
              </a:spcBef>
              <a:spcAft>
                <a:spcPts val="300"/>
              </a:spcAft>
            </a:pPr>
            <a:r>
              <a:rPr sz="1500" b="0" i="0">
                <a:solidFill>
                  <a:srgbClr val="201F1E"/>
                </a:solidFill>
                <a:latin typeface="Segoe UI"/>
              </a:rPr>
              <a:t>–  Minimize what's durable — least data that gives continuity</a:t>
            </a:r>
          </a:p>
          <a:p>
            <a:pPr algn="l">
              <a:spcBef>
                <a:spcPts val="400"/>
              </a:spcBef>
              <a:spcAft>
                <a:spcPts val="500"/>
              </a:spcAft>
            </a:pPr>
            <a:r>
              <a:rPr sz="1800" b="1" i="0">
                <a:solidFill>
                  <a:srgbClr val="243A5E"/>
                </a:solidFill>
                <a:latin typeface="Segoe UI"/>
              </a:rPr>
              <a:t>■  Default OFF — memory is an explicit choice</a:t>
            </a:r>
          </a:p>
          <a:p>
            <a:pPr algn="l">
              <a:spcBef>
                <a:spcPts val="0"/>
              </a:spcBef>
              <a:spcAft>
                <a:spcPts val="300"/>
              </a:spcAft>
            </a:pPr>
            <a:r>
              <a:rPr sz="1500" b="0" i="0">
                <a:solidFill>
                  <a:srgbClr val="201F1E"/>
                </a:solidFill>
                <a:latin typeface="Segoe UI"/>
              </a:rPr>
              <a:t>–  Keeps stateless demos deterministic + auditable</a:t>
            </a:r>
          </a:p>
          <a:p>
            <a:pPr algn="l">
              <a:spcBef>
                <a:spcPts val="0"/>
              </a:spcBef>
              <a:spcAft>
                <a:spcPts val="500"/>
              </a:spcAft>
            </a:pPr>
            <a:r>
              <a:rPr sz="1800" b="0" i="0">
                <a:solidFill>
                  <a:srgbClr val="107C10"/>
                </a:solidFill>
                <a:latin typeface="Segoe UI"/>
              </a:rPr>
              <a:t>✓  BYO-first → managed when you want platform retrieval</a:t>
            </a:r>
          </a:p>
        </p:txBody>
      </p:sp>
      <p:sp>
        <p:nvSpPr>
          <p:cNvPr id="8" name="Rectangle 7"/>
          <p:cNvSpPr/>
          <p:nvPr/>
        </p:nvSpPr>
        <p:spPr>
          <a:xfrm>
            <a:off x="0" y="6601968"/>
            <a:ext cx="12192000" cy="256032"/>
          </a:xfrm>
          <a:prstGeom prst="rect">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6611112"/>
            <a:ext cx="8229600" cy="228600"/>
          </a:xfrm>
          <a:prstGeom prst="rect">
            <a:avLst/>
          </a:prstGeom>
          <a:noFill/>
        </p:spPr>
        <p:txBody>
          <a:bodyPr wrap="square" anchor="ctr" lIns="0" rIns="0" tIns="0" bIns="0">
            <a:spAutoFit/>
          </a:bodyPr>
          <a:lstStyle/>
          <a:p>
            <a:pPr algn="l"/>
            <a:r>
              <a:rPr sz="900" b="0" i="0">
                <a:solidFill>
                  <a:srgbClr val="605E5C"/>
                </a:solidFill>
                <a:latin typeface="Segoe UI"/>
              </a:rPr>
              <a:t>Agent Modernization Workshops — Lab 06: Agent Memory Strategies   |   Guidance</a:t>
            </a:r>
          </a:p>
        </p:txBody>
      </p:sp>
      <p:sp>
        <p:nvSpPr>
          <p:cNvPr id="10" name="TextBox 9"/>
          <p:cNvSpPr txBox="1"/>
          <p:nvPr/>
        </p:nvSpPr>
        <p:spPr>
          <a:xfrm>
            <a:off x="11003280" y="6611112"/>
            <a:ext cx="731520" cy="228600"/>
          </a:xfrm>
          <a:prstGeom prst="rect">
            <a:avLst/>
          </a:prstGeom>
          <a:noFill/>
        </p:spPr>
        <p:txBody>
          <a:bodyPr wrap="square" anchor="ctr" lIns="0" rIns="0" tIns="0" bIns="0">
            <a:spAutoFit/>
          </a:bodyPr>
          <a:lstStyle/>
          <a:p>
            <a:pPr algn="r"/>
            <a:r>
              <a:rPr sz="900" b="1" i="0">
                <a:solidFill>
                  <a:srgbClr val="605E5C"/>
                </a:solidFill>
                <a:latin typeface="Segoe UI"/>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51560"/>
          </a:xfrm>
          <a:prstGeom prst="rect">
            <a:avLst/>
          </a:prstGeom>
          <a:solidFill>
            <a:srgbClr val="243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51560"/>
            <a:ext cx="12192000" cy="54864"/>
          </a:xfrm>
          <a:prstGeom prst="rect">
            <a:avLst/>
          </a:prstGeom>
          <a:solidFill>
            <a:srgbClr val="00B7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64592"/>
            <a:ext cx="10058400" cy="274320"/>
          </a:xfrm>
          <a:prstGeom prst="rect">
            <a:avLst/>
          </a:prstGeom>
          <a:noFill/>
        </p:spPr>
        <p:txBody>
          <a:bodyPr wrap="square" anchor="t" lIns="0" rIns="0" tIns="0" bIns="0">
            <a:spAutoFit/>
          </a:bodyPr>
          <a:lstStyle/>
          <a:p>
            <a:pPr algn="l"/>
            <a:r>
              <a:rPr sz="1200" b="1" i="0">
                <a:solidFill>
                  <a:srgbClr val="00B7C3"/>
                </a:solidFill>
                <a:latin typeface="Segoe UI"/>
              </a:rPr>
              <a:t>WRAP</a:t>
            </a:r>
          </a:p>
        </p:txBody>
      </p:sp>
      <p:sp>
        <p:nvSpPr>
          <p:cNvPr id="5" name="TextBox 4"/>
          <p:cNvSpPr txBox="1"/>
          <p:nvPr/>
        </p:nvSpPr>
        <p:spPr>
          <a:xfrm>
            <a:off x="502920" y="420624"/>
            <a:ext cx="10972800" cy="566928"/>
          </a:xfrm>
          <a:prstGeom prst="rect">
            <a:avLst/>
          </a:prstGeom>
          <a:noFill/>
        </p:spPr>
        <p:txBody>
          <a:bodyPr wrap="square" anchor="ctr" lIns="0" rIns="0" tIns="0" bIns="0">
            <a:spAutoFit/>
          </a:bodyPr>
          <a:lstStyle/>
          <a:p>
            <a:pPr algn="l"/>
            <a:r>
              <a:rPr sz="2600" b="1" i="0">
                <a:solidFill>
                  <a:srgbClr val="FFFFFF"/>
                </a:solidFill>
                <a:latin typeface="Segoe UI"/>
              </a:rPr>
              <a:t>Take-aways &amp; where to next</a:t>
            </a:r>
          </a:p>
        </p:txBody>
      </p:sp>
      <p:sp>
        <p:nvSpPr>
          <p:cNvPr id="6" name="TextBox 5"/>
          <p:cNvSpPr txBox="1"/>
          <p:nvPr/>
        </p:nvSpPr>
        <p:spPr>
          <a:xfrm>
            <a:off x="502920" y="1325880"/>
            <a:ext cx="5212080" cy="4572000"/>
          </a:xfrm>
          <a:prstGeom prst="rect">
            <a:avLst/>
          </a:prstGeom>
          <a:noFill/>
        </p:spPr>
        <p:txBody>
          <a:bodyPr wrap="square" anchor="t" lIns="0" rIns="0" tIns="0" bIns="0">
            <a:spAutoFit/>
          </a:bodyPr>
          <a:lstStyle/>
          <a:p>
            <a:pPr algn="l">
              <a:spcBef>
                <a:spcPts val="400"/>
              </a:spcBef>
              <a:spcAft>
                <a:spcPts val="500"/>
              </a:spcAft>
            </a:pPr>
            <a:r>
              <a:rPr sz="1800" b="1" i="0">
                <a:solidFill>
                  <a:srgbClr val="243A5E"/>
                </a:solidFill>
                <a:latin typeface="Segoe UI"/>
              </a:rPr>
              <a:t>■  What we added this session:</a:t>
            </a:r>
          </a:p>
          <a:p>
            <a:pPr algn="l">
              <a:spcBef>
                <a:spcPts val="0"/>
              </a:spcBef>
              <a:spcAft>
                <a:spcPts val="300"/>
              </a:spcAft>
            </a:pPr>
            <a:r>
              <a:rPr sz="1500" b="0" i="0">
                <a:solidFill>
                  <a:srgbClr val="107C10"/>
                </a:solidFill>
                <a:latin typeface="Segoe UI"/>
              </a:rPr>
              <a:t>✓  Cross-session memory on the SAME seams — recall→inject, record→compact→save</a:t>
            </a:r>
          </a:p>
          <a:p>
            <a:pPr algn="l">
              <a:spcBef>
                <a:spcPts val="0"/>
              </a:spcBef>
              <a:spcAft>
                <a:spcPts val="300"/>
              </a:spcAft>
            </a:pPr>
            <a:r>
              <a:rPr sz="1500" b="0" i="0">
                <a:solidFill>
                  <a:srgbClr val="107C10"/>
                </a:solidFill>
                <a:latin typeface="Segoe UI"/>
              </a:rPr>
              <a:t>✓  All three tiers verified live — local + cosmos (BYO) and foundry (platform-managed)</a:t>
            </a:r>
          </a:p>
          <a:p>
            <a:pPr algn="l">
              <a:spcBef>
                <a:spcPts val="0"/>
              </a:spcBef>
              <a:spcAft>
                <a:spcPts val="300"/>
              </a:spcAft>
            </a:pPr>
            <a:r>
              <a:rPr sz="1500" b="0" i="0">
                <a:solidFill>
                  <a:srgbClr val="107C10"/>
                </a:solidFill>
                <a:latin typeface="Segoe UI"/>
              </a:rPr>
              <a:t>✓  Deterministic compaction — keep facts / decisions / pending, not transcripts</a:t>
            </a:r>
          </a:p>
          <a:p>
            <a:pPr algn="l">
              <a:spcBef>
                <a:spcPts val="0"/>
              </a:spcBef>
              <a:spcAft>
                <a:spcPts val="300"/>
              </a:spcAft>
            </a:pPr>
            <a:r>
              <a:rPr sz="1500" b="0" i="0">
                <a:solidFill>
                  <a:srgbClr val="107C10"/>
                </a:solidFill>
                <a:latin typeface="Segoe UI"/>
              </a:rPr>
              <a:t>✓  New memory tiers + IaC (Cosmos + Foundry role grant) — no agent or workflow rewrites</a:t>
            </a:r>
          </a:p>
        </p:txBody>
      </p:sp>
      <p:sp>
        <p:nvSpPr>
          <p:cNvPr id="7" name="TextBox 6"/>
          <p:cNvSpPr txBox="1"/>
          <p:nvPr/>
        </p:nvSpPr>
        <p:spPr>
          <a:xfrm>
            <a:off x="5989320" y="1325880"/>
            <a:ext cx="5212080" cy="4572000"/>
          </a:xfrm>
          <a:prstGeom prst="rect">
            <a:avLst/>
          </a:prstGeom>
          <a:noFill/>
        </p:spPr>
        <p:txBody>
          <a:bodyPr wrap="square" anchor="t" lIns="0" rIns="0" tIns="0" bIns="0">
            <a:spAutoFit/>
          </a:bodyPr>
          <a:lstStyle/>
          <a:p>
            <a:pPr algn="l">
              <a:spcBef>
                <a:spcPts val="400"/>
              </a:spcBef>
              <a:spcAft>
                <a:spcPts val="500"/>
              </a:spcAft>
            </a:pPr>
            <a:r>
              <a:rPr sz="1800" b="1" i="0">
                <a:solidFill>
                  <a:srgbClr val="243A5E"/>
                </a:solidFill>
                <a:latin typeface="Segoe UI"/>
              </a:rPr>
              <a:t>■  Where to next</a:t>
            </a:r>
          </a:p>
          <a:p>
            <a:pPr algn="l">
              <a:spcBef>
                <a:spcPts val="0"/>
              </a:spcBef>
              <a:spcAft>
                <a:spcPts val="300"/>
              </a:spcAft>
            </a:pPr>
            <a:r>
              <a:rPr sz="1500" b="0" i="0">
                <a:solidFill>
                  <a:srgbClr val="201F1E"/>
                </a:solidFill>
                <a:latin typeface="Segoe UI"/>
              </a:rPr>
              <a:t>–  Cosmos BYO store + IaC — done (keyless, serverless, /userId)</a:t>
            </a:r>
          </a:p>
          <a:p>
            <a:pPr algn="l">
              <a:spcBef>
                <a:spcPts val="0"/>
              </a:spcBef>
              <a:spcAft>
                <a:spcPts val="300"/>
              </a:spcAft>
            </a:pPr>
            <a:r>
              <a:rPr sz="1500" b="0" i="0">
                <a:solidFill>
                  <a:srgbClr val="201F1E"/>
                </a:solidFill>
                <a:latin typeface="Segoe UI"/>
              </a:rPr>
              <a:t>–  Foundry-managed Memory — done (embedding + preview + MI role)</a:t>
            </a:r>
          </a:p>
          <a:p>
            <a:pPr algn="l">
              <a:spcBef>
                <a:spcPts val="0"/>
              </a:spcBef>
              <a:spcAft>
                <a:spcPts val="300"/>
              </a:spcAft>
            </a:pPr>
            <a:r>
              <a:rPr sz="1500" b="0" i="0">
                <a:solidFill>
                  <a:srgbClr val="201F1E"/>
                </a:solidFill>
                <a:latin typeface="Segoe UI"/>
              </a:rPr>
              <a:t>–  Shared AI Search knowledge tier + Python parity</a:t>
            </a:r>
          </a:p>
          <a:p>
            <a:pPr algn="l">
              <a:spcBef>
                <a:spcPts val="400"/>
              </a:spcBef>
              <a:spcAft>
                <a:spcPts val="500"/>
              </a:spcAft>
            </a:pPr>
            <a:r>
              <a:rPr sz="1800" b="1" i="0">
                <a:solidFill>
                  <a:srgbClr val="243A5E"/>
                </a:solidFill>
                <a:latin typeface="Segoe UI"/>
              </a:rPr>
              <a:t>■  Take-away</a:t>
            </a:r>
          </a:p>
          <a:p>
            <a:pPr algn="l">
              <a:spcBef>
                <a:spcPts val="0"/>
              </a:spcBef>
              <a:spcAft>
                <a:spcPts val="300"/>
              </a:spcAft>
            </a:pPr>
            <a:r>
              <a:rPr sz="1500" b="0" i="0">
                <a:solidFill>
                  <a:srgbClr val="201F1E"/>
                </a:solidFill>
                <a:latin typeface="Segoe UI"/>
              </a:rPr>
              <a:t>–  Memory is a host concern — add it on seams, not rewrites</a:t>
            </a:r>
          </a:p>
          <a:p>
            <a:pPr algn="l">
              <a:spcBef>
                <a:spcPts val="400"/>
              </a:spcBef>
              <a:spcAft>
                <a:spcPts val="500"/>
              </a:spcAft>
            </a:pPr>
            <a:r>
              <a:rPr sz="1800" b="1" i="0">
                <a:solidFill>
                  <a:srgbClr val="243A5E"/>
                </a:solidFill>
                <a:latin typeface="Segoe UI"/>
              </a:rPr>
              <a:t>■  github.com/bradrlaw/agent-modernization-workshops</a:t>
            </a:r>
          </a:p>
          <a:p>
            <a:pPr algn="l">
              <a:spcBef>
                <a:spcPts val="0"/>
              </a:spcBef>
              <a:spcAft>
                <a:spcPts val="300"/>
              </a:spcAft>
            </a:pPr>
            <a:r>
              <a:rPr sz="1500" b="0" i="0">
                <a:solidFill>
                  <a:srgbClr val="201F1E"/>
                </a:solidFill>
                <a:latin typeface="Segoe UI"/>
              </a:rPr>
              <a:t>–  Brad.Lawrence@microsoft.com</a:t>
            </a:r>
          </a:p>
        </p:txBody>
      </p:sp>
      <p:sp>
        <p:nvSpPr>
          <p:cNvPr id="8" name="Rectangle 7"/>
          <p:cNvSpPr/>
          <p:nvPr/>
        </p:nvSpPr>
        <p:spPr>
          <a:xfrm>
            <a:off x="0" y="6601968"/>
            <a:ext cx="12192000" cy="256032"/>
          </a:xfrm>
          <a:prstGeom prst="rect">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6611112"/>
            <a:ext cx="8229600" cy="228600"/>
          </a:xfrm>
          <a:prstGeom prst="rect">
            <a:avLst/>
          </a:prstGeom>
          <a:noFill/>
        </p:spPr>
        <p:txBody>
          <a:bodyPr wrap="square" anchor="ctr" lIns="0" rIns="0" tIns="0" bIns="0">
            <a:spAutoFit/>
          </a:bodyPr>
          <a:lstStyle/>
          <a:p>
            <a:pPr algn="l"/>
            <a:r>
              <a:rPr sz="900" b="0" i="0">
                <a:solidFill>
                  <a:srgbClr val="605E5C"/>
                </a:solidFill>
                <a:latin typeface="Segoe UI"/>
              </a:rPr>
              <a:t>Agent Modernization Workshops — Lab 06: Agent Memory Strategies   |   Wrap</a:t>
            </a:r>
          </a:p>
        </p:txBody>
      </p:sp>
      <p:sp>
        <p:nvSpPr>
          <p:cNvPr id="10" name="TextBox 9"/>
          <p:cNvSpPr txBox="1"/>
          <p:nvPr/>
        </p:nvSpPr>
        <p:spPr>
          <a:xfrm>
            <a:off x="11003280" y="6611112"/>
            <a:ext cx="731520" cy="228600"/>
          </a:xfrm>
          <a:prstGeom prst="rect">
            <a:avLst/>
          </a:prstGeom>
          <a:noFill/>
        </p:spPr>
        <p:txBody>
          <a:bodyPr wrap="square" anchor="ctr" lIns="0" rIns="0" tIns="0" bIns="0">
            <a:spAutoFit/>
          </a:bodyPr>
          <a:lstStyle/>
          <a:p>
            <a:pPr algn="r"/>
            <a:r>
              <a:rPr sz="900" b="1" i="0">
                <a:solidFill>
                  <a:srgbClr val="605E5C"/>
                </a:solidFill>
                <a:latin typeface="Segoe UI"/>
              </a:rPr>
              <a:t>17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