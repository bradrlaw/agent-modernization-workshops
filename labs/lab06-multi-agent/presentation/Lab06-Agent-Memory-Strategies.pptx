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This is the follow-up to Lab 06. Last time we built a multi-agent banking team and ran five orchestration patterns — router/triage, delegation and synthesis. Today's focus is the one thing that team could NOT do: remember anything between sessions. We'll add cross-session memory, look at the two ways to store it (managed vs bring-your-own), and run it live. The .NET local path is validated end-to-end against a Foundry gpt-4o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for the follow-up. Recap is deliberately short — two slides — because the ask this session is MEMORY. Spend the bulk on the tiers, the diff (what changed in the code), and the live off-vs-local demo. All three memory tiers — local, cosmos, and Foundry-managed — are now verified live; the remaining roadmap item is the shared knowledge (AI Search) tier + Python parity.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 recap — do NOT re-teach these; the room saw them run last time. One banking team (Concierge + Accounts + Lending + Cards + Compliance) dropped into five builders. Router/triage = handoff; delegation + synthesis = sequential/concurrent/group chat/magentic. The punchline held: the agents are constant, the BUILDER is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into today. Orchestration is solved; what's missing is CONTINUITY. Last time's demos all began with an empty slate. A real assistant has to remember the customer across sessions — who they are, what we decided, what's still pending. That's the whole follow-up. The agenda that was sent out named three things: router vs specialist, delegation and synthesis, and memory strategies. The first two shipped in Lab 06 — memory is what's new.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memory as tiers, not one bucket. Each has a different lifetime and a different home. Conversation memory = the managed thread, lives for one run. USER / customer memory = cross-session facts and decisions — that's today's focus. State/plans = workflow checkpoints. Knowledge = shared reference data in AI Search. Don't force one store to do all four — that's how you get bloat and leakage.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design fork. Two legitimate ways to give an agent durable memory. MANAGED: let Foundry do it — you attach a memory tool and it handles extraction + vector retrieval (Cosmos-backed, preview). BYO: you own a small store and a compaction step behind one interface — runs anywhere, offline, unit-testable. We teach BOTH, and we build BYO first because it's the one you can run and reason about end-to-end today — and it's the fallback if managed isn't available in your resource.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room came for — 'what did you actually change to add memory?' Answer: almost nothing structural. Memory rides the SAME two seams skills already used — inject context before the run, record after it. We added a --memory flag that mirrors --skills. The agents and the five workflow builders were not touched. That's the message: memory is a cross-cutting host concern, bolted onto seams that already existed — not a rewrite of the team. Left = the two behaviors; right = the literal file diff.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write path. When a run ends we don't dump the whole conversation into the store — we COMPACT it into a small, structured record: a short summary, extracted facts, decisions made, and anything still pending, plus the last few turns for continuity. We start with a DETERMINISTIC, no-LLM compactor on purpose — it's instant, free, and can't misbehave on stage. You upgrade to LLM summarization later without touching the agents. On the live run the compactor pulled exactly the right facts out of the loan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 path, and it's the mirror of skills injection. Before the workflow runs we load the customer's compacted record, turn it into a short preamble, and append it to every specialist's system instructions — the very same mechanism the SKILL.md rules use. So the team doesn't re-derive context; it opens the session already knowing who this is and what we last decided. Key detail on the right: scope. Memory is keyed by CUSTOMER, not by thread — one customer has many conversations over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seam that makes local and cosmos interchangeable. Everything hangs off IMemoryStore -- Load, Save, Describe. CreateStore is the ENTIRE difference between the two BYO tiers: ask Cosmos for a store from the environment (keyless, Entra RBAC); if it isn't configured, say so out loud and fall back to a local JSON file. Same interface, different backend -- a store swap, not a rewrite. Describe() feeds the honest banner so we never claim a store we didn't 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lifecycle moments every memory system needs, and both reuse the Skills seam. RECALL runs before the workflow: load the customer's compacted record and turn it into a short preamble. Then Build() injects that preamble into every specialist's instructions -- the exact same injection point the SKILL.md rules use, which is why no agent changed. RECORD runs after: the Compactor distills the new turns to { summary, facts, decisions, pending } and saves. Scope is the customerId, not the thread.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managed tier, and it is deliberately a DIFFERENT shape. There is no IMemoryStore here -- you attach a FoundryMemoryProvider as an AIContextProvider on a SINGLE agent + session, scoped by the customerId, and the platform extracts, embeds, stores, and recalls automatically. That is why --memory foundry runs one concierge agent, not the five-agent workflow. Two honesty notes for the room: extraction is async (WhenUpdatesCompletedAsync), and on a brand-new scope server-side indexing lags -- so pre-seed, then the re-run recalls. Preview needs a chat AND an embedding deployment plus the memory preview.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 and it fixes the thing that used to look flat. Earlier drafts ran the SAME fully detailed request each time, so both runs looked identical: the prompt already carried every number, so recall had nothing to add. Instead, SEED run 1 with the detailed loan request — it saves the facts. Run 2 asks a follow-up that says ‘finalize the loan we discussed’ and deliberately omits the numbers. With --memory local the team walks in already knowing — $25,000, 60-month term, 4.99% — and finalizes it. Run 3 is the SAME follow-up with --memory off: the team has no record and has to ask you to re-supply the amount, term, and rate. Same question, opposite behavior — memory is the only thing that changed. Ask only for amount, term, and rate; those are stored deterministically, so recall is stable on stage.</a:t>
            </a:r>
          </a:p>
          <a:p/>
          <a:p>
            <a:r>
              <a:t>DEMO TO RUN — Memory that changes behavior. cd labs/lab06-multi-agent/src-dotnet/BankingConcierge. Preflight: az login to the RIGHT subscription (the one with your Foundry resource); warm tokens (az account get-access-token --resource https://cognitiveservices.azure.com and .../ai.azure.com); $env:FOUNDRY_PROJECT_ENDPOINT / FOUNDRY_MODEL; $env:DOTNET_ROLL_FORWARD='LatestMajor'. SEED: dotnet run --no-build -- --pattern sequential --memory local --customer CUST-2001 --task 'I would like a $25,000 auto loan for 60 months. Please prepare an offer with the required disclosures.'  Then set $fu='Please finalize the loan we discussed earlier and restate its amount, term, and rate before you send the disclosures.' and run it TWICE: --memory local (team recalls $25,000 / 60-mo / 4.99%), then the SAME $fu with --memory off (team asks you to re-supply the details). Optionally: Get-Content .memory/CUST-2001.json to show the compacted record.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flag, four modes — but TWO memory models, and be precise about the difference. BYO (local + cosmos) is the app owning memory behind one IMemoryStore contract: recall→inject a preamble into the five specialists, compact→save after — and local↔cosmos is a true store swap. FOUNDRY is the MANAGED tier and does NOT use IMemoryStore: it attaches a FoundryMemoryProvider to a SINGLE agent + session and the platform extracts, embeds, and recalls automatically, so --memory foundry runs a dedicated single-agent demo. All four are verified live now (Cosmos keyless — Entra RBAC, serverless; Foundry needs an embedding deploy + preview + a managed-identity role grant). The banner always prints the TRUTHFUL backend it actually used.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goes. BYO first: local→Cosmos is a pure STORE SWAP — same IMemoryStore contract, same recall/record seams, partition by /userId, keyless (Entra RBAC), serverless, one-command provision. Foundry-managed is the MANAGED tier — NOT a store swap: you hand the job to the platform (attach the provider, scope by user; it extracts, embeds, recalls). It's now verified live end-to-end — it needs an embedding deployment, memory preview, and a managed-identity role grant (provision-foundry-memory.ps1). The forward-looking item is the shared AI Search knowledge tier (reuses Lab 03) + Python parity — verify those against your own resource.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Generalize past this lab. Five rules that travel to any agent app. Memory is cross-cutting — keep it out of the agents. Use the right tier per kind of memory. Compact to a structured shape, never a raw log. Scope by user and keep that separate from the thread. Store decisions and facts — not a pile of PII — and default memory OFF so it's an explicit, auditable choice. All public-doc-aligned; no customer specifics.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it. Memory didn't require re-architecting the team — the BYO tiers rode the seams orchestration already gave us, and the managed tier is a faithful single-agent demo of platform-owned memory. All three run today. The forward-looking item is the shared knowledge tier + Python parity. Close with what's next and hand back to Q&amp;A. Repo + contact on screen.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03320"/>
            <a:ext cx="12192000" cy="7315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80160"/>
            <a:ext cx="9601200" cy="457200"/>
          </a:xfrm>
          <a:prstGeom prst="rect">
            <a:avLst/>
          </a:prstGeom>
          <a:noFill/>
        </p:spPr>
        <p:txBody>
          <a:bodyPr wrap="square" anchor="t" lIns="0" rIns="0" tIns="0" bIns="0">
            <a:spAutoFit/>
          </a:bodyPr>
          <a:lstStyle/>
          <a:p>
            <a:pPr algn="l"/>
            <a:r>
              <a:rPr sz="1500" b="1" i="0">
                <a:solidFill>
                  <a:srgbClr val="00B7C3"/>
                </a:solidFill>
                <a:latin typeface="Segoe UI"/>
              </a:rPr>
              <a:t>AGENT MODERNIZATION WORKSHOPS · LAB 06 · FOLLOW-UP</a:t>
            </a:r>
          </a:p>
        </p:txBody>
      </p:sp>
      <p:sp>
        <p:nvSpPr>
          <p:cNvPr id="5" name="TextBox 4"/>
          <p:cNvSpPr txBox="1"/>
          <p:nvPr/>
        </p:nvSpPr>
        <p:spPr>
          <a:xfrm>
            <a:off x="822960" y="1828800"/>
            <a:ext cx="10058400" cy="1737360"/>
          </a:xfrm>
          <a:prstGeom prst="rect">
            <a:avLst/>
          </a:prstGeom>
          <a:noFill/>
        </p:spPr>
        <p:txBody>
          <a:bodyPr wrap="square" anchor="t" lIns="0" rIns="0" tIns="0" bIns="0">
            <a:spAutoFit/>
          </a:bodyPr>
          <a:lstStyle/>
          <a:p>
            <a:pPr algn="l"/>
            <a:r>
              <a:rPr sz="4600" b="1" i="0">
                <a:solidFill>
                  <a:srgbClr val="FFFFFF"/>
                </a:solidFill>
                <a:latin typeface="Segoe UI"/>
              </a:rPr>
              <a:t>Agent Memory Strategies</a:t>
            </a:r>
          </a:p>
          <a:p>
            <a:pPr algn="l">
              <a:spcBef>
                <a:spcPts val="600"/>
              </a:spcBef>
            </a:pPr>
            <a:r>
              <a:rPr sz="2200" b="0" i="0">
                <a:solidFill>
                  <a:srgbClr val="BFD7F0"/>
                </a:solidFill>
                <a:latin typeface="Segoe UI"/>
              </a:rPr>
              <a:t>Giving the multi-agent team cross-session memory</a:t>
            </a:r>
          </a:p>
        </p:txBody>
      </p:sp>
      <p:sp>
        <p:nvSpPr>
          <p:cNvPr id="6" name="TextBox 5"/>
          <p:cNvSpPr txBox="1"/>
          <p:nvPr/>
        </p:nvSpPr>
        <p:spPr>
          <a:xfrm>
            <a:off x="822960" y="3977639"/>
            <a:ext cx="10058400" cy="822960"/>
          </a:xfrm>
          <a:prstGeom prst="rect">
            <a:avLst/>
          </a:prstGeom>
          <a:noFill/>
        </p:spPr>
        <p:txBody>
          <a:bodyPr wrap="square" anchor="t" lIns="0" rIns="0" tIns="0" bIns="0">
            <a:spAutoFit/>
          </a:bodyPr>
          <a:lstStyle/>
          <a:p>
            <a:pPr algn="l"/>
            <a:r>
              <a:rPr sz="1500" b="0" i="0">
                <a:solidFill>
                  <a:srgbClr val="FFFFFF"/>
                </a:solidFill>
                <a:latin typeface="Segoe UI"/>
              </a:rPr>
              <a:t>Managed vs. bring-your-own   ·   compaction &amp; recall   ·   local, cosmos, foundry — all live</a:t>
            </a:r>
          </a:p>
        </p:txBody>
      </p:sp>
      <p:sp>
        <p:nvSpPr>
          <p:cNvPr id="7" name="TextBox 6"/>
          <p:cNvSpPr txBox="1"/>
          <p:nvPr/>
        </p:nvSpPr>
        <p:spPr>
          <a:xfrm>
            <a:off x="822960" y="5029200"/>
            <a:ext cx="10058400" cy="548640"/>
          </a:xfrm>
          <a:prstGeom prst="rect">
            <a:avLst/>
          </a:prstGeom>
          <a:noFill/>
        </p:spPr>
        <p:txBody>
          <a:bodyPr wrap="square" anchor="t" lIns="0" rIns="0" tIns="0" bIns="0">
            <a:spAutoFit/>
          </a:bodyPr>
          <a:lstStyle/>
          <a:p>
            <a:pPr algn="l"/>
            <a:r>
              <a:rPr sz="1400" b="1" i="0">
                <a:solidFill>
                  <a:srgbClr val="00B7C3"/>
                </a:solidFill>
                <a:latin typeface="Segoe UI"/>
              </a:rPr>
              <a:t>Brad Lawrence  ·  Brad.Lawrence@microsoft.com  ·  Microsoft ISD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AGENDA</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What we'll cover (≈30 min)</a:t>
            </a:r>
          </a:p>
        </p:txBody>
      </p:sp>
      <p:sp>
        <p:nvSpPr>
          <p:cNvPr id="6" name="TextBox 5"/>
          <p:cNvSpPr txBox="1"/>
          <p:nvPr/>
        </p:nvSpPr>
        <p:spPr>
          <a:xfrm>
            <a:off x="502920" y="1325880"/>
            <a:ext cx="1033272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Recap — where Lab 06 left off (5 patterns, one team, stateless)</a:t>
            </a:r>
          </a:p>
          <a:p>
            <a:pPr algn="l">
              <a:spcBef>
                <a:spcPts val="400"/>
              </a:spcBef>
              <a:spcAft>
                <a:spcPts val="500"/>
              </a:spcAft>
            </a:pPr>
            <a:r>
              <a:rPr sz="1800" b="1" i="0">
                <a:solidFill>
                  <a:srgbClr val="243A5E"/>
                </a:solidFill>
                <a:latin typeface="Segoe UI"/>
              </a:rPr>
              <a:t>■  Why memory — the team forgets the moment a run ends</a:t>
            </a:r>
          </a:p>
          <a:p>
            <a:pPr algn="l">
              <a:spcBef>
                <a:spcPts val="400"/>
              </a:spcBef>
              <a:spcAft>
                <a:spcPts val="500"/>
              </a:spcAft>
            </a:pPr>
            <a:r>
              <a:rPr sz="1800" b="1" i="0">
                <a:solidFill>
                  <a:srgbClr val="243A5E"/>
                </a:solidFill>
                <a:latin typeface="Segoe UI"/>
              </a:rPr>
              <a:t>■  The four memory tiers + two ways to store them (managed vs BYO)</a:t>
            </a:r>
          </a:p>
          <a:p>
            <a:pPr algn="l">
              <a:spcBef>
                <a:spcPts val="400"/>
              </a:spcBef>
              <a:spcAft>
                <a:spcPts val="500"/>
              </a:spcAft>
            </a:pPr>
            <a:r>
              <a:rPr sz="1800" b="1" i="0">
                <a:solidFill>
                  <a:srgbClr val="243A5E"/>
                </a:solidFill>
                <a:latin typeface="Segoe UI"/>
              </a:rPr>
              <a:t>■  What it took to add memory — the diff (recall→inject, record→compact→save)</a:t>
            </a:r>
          </a:p>
          <a:p>
            <a:pPr algn="l">
              <a:spcBef>
                <a:spcPts val="400"/>
              </a:spcBef>
              <a:spcAft>
                <a:spcPts val="500"/>
              </a:spcAft>
            </a:pPr>
            <a:r>
              <a:rPr sz="1800" b="1" i="0">
                <a:solidFill>
                  <a:srgbClr val="243A5E"/>
                </a:solidFill>
                <a:latin typeface="Segoe UI"/>
              </a:rPr>
              <a:t>■  Live demo — memory off vs. local (the team remembers)</a:t>
            </a:r>
          </a:p>
          <a:p>
            <a:pPr algn="l">
              <a:spcBef>
                <a:spcPts val="400"/>
              </a:spcBef>
              <a:spcAft>
                <a:spcPts val="500"/>
              </a:spcAft>
            </a:pPr>
            <a:r>
              <a:rPr sz="1800" b="1" i="0">
                <a:solidFill>
                  <a:srgbClr val="243A5E"/>
                </a:solidFill>
                <a:latin typeface="Segoe UI"/>
              </a:rPr>
              <a:t>■  Managed tier + roadmap — Foundry-managed Memory (live) · shared knowledge search (next)</a:t>
            </a:r>
          </a:p>
        </p:txBody>
      </p:sp>
      <p:sp>
        <p:nvSpPr>
          <p:cNvPr id="7" name="Rectangle 6"/>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Agenda</a:t>
            </a:r>
          </a:p>
        </p:txBody>
      </p:sp>
      <p:sp>
        <p:nvSpPr>
          <p:cNvPr id="9" name="TextBox 8"/>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468880"/>
            <a:ext cx="109728" cy="15544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31720"/>
            <a:ext cx="2743200" cy="914400"/>
          </a:xfrm>
          <a:prstGeom prst="rect">
            <a:avLst/>
          </a:prstGeom>
          <a:noFill/>
        </p:spPr>
        <p:txBody>
          <a:bodyPr wrap="square" anchor="t" lIns="0" rIns="0" tIns="0" bIns="0">
            <a:spAutoFit/>
          </a:bodyPr>
          <a:lstStyle/>
          <a:p>
            <a:pPr algn="l"/>
            <a:r>
              <a:rPr sz="6600" b="1" i="0">
                <a:solidFill>
                  <a:srgbClr val="00B7C3"/>
                </a:solidFill>
                <a:latin typeface="Segoe UI"/>
              </a:rPr>
              <a:t>Recap</a:t>
            </a:r>
          </a:p>
        </p:txBody>
      </p:sp>
      <p:sp>
        <p:nvSpPr>
          <p:cNvPr id="5" name="TextBox 4"/>
          <p:cNvSpPr txBox="1"/>
          <p:nvPr/>
        </p:nvSpPr>
        <p:spPr>
          <a:xfrm>
            <a:off x="868680" y="3200400"/>
            <a:ext cx="9601200" cy="914400"/>
          </a:xfrm>
          <a:prstGeom prst="rect">
            <a:avLst/>
          </a:prstGeom>
          <a:noFill/>
        </p:spPr>
        <p:txBody>
          <a:bodyPr wrap="square" anchor="t" lIns="0" rIns="0" tIns="0" bIns="0">
            <a:spAutoFit/>
          </a:bodyPr>
          <a:lstStyle/>
          <a:p>
            <a:pPr algn="l"/>
            <a:r>
              <a:rPr sz="3800" b="1" i="0">
                <a:solidFill>
                  <a:srgbClr val="FFFFFF"/>
                </a:solidFill>
                <a:latin typeface="Segoe UI"/>
              </a:rPr>
              <a:t>Where Lab 06 left off</a:t>
            </a:r>
          </a:p>
        </p:txBody>
      </p:sp>
      <p:sp>
        <p:nvSpPr>
          <p:cNvPr id="6" name="TextBox 5"/>
          <p:cNvSpPr txBox="1"/>
          <p:nvPr/>
        </p:nvSpPr>
        <p:spPr>
          <a:xfrm>
            <a:off x="896112" y="4114800"/>
            <a:ext cx="9601200" cy="731520"/>
          </a:xfrm>
          <a:prstGeom prst="rect">
            <a:avLst/>
          </a:prstGeom>
          <a:noFill/>
        </p:spPr>
        <p:txBody>
          <a:bodyPr wrap="square" anchor="t" lIns="0" rIns="0" tIns="0" bIns="0">
            <a:spAutoFit/>
          </a:bodyPr>
          <a:lstStyle/>
          <a:p>
            <a:pPr algn="l"/>
            <a:r>
              <a:rPr sz="1800" b="0" i="0">
                <a:solidFill>
                  <a:srgbClr val="BFD7F0"/>
                </a:solidFill>
                <a:latin typeface="Segoe UI"/>
              </a:rPr>
              <a:t>Five orchestration patterns · one banking team · router, delegation, synthesis — all stateless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RECAP · 1 OF 2</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One team, five orchestration patterns</a:t>
            </a:r>
          </a:p>
        </p:txBody>
      </p:sp>
      <p:sp>
        <p:nvSpPr>
          <p:cNvPr id="6" name="Rounded Rectangle 5"/>
          <p:cNvSpPr/>
          <p:nvPr/>
        </p:nvSpPr>
        <p:spPr>
          <a:xfrm>
            <a:off x="502920" y="1783080"/>
            <a:ext cx="1810512"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Sequential</a:t>
            </a:r>
          </a:p>
        </p:txBody>
      </p:sp>
      <p:sp>
        <p:nvSpPr>
          <p:cNvPr id="7" name="Right Arrow 6"/>
          <p:cNvSpPr/>
          <p:nvPr/>
        </p:nvSpPr>
        <p:spPr>
          <a:xfrm>
            <a:off x="2295144"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33472" y="1783080"/>
            <a:ext cx="1810512"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Concurrent</a:t>
            </a:r>
          </a:p>
        </p:txBody>
      </p:sp>
      <p:sp>
        <p:nvSpPr>
          <p:cNvPr id="9" name="Right Arrow 8"/>
          <p:cNvSpPr/>
          <p:nvPr/>
        </p:nvSpPr>
        <p:spPr>
          <a:xfrm>
            <a:off x="4425696"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64024" y="1783080"/>
            <a:ext cx="1810512"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Group Chat</a:t>
            </a:r>
          </a:p>
        </p:txBody>
      </p:sp>
      <p:sp>
        <p:nvSpPr>
          <p:cNvPr id="11" name="Right Arrow 10"/>
          <p:cNvSpPr/>
          <p:nvPr/>
        </p:nvSpPr>
        <p:spPr>
          <a:xfrm>
            <a:off x="6556248"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94576" y="1783080"/>
            <a:ext cx="1810512"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Handoff</a:t>
            </a:r>
          </a:p>
          <a:p>
            <a:pPr algn="ctr"/>
            <a:r>
              <a:rPr sz="1000" b="0" i="0">
                <a:solidFill>
                  <a:srgbClr val="605E5C"/>
                </a:solidFill>
                <a:latin typeface="Segoe UI"/>
              </a:rPr>
              <a:t>(triage)</a:t>
            </a:r>
          </a:p>
        </p:txBody>
      </p:sp>
      <p:sp>
        <p:nvSpPr>
          <p:cNvPr id="13" name="Right Arrow 12"/>
          <p:cNvSpPr/>
          <p:nvPr/>
        </p:nvSpPr>
        <p:spPr>
          <a:xfrm>
            <a:off x="8686800"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025128" y="1783080"/>
            <a:ext cx="1810512"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Magentic</a:t>
            </a:r>
          </a:p>
          <a:p>
            <a:pPr algn="ctr"/>
            <a:r>
              <a:rPr sz="1000" b="0" i="0">
                <a:solidFill>
                  <a:srgbClr val="605E5C"/>
                </a:solidFill>
                <a:latin typeface="Segoe UI"/>
              </a:rPr>
              <a:t>(adaptive)</a:t>
            </a:r>
          </a:p>
        </p:txBody>
      </p:sp>
      <p:sp>
        <p:nvSpPr>
          <p:cNvPr id="15" name="TextBox 14"/>
          <p:cNvSpPr txBox="1"/>
          <p:nvPr/>
        </p:nvSpPr>
        <p:spPr>
          <a:xfrm>
            <a:off x="502920" y="2880360"/>
            <a:ext cx="10332720" cy="457200"/>
          </a:xfrm>
          <a:prstGeom prst="rect">
            <a:avLst/>
          </a:prstGeom>
          <a:noFill/>
        </p:spPr>
        <p:txBody>
          <a:bodyPr wrap="square" anchor="t" lIns="0" rIns="0" tIns="0" bIns="0">
            <a:spAutoFit/>
          </a:bodyPr>
          <a:lstStyle/>
          <a:p>
            <a:pPr algn="ctr"/>
            <a:r>
              <a:rPr sz="1300" b="0" i="1">
                <a:solidFill>
                  <a:srgbClr val="605E5C"/>
                </a:solidFill>
                <a:latin typeface="Segoe UI"/>
              </a:rPr>
              <a:t>Same specialists · swap only the builder — router/triage, delegation, and synthesis, covered</a:t>
            </a:r>
          </a:p>
        </p:txBody>
      </p:sp>
      <p:sp>
        <p:nvSpPr>
          <p:cNvPr id="16" name="TextBox 15"/>
          <p:cNvSpPr txBox="1"/>
          <p:nvPr/>
        </p:nvSpPr>
        <p:spPr>
          <a:xfrm>
            <a:off x="502920" y="3474720"/>
            <a:ext cx="10332720" cy="2286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Plus a second axis — Agent → Skills: versioned SKILL.md rules loaded at runtime (--skills on/off)</a:t>
            </a:r>
          </a:p>
          <a:p>
            <a:pPr algn="l">
              <a:spcBef>
                <a:spcPts val="0"/>
              </a:spcBef>
              <a:spcAft>
                <a:spcPts val="300"/>
              </a:spcAft>
            </a:pPr>
            <a:r>
              <a:rPr sz="1500" b="0" i="0">
                <a:solidFill>
                  <a:srgbClr val="201F1E"/>
                </a:solidFill>
                <a:latin typeface="Segoe UI"/>
              </a:rPr>
              <a:t>–  Full Python + .NET parity, running live on a Foundry gpt-4o deployment</a:t>
            </a:r>
          </a:p>
        </p:txBody>
      </p:sp>
      <p:sp>
        <p:nvSpPr>
          <p:cNvPr id="17" name="Rectangle 16"/>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Recap · 1 of 2</a:t>
            </a:r>
          </a:p>
        </p:txBody>
      </p:sp>
      <p:sp>
        <p:nvSpPr>
          <p:cNvPr id="19" name="TextBox 18"/>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RECAP · 2 OF 2</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…but the team has no memory</a:t>
            </a:r>
          </a:p>
        </p:txBody>
      </p:sp>
      <p:sp>
        <p:nvSpPr>
          <p:cNvPr id="6" name="TextBox 5"/>
          <p:cNvSpPr txBox="1"/>
          <p:nvPr/>
        </p:nvSpPr>
        <p:spPr>
          <a:xfrm>
            <a:off x="5029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Everything last time happened INSIDE a single run:</a:t>
            </a:r>
          </a:p>
          <a:p>
            <a:pPr algn="l">
              <a:spcBef>
                <a:spcPts val="0"/>
              </a:spcBef>
              <a:spcAft>
                <a:spcPts val="300"/>
              </a:spcAft>
            </a:pPr>
            <a:r>
              <a:rPr sz="1500" b="0" i="0">
                <a:solidFill>
                  <a:srgbClr val="201F1E"/>
                </a:solidFill>
                <a:latin typeface="Segoe UI"/>
              </a:rPr>
              <a:t>–  Router picks a specialist — then forgets it ever did</a:t>
            </a:r>
          </a:p>
          <a:p>
            <a:pPr algn="l">
              <a:spcBef>
                <a:spcPts val="0"/>
              </a:spcBef>
              <a:spcAft>
                <a:spcPts val="300"/>
              </a:spcAft>
            </a:pPr>
            <a:r>
              <a:rPr sz="1500" b="0" i="0">
                <a:solidFill>
                  <a:srgbClr val="201F1E"/>
                </a:solidFill>
                <a:latin typeface="Segoe UI"/>
              </a:rPr>
              <a:t>–  Agents delegate and synthesize — then the transcript evaporates</a:t>
            </a:r>
          </a:p>
          <a:p>
            <a:pPr algn="l">
              <a:spcBef>
                <a:spcPts val="0"/>
              </a:spcBef>
              <a:spcAft>
                <a:spcPts val="300"/>
              </a:spcAft>
            </a:pPr>
            <a:r>
              <a:rPr sz="1500" b="0" i="0">
                <a:solidFill>
                  <a:srgbClr val="201F1E"/>
                </a:solidFill>
                <a:latin typeface="Segoe UI"/>
              </a:rPr>
              <a:t>–  Run it again and the customer starts from zero, every time</a:t>
            </a:r>
          </a:p>
          <a:p>
            <a:pPr algn="l">
              <a:spcBef>
                <a:spcPts val="400"/>
              </a:spcBef>
              <a:spcAft>
                <a:spcPts val="500"/>
              </a:spcAft>
            </a:pPr>
            <a:r>
              <a:rPr sz="1800" b="1" i="0">
                <a:solidFill>
                  <a:srgbClr val="243A5E"/>
                </a:solidFill>
                <a:latin typeface="Segoe UI"/>
              </a:rPr>
              <a:t>■  The agenda's third pillar — memory strategies — is the gap</a:t>
            </a:r>
          </a:p>
        </p:txBody>
      </p:sp>
      <p:sp>
        <p:nvSpPr>
          <p:cNvPr id="7" name="TextBox 6"/>
          <p:cNvSpPr txBox="1"/>
          <p:nvPr/>
        </p:nvSpPr>
        <p:spPr>
          <a:xfrm>
            <a:off x="59893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What memory adds</a:t>
            </a:r>
          </a:p>
          <a:p>
            <a:pPr algn="l">
              <a:spcBef>
                <a:spcPts val="0"/>
              </a:spcBef>
              <a:spcAft>
                <a:spcPts val="300"/>
              </a:spcAft>
            </a:pPr>
            <a:r>
              <a:rPr sz="1500" b="0" i="0">
                <a:solidFill>
                  <a:srgbClr val="201F1E"/>
                </a:solidFill>
                <a:latin typeface="Segoe UI"/>
              </a:rPr>
              <a:t>–  Recall who the customer is + what we already decided</a:t>
            </a:r>
          </a:p>
          <a:p>
            <a:pPr algn="l">
              <a:spcBef>
                <a:spcPts val="0"/>
              </a:spcBef>
              <a:spcAft>
                <a:spcPts val="300"/>
              </a:spcAft>
            </a:pPr>
            <a:r>
              <a:rPr sz="1500" b="0" i="0">
                <a:solidFill>
                  <a:srgbClr val="201F1E"/>
                </a:solidFill>
                <a:latin typeface="Segoe UI"/>
              </a:rPr>
              <a:t>–  Carry pending actions forward across sessions</a:t>
            </a:r>
          </a:p>
          <a:p>
            <a:pPr algn="l">
              <a:spcBef>
                <a:spcPts val="0"/>
              </a:spcBef>
              <a:spcAft>
                <a:spcPts val="300"/>
              </a:spcAft>
            </a:pPr>
            <a:r>
              <a:rPr sz="1500" b="0" i="0">
                <a:solidFill>
                  <a:srgbClr val="201F1E"/>
                </a:solidFill>
                <a:latin typeface="Segoe UI"/>
              </a:rPr>
              <a:t>–  Continuity — the customer doesn't repeat themselves</a:t>
            </a:r>
          </a:p>
          <a:p>
            <a:pPr algn="l">
              <a:spcBef>
                <a:spcPts val="0"/>
              </a:spcBef>
              <a:spcAft>
                <a:spcPts val="500"/>
              </a:spcAft>
            </a:pPr>
            <a:r>
              <a:rPr sz="1800" b="0" i="0">
                <a:solidFill>
                  <a:srgbClr val="107C10"/>
                </a:solidFill>
                <a:latin typeface="Segoe UI"/>
              </a:rPr>
              <a:t>✓  The missing tier for a real assistant</a:t>
            </a:r>
          </a:p>
          <a:p>
            <a:pPr algn="l">
              <a:spcBef>
                <a:spcPts val="0"/>
              </a:spcBef>
              <a:spcAft>
                <a:spcPts val="300"/>
              </a:spcAft>
            </a:pPr>
            <a:r>
              <a:rPr sz="1500" b="0" i="0">
                <a:solidFill>
                  <a:srgbClr val="201F1E"/>
                </a:solidFill>
                <a:latin typeface="Segoe UI"/>
              </a:rPr>
              <a:t>–  Not an agent feature — a cross-cutting concern</a:t>
            </a:r>
          </a:p>
        </p:txBody>
      </p:sp>
      <p:sp>
        <p:nvSpPr>
          <p:cNvPr id="8" name="Rectangle 7"/>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Recap · 2 of 2</a:t>
            </a:r>
          </a:p>
        </p:txBody>
      </p:sp>
      <p:sp>
        <p:nvSpPr>
          <p:cNvPr id="10" name="TextBox 9"/>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468880"/>
            <a:ext cx="109728" cy="15544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31720"/>
            <a:ext cx="2743200" cy="914400"/>
          </a:xfrm>
          <a:prstGeom prst="rect">
            <a:avLst/>
          </a:prstGeom>
          <a:noFill/>
        </p:spPr>
        <p:txBody>
          <a:bodyPr wrap="square" anchor="t" lIns="0" rIns="0" tIns="0" bIns="0">
            <a:spAutoFit/>
          </a:bodyPr>
          <a:lstStyle/>
          <a:p>
            <a:pPr algn="l"/>
            <a:r>
              <a:rPr sz="6600" b="1" i="0">
                <a:solidFill>
                  <a:srgbClr val="00B7C3"/>
                </a:solidFill>
                <a:latin typeface="Segoe UI"/>
              </a:rPr>
              <a:t>01</a:t>
            </a:r>
          </a:p>
        </p:txBody>
      </p:sp>
      <p:sp>
        <p:nvSpPr>
          <p:cNvPr id="5" name="TextBox 4"/>
          <p:cNvSpPr txBox="1"/>
          <p:nvPr/>
        </p:nvSpPr>
        <p:spPr>
          <a:xfrm>
            <a:off x="868680" y="3200400"/>
            <a:ext cx="9601200" cy="914400"/>
          </a:xfrm>
          <a:prstGeom prst="rect">
            <a:avLst/>
          </a:prstGeom>
          <a:noFill/>
        </p:spPr>
        <p:txBody>
          <a:bodyPr wrap="square" anchor="t" lIns="0" rIns="0" tIns="0" bIns="0">
            <a:spAutoFit/>
          </a:bodyPr>
          <a:lstStyle/>
          <a:p>
            <a:pPr algn="l"/>
            <a:r>
              <a:rPr sz="3800" b="1" i="0">
                <a:solidFill>
                  <a:srgbClr val="FFFFFF"/>
                </a:solidFill>
                <a:latin typeface="Segoe UI"/>
              </a:rPr>
              <a:t>Memory strategies</a:t>
            </a:r>
          </a:p>
        </p:txBody>
      </p:sp>
      <p:sp>
        <p:nvSpPr>
          <p:cNvPr id="6" name="TextBox 5"/>
          <p:cNvSpPr txBox="1"/>
          <p:nvPr/>
        </p:nvSpPr>
        <p:spPr>
          <a:xfrm>
            <a:off x="896112" y="4114800"/>
            <a:ext cx="9601200" cy="731520"/>
          </a:xfrm>
          <a:prstGeom prst="rect">
            <a:avLst/>
          </a:prstGeom>
          <a:noFill/>
        </p:spPr>
        <p:txBody>
          <a:bodyPr wrap="square" anchor="t" lIns="0" rIns="0" tIns="0" bIns="0">
            <a:spAutoFit/>
          </a:bodyPr>
          <a:lstStyle/>
          <a:p>
            <a:pPr algn="l"/>
            <a:r>
              <a:rPr sz="1800" b="0" i="0">
                <a:solidFill>
                  <a:srgbClr val="BFD7F0"/>
                </a:solidFill>
                <a:latin typeface="Segoe UI"/>
              </a:rPr>
              <a:t>Four tiers, and two ways to store the one that matters this session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CONCEPT</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Four tiers of agent memory</a:t>
            </a:r>
          </a:p>
        </p:txBody>
      </p:sp>
      <p:sp>
        <p:nvSpPr>
          <p:cNvPr id="6" name="Rounded Rectangle 5"/>
          <p:cNvSpPr/>
          <p:nvPr/>
        </p:nvSpPr>
        <p:spPr>
          <a:xfrm>
            <a:off x="502920" y="1783080"/>
            <a:ext cx="2343150"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Conversation</a:t>
            </a:r>
          </a:p>
          <a:p>
            <a:pPr algn="ctr"/>
            <a:r>
              <a:rPr sz="1000" b="0" i="0">
                <a:solidFill>
                  <a:srgbClr val="605E5C"/>
                </a:solidFill>
                <a:latin typeface="Segoe UI"/>
              </a:rPr>
              <a:t>(managed thread)</a:t>
            </a:r>
          </a:p>
        </p:txBody>
      </p:sp>
      <p:sp>
        <p:nvSpPr>
          <p:cNvPr id="7" name="Right Arrow 6"/>
          <p:cNvSpPr/>
          <p:nvPr/>
        </p:nvSpPr>
        <p:spPr>
          <a:xfrm>
            <a:off x="2827782"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166110" y="1783080"/>
            <a:ext cx="2343150"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User / customer</a:t>
            </a:r>
          </a:p>
          <a:p>
            <a:pPr algn="ctr"/>
            <a:r>
              <a:rPr sz="1000" b="0" i="0">
                <a:solidFill>
                  <a:srgbClr val="605E5C"/>
                </a:solidFill>
                <a:latin typeface="Segoe UI"/>
              </a:rPr>
              <a:t>(cross-session)</a:t>
            </a:r>
          </a:p>
        </p:txBody>
      </p:sp>
      <p:sp>
        <p:nvSpPr>
          <p:cNvPr id="9" name="Right Arrow 8"/>
          <p:cNvSpPr/>
          <p:nvPr/>
        </p:nvSpPr>
        <p:spPr>
          <a:xfrm>
            <a:off x="5490972"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29300" y="1783080"/>
            <a:ext cx="2343150"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State / plans</a:t>
            </a:r>
          </a:p>
          <a:p>
            <a:pPr algn="ctr"/>
            <a:r>
              <a:rPr sz="1000" b="0" i="0">
                <a:solidFill>
                  <a:srgbClr val="605E5C"/>
                </a:solidFill>
                <a:latin typeface="Segoe UI"/>
              </a:rPr>
              <a:t>(workflow)</a:t>
            </a:r>
          </a:p>
        </p:txBody>
      </p:sp>
      <p:sp>
        <p:nvSpPr>
          <p:cNvPr id="11" name="Right Arrow 10"/>
          <p:cNvSpPr/>
          <p:nvPr/>
        </p:nvSpPr>
        <p:spPr>
          <a:xfrm>
            <a:off x="8154162"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92490" y="1783080"/>
            <a:ext cx="2343150"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Knowledge</a:t>
            </a:r>
          </a:p>
          <a:p>
            <a:pPr algn="ctr"/>
            <a:r>
              <a:rPr sz="1000" b="0" i="0">
                <a:solidFill>
                  <a:srgbClr val="605E5C"/>
                </a:solidFill>
                <a:latin typeface="Segoe UI"/>
              </a:rPr>
              <a:t>(AI Search)</a:t>
            </a:r>
          </a:p>
        </p:txBody>
      </p:sp>
      <p:sp>
        <p:nvSpPr>
          <p:cNvPr id="13" name="TextBox 12"/>
          <p:cNvSpPr txBox="1"/>
          <p:nvPr/>
        </p:nvSpPr>
        <p:spPr>
          <a:xfrm>
            <a:off x="502920" y="2880360"/>
            <a:ext cx="10332720" cy="457200"/>
          </a:xfrm>
          <a:prstGeom prst="rect">
            <a:avLst/>
          </a:prstGeom>
          <a:noFill/>
        </p:spPr>
        <p:txBody>
          <a:bodyPr wrap="square" anchor="t" lIns="0" rIns="0" tIns="0" bIns="0">
            <a:spAutoFit/>
          </a:bodyPr>
          <a:lstStyle/>
          <a:p>
            <a:pPr algn="ctr"/>
            <a:r>
              <a:rPr sz="1300" b="0" i="1">
                <a:solidFill>
                  <a:srgbClr val="605E5C"/>
                </a:solidFill>
                <a:latin typeface="Segoe UI"/>
              </a:rPr>
              <a:t>Different lifetimes · different stores — pick the right tier for each kind of memory</a:t>
            </a:r>
          </a:p>
        </p:txBody>
      </p:sp>
      <p:sp>
        <p:nvSpPr>
          <p:cNvPr id="14" name="TextBox 13"/>
          <p:cNvSpPr txBox="1"/>
          <p:nvPr/>
        </p:nvSpPr>
        <p:spPr>
          <a:xfrm>
            <a:off x="502920" y="3474720"/>
            <a:ext cx="10332720" cy="2286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This session builds the USER / customer tier — cross-session recall scoped to a customer</a:t>
            </a:r>
          </a:p>
          <a:p>
            <a:pPr algn="l">
              <a:spcBef>
                <a:spcPts val="0"/>
              </a:spcBef>
              <a:spcAft>
                <a:spcPts val="300"/>
              </a:spcAft>
            </a:pPr>
            <a:r>
              <a:rPr sz="1500" b="0" i="0">
                <a:solidFill>
                  <a:srgbClr val="201F1E"/>
                </a:solidFill>
                <a:latin typeface="Segoe UI"/>
              </a:rPr>
              <a:t>–  Conversation = per-run thread (Lab 06 already) · Knowledge = shared search (Lab 03) — both reused</a:t>
            </a:r>
          </a:p>
        </p:txBody>
      </p:sp>
      <p:sp>
        <p:nvSpPr>
          <p:cNvPr id="15" name="Rectangle 14"/>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Concept</a:t>
            </a:r>
          </a:p>
        </p:txBody>
      </p:sp>
      <p:sp>
        <p:nvSpPr>
          <p:cNvPr id="17" name="TextBox 16"/>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CONCEPT</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Two ways to hold customer memory</a:t>
            </a:r>
          </a:p>
        </p:txBody>
      </p:sp>
      <p:sp>
        <p:nvSpPr>
          <p:cNvPr id="6" name="TextBox 5"/>
          <p:cNvSpPr txBox="1"/>
          <p:nvPr/>
        </p:nvSpPr>
        <p:spPr>
          <a:xfrm>
            <a:off x="5029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Foundry-managed Memory  (preview)</a:t>
            </a:r>
          </a:p>
          <a:p>
            <a:pPr algn="l">
              <a:spcBef>
                <a:spcPts val="0"/>
              </a:spcBef>
              <a:spcAft>
                <a:spcPts val="300"/>
              </a:spcAft>
            </a:pPr>
            <a:r>
              <a:rPr sz="1500" b="0" i="0">
                <a:solidFill>
                  <a:srgbClr val="201F1E"/>
                </a:solidFill>
                <a:latin typeface="Segoe UI"/>
              </a:rPr>
              <a:t>–  The platform owns extraction, vectorization, and retrieval</a:t>
            </a:r>
          </a:p>
          <a:p>
            <a:pPr algn="l">
              <a:spcBef>
                <a:spcPts val="0"/>
              </a:spcBef>
              <a:spcAft>
                <a:spcPts val="300"/>
              </a:spcAft>
            </a:pPr>
            <a:r>
              <a:rPr sz="1500" b="0" i="0">
                <a:solidFill>
                  <a:srgbClr val="201F1E"/>
                </a:solidFill>
                <a:latin typeface="Segoe UI"/>
              </a:rPr>
              <a:t>–  Cosmos-backed under the hood; attach a memory tool, scope by user</a:t>
            </a:r>
          </a:p>
          <a:p>
            <a:pPr algn="l">
              <a:spcBef>
                <a:spcPts val="0"/>
              </a:spcBef>
              <a:spcAft>
                <a:spcPts val="300"/>
              </a:spcAft>
            </a:pPr>
            <a:r>
              <a:rPr sz="1500" b="0" i="0">
                <a:solidFill>
                  <a:srgbClr val="201F1E"/>
                </a:solidFill>
                <a:latin typeface="Segoe UI"/>
              </a:rPr>
              <a:t>–  Needs an embedding deployment + preview enabled</a:t>
            </a:r>
          </a:p>
          <a:p>
            <a:pPr algn="l">
              <a:spcBef>
                <a:spcPts val="0"/>
              </a:spcBef>
              <a:spcAft>
                <a:spcPts val="500"/>
              </a:spcAft>
            </a:pPr>
            <a:r>
              <a:rPr sz="1800" b="0" i="0">
                <a:solidFill>
                  <a:srgbClr val="201F1E"/>
                </a:solidFill>
                <a:latin typeface="Segoe UI"/>
              </a:rPr>
              <a:t>Least code — most platform dependency</a:t>
            </a:r>
          </a:p>
        </p:txBody>
      </p:sp>
      <p:sp>
        <p:nvSpPr>
          <p:cNvPr id="7" name="TextBox 6"/>
          <p:cNvSpPr txBox="1"/>
          <p:nvPr/>
        </p:nvSpPr>
        <p:spPr>
          <a:xfrm>
            <a:off x="59893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Bring-your-own store  (BYO)</a:t>
            </a:r>
          </a:p>
          <a:p>
            <a:pPr algn="l">
              <a:spcBef>
                <a:spcPts val="0"/>
              </a:spcBef>
              <a:spcAft>
                <a:spcPts val="300"/>
              </a:spcAft>
            </a:pPr>
            <a:r>
              <a:rPr sz="1500" b="0" i="0">
                <a:solidFill>
                  <a:srgbClr val="201F1E"/>
                </a:solidFill>
                <a:latin typeface="Segoe UI"/>
              </a:rPr>
              <a:t>–  You own compaction + the store; the app stays in control</a:t>
            </a:r>
          </a:p>
          <a:p>
            <a:pPr algn="l">
              <a:spcBef>
                <a:spcPts val="0"/>
              </a:spcBef>
              <a:spcAft>
                <a:spcPts val="300"/>
              </a:spcAft>
            </a:pPr>
            <a:r>
              <a:rPr sz="1500" b="0" i="0">
                <a:solidFill>
                  <a:srgbClr val="201F1E"/>
                </a:solidFill>
                <a:latin typeface="Segoe UI"/>
              </a:rPr>
              <a:t>–  Portable, offline, unit-testable — local file or Cosmos, same code</a:t>
            </a:r>
          </a:p>
          <a:p>
            <a:pPr algn="l">
              <a:spcBef>
                <a:spcPts val="0"/>
              </a:spcBef>
              <a:spcAft>
                <a:spcPts val="300"/>
              </a:spcAft>
            </a:pPr>
            <a:r>
              <a:rPr sz="1500" b="0" i="0">
                <a:solidFill>
                  <a:srgbClr val="201F1E"/>
                </a:solidFill>
                <a:latin typeface="Segoe UI"/>
              </a:rPr>
              <a:t>–  Swap the store behind one interface, not a rewrite</a:t>
            </a:r>
          </a:p>
          <a:p>
            <a:pPr algn="l">
              <a:spcBef>
                <a:spcPts val="0"/>
              </a:spcBef>
              <a:spcAft>
                <a:spcPts val="500"/>
              </a:spcAft>
            </a:pPr>
            <a:r>
              <a:rPr sz="1800" b="0" i="0">
                <a:solidFill>
                  <a:srgbClr val="107C10"/>
                </a:solidFill>
                <a:latin typeface="Segoe UI"/>
              </a:rPr>
              <a:t>✓  Teach BOTH — BYO first, managed when you want platform retrieval</a:t>
            </a:r>
          </a:p>
          <a:p>
            <a:pPr algn="l">
              <a:spcBef>
                <a:spcPts val="0"/>
              </a:spcBef>
              <a:spcAft>
                <a:spcPts val="300"/>
              </a:spcAft>
            </a:pPr>
            <a:r>
              <a:rPr sz="1500" b="0" i="0">
                <a:solidFill>
                  <a:srgbClr val="201F1E"/>
                </a:solidFill>
                <a:latin typeface="Segoe UI"/>
              </a:rPr>
              <a:t>–  BYO is also the fallback if managed memory isn't in your resource yet</a:t>
            </a:r>
          </a:p>
        </p:txBody>
      </p:sp>
      <p:sp>
        <p:nvSpPr>
          <p:cNvPr id="8" name="Rectangle 7"/>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Concept</a:t>
            </a:r>
          </a:p>
        </p:txBody>
      </p:sp>
      <p:sp>
        <p:nvSpPr>
          <p:cNvPr id="10" name="TextBox 9"/>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THE DIFF</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What it took to add memory</a:t>
            </a:r>
          </a:p>
        </p:txBody>
      </p:sp>
      <p:sp>
        <p:nvSpPr>
          <p:cNvPr id="6" name="TextBox 5"/>
          <p:cNvSpPr txBox="1"/>
          <p:nvPr/>
        </p:nvSpPr>
        <p:spPr>
          <a:xfrm>
            <a:off x="5029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Two hooks — reused from the Skills seam:</a:t>
            </a:r>
          </a:p>
          <a:p>
            <a:pPr algn="l">
              <a:spcBef>
                <a:spcPts val="0"/>
              </a:spcBef>
              <a:spcAft>
                <a:spcPts val="300"/>
              </a:spcAft>
            </a:pPr>
            <a:r>
              <a:rPr sz="1500" b="0" i="0">
                <a:solidFill>
                  <a:srgbClr val="201F1E"/>
                </a:solidFill>
                <a:latin typeface="Segoe UI"/>
              </a:rPr>
              <a:t>–  Recall → inject a memory preamble into every specialist's instructions</a:t>
            </a:r>
          </a:p>
          <a:p>
            <a:pPr algn="l">
              <a:spcBef>
                <a:spcPts val="0"/>
              </a:spcBef>
              <a:spcAft>
                <a:spcPts val="300"/>
              </a:spcAft>
            </a:pPr>
            <a:r>
              <a:rPr sz="1300" b="0" i="0">
                <a:solidFill>
                  <a:srgbClr val="201F1E"/>
                </a:solidFill>
                <a:latin typeface="Segoe UI"/>
              </a:rPr>
              <a:t>·  the exact injection point Agent→Skills already used</a:t>
            </a:r>
          </a:p>
          <a:p>
            <a:pPr algn="l">
              <a:spcBef>
                <a:spcPts val="0"/>
              </a:spcBef>
              <a:spcAft>
                <a:spcPts val="300"/>
              </a:spcAft>
            </a:pPr>
            <a:r>
              <a:rPr sz="1500" b="0" i="0">
                <a:solidFill>
                  <a:srgbClr val="201F1E"/>
                </a:solidFill>
                <a:latin typeface="Segoe UI"/>
              </a:rPr>
              <a:t>–  Record → compact → save the run's outcome after it finishes</a:t>
            </a:r>
          </a:p>
          <a:p>
            <a:pPr algn="l">
              <a:spcBef>
                <a:spcPts val="400"/>
              </a:spcBef>
              <a:spcAft>
                <a:spcPts val="500"/>
              </a:spcAft>
            </a:pPr>
            <a:r>
              <a:rPr sz="1800" b="1" i="0">
                <a:solidFill>
                  <a:srgbClr val="243A5E"/>
                </a:solidFill>
                <a:latin typeface="Segoe UI"/>
              </a:rPr>
              <a:t>■  A --memory flag mirroring --skills</a:t>
            </a:r>
          </a:p>
          <a:p>
            <a:pPr algn="l">
              <a:spcBef>
                <a:spcPts val="0"/>
              </a:spcBef>
              <a:spcAft>
                <a:spcPts val="300"/>
              </a:spcAft>
            </a:pPr>
            <a:r>
              <a:rPr sz="1500" b="0" i="0">
                <a:solidFill>
                  <a:srgbClr val="201F1E"/>
                </a:solidFill>
                <a:latin typeface="Segoe UI"/>
              </a:rPr>
              <a:t>–  off (default) · local · cosmos · foundry  —  env fallback MEMORY_MODE</a:t>
            </a:r>
          </a:p>
          <a:p>
            <a:pPr algn="l">
              <a:spcBef>
                <a:spcPts val="0"/>
              </a:spcBef>
              <a:spcAft>
                <a:spcPts val="500"/>
              </a:spcAft>
            </a:pPr>
            <a:r>
              <a:rPr sz="1800" b="0" i="0">
                <a:solidFill>
                  <a:srgbClr val="107C10"/>
                </a:solidFill>
                <a:latin typeface="Segoe UI"/>
              </a:rPr>
              <a:t>✓  No agent or workflow rewrites — memory is a host concern</a:t>
            </a:r>
          </a:p>
        </p:txBody>
      </p:sp>
      <p:sp>
        <p:nvSpPr>
          <p:cNvPr id="7" name="TextBox 6"/>
          <p:cNvSpPr txBox="1"/>
          <p:nvPr/>
        </p:nvSpPr>
        <p:spPr>
          <a:xfrm>
            <a:off x="59893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The literal diff</a:t>
            </a:r>
          </a:p>
          <a:p>
            <a:pPr algn="l">
              <a:spcBef>
                <a:spcPts val="0"/>
              </a:spcBef>
              <a:spcAft>
                <a:spcPts val="300"/>
              </a:spcAft>
            </a:pPr>
            <a:r>
              <a:rPr sz="1500" b="0" i="0">
                <a:solidFill>
                  <a:srgbClr val="201F1E"/>
                </a:solidFill>
                <a:latin typeface="Segoe UI"/>
              </a:rPr>
              <a:t>–  New Memory/ folder — 5 files, ~330 lines, zero Azure deps for local</a:t>
            </a:r>
          </a:p>
          <a:p>
            <a:pPr algn="l">
              <a:spcBef>
                <a:spcPts val="0"/>
              </a:spcBef>
              <a:spcAft>
                <a:spcPts val="300"/>
              </a:spcAft>
            </a:pPr>
            <a:r>
              <a:rPr sz="1300" b="0" i="0">
                <a:solidFill>
                  <a:srgbClr val="201F1E"/>
                </a:solidFill>
                <a:latin typeface="Segoe UI"/>
              </a:rPr>
              <a:t>·  MemoryModels · IMemoryStore · LocalFileStore · Compactor · MemoryManager</a:t>
            </a:r>
          </a:p>
          <a:p>
            <a:pPr algn="l">
              <a:spcBef>
                <a:spcPts val="0"/>
              </a:spcBef>
              <a:spcAft>
                <a:spcPts val="300"/>
              </a:spcAft>
            </a:pPr>
            <a:r>
              <a:rPr sz="1500" b="0" i="0">
                <a:solidFill>
                  <a:srgbClr val="201F1E"/>
                </a:solidFill>
                <a:latin typeface="Segoe UI"/>
              </a:rPr>
              <a:t>–  Program.cs — parse --memory; recall before the run; record after; status banner</a:t>
            </a:r>
          </a:p>
          <a:p>
            <a:pPr algn="l">
              <a:spcBef>
                <a:spcPts val="0"/>
              </a:spcBef>
              <a:spcAft>
                <a:spcPts val="300"/>
              </a:spcAft>
            </a:pPr>
            <a:r>
              <a:rPr sz="1500" b="0" i="0">
                <a:solidFill>
                  <a:srgbClr val="201F1E"/>
                </a:solidFill>
                <a:latin typeface="Segoe UI"/>
              </a:rPr>
              <a:t>–  AgentTeam.cs — Build() gains one optional memoryPreamble parameter</a:t>
            </a:r>
          </a:p>
          <a:p>
            <a:pPr algn="l">
              <a:spcBef>
                <a:spcPts val="0"/>
              </a:spcBef>
              <a:spcAft>
                <a:spcPts val="300"/>
              </a:spcAft>
            </a:pPr>
            <a:r>
              <a:rPr sz="1500" b="0" i="0">
                <a:solidFill>
                  <a:srgbClr val="201F1E"/>
                </a:solidFill>
                <a:latin typeface="Segoe UI"/>
              </a:rPr>
              <a:t>–  .gitignore — ignore the runtime .memory/ store</a:t>
            </a:r>
          </a:p>
          <a:p>
            <a:pPr algn="l">
              <a:spcBef>
                <a:spcPts val="0"/>
              </a:spcBef>
              <a:spcAft>
                <a:spcPts val="500"/>
              </a:spcAft>
            </a:pPr>
            <a:r>
              <a:rPr sz="1800" b="0" i="0">
                <a:solidFill>
                  <a:srgbClr val="107C10"/>
                </a:solidFill>
                <a:latin typeface="Segoe UI"/>
              </a:rPr>
              <a:t>✓  3 files touched · +100 lines — that's the whole change</a:t>
            </a:r>
          </a:p>
        </p:txBody>
      </p:sp>
      <p:sp>
        <p:nvSpPr>
          <p:cNvPr id="8" name="Rectangle 7"/>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The diff</a:t>
            </a:r>
          </a:p>
        </p:txBody>
      </p:sp>
      <p:sp>
        <p:nvSpPr>
          <p:cNvPr id="10" name="TextBox 9"/>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HOW · WRITE PATH</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Compaction — keep the facts, not the transcript</a:t>
            </a:r>
          </a:p>
        </p:txBody>
      </p:sp>
      <p:sp>
        <p:nvSpPr>
          <p:cNvPr id="6" name="TextBox 5"/>
          <p:cNvSpPr txBox="1"/>
          <p:nvPr/>
        </p:nvSpPr>
        <p:spPr>
          <a:xfrm>
            <a:off x="5029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We never store the raw transcript — we compact it:</a:t>
            </a:r>
          </a:p>
          <a:p>
            <a:pPr algn="l">
              <a:spcBef>
                <a:spcPts val="0"/>
              </a:spcBef>
              <a:spcAft>
                <a:spcPts val="300"/>
              </a:spcAft>
            </a:pPr>
            <a:r>
              <a:rPr sz="1500" b="0" i="0">
                <a:solidFill>
                  <a:srgbClr val="201F1E"/>
                </a:solidFill>
                <a:latin typeface="Segoe UI"/>
              </a:rPr>
              <a:t>–  { summary, facts, decisions, pending_actions }  +  the last N turns</a:t>
            </a:r>
          </a:p>
          <a:p>
            <a:pPr algn="l">
              <a:spcBef>
                <a:spcPts val="0"/>
              </a:spcBef>
              <a:spcAft>
                <a:spcPts val="300"/>
              </a:spcAft>
            </a:pPr>
            <a:r>
              <a:rPr sz="1500" b="0" i="0">
                <a:solidFill>
                  <a:srgbClr val="201F1E"/>
                </a:solidFill>
                <a:latin typeface="Segoe UI"/>
              </a:rPr>
              <a:t>–  Deterministic, no-LLM: regex-extract amounts, terms, APR → facts</a:t>
            </a:r>
          </a:p>
          <a:p>
            <a:pPr algn="l">
              <a:spcBef>
                <a:spcPts val="0"/>
              </a:spcBef>
              <a:spcAft>
                <a:spcPts val="300"/>
              </a:spcAft>
            </a:pPr>
            <a:r>
              <a:rPr sz="1500" b="0" i="0">
                <a:solidFill>
                  <a:srgbClr val="201F1E"/>
                </a:solidFill>
                <a:latin typeface="Segoe UI"/>
              </a:rPr>
              <a:t>–  Monthly payment / APR → decisions · disputes / escalations → pending</a:t>
            </a:r>
          </a:p>
          <a:p>
            <a:pPr algn="l">
              <a:spcBef>
                <a:spcPts val="0"/>
              </a:spcBef>
              <a:spcAft>
                <a:spcPts val="500"/>
              </a:spcAft>
            </a:pPr>
            <a:r>
              <a:rPr sz="1800" b="0" i="0">
                <a:solidFill>
                  <a:srgbClr val="107C10"/>
                </a:solidFill>
                <a:latin typeface="Segoe UI"/>
              </a:rPr>
              <a:t>✓  Verified: recall surfaced facts $25,000 · 60-month term · auto loan</a:t>
            </a:r>
          </a:p>
        </p:txBody>
      </p:sp>
      <p:sp>
        <p:nvSpPr>
          <p:cNvPr id="7" name="TextBox 6"/>
          <p:cNvSpPr txBox="1"/>
          <p:nvPr/>
        </p:nvSpPr>
        <p:spPr>
          <a:xfrm>
            <a:off x="59893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Why deterministic first</a:t>
            </a:r>
          </a:p>
          <a:p>
            <a:pPr algn="l">
              <a:spcBef>
                <a:spcPts val="0"/>
              </a:spcBef>
              <a:spcAft>
                <a:spcPts val="300"/>
              </a:spcAft>
            </a:pPr>
            <a:r>
              <a:rPr sz="1500" b="0" i="0">
                <a:solidFill>
                  <a:srgbClr val="201F1E"/>
                </a:solidFill>
                <a:latin typeface="Segoe UI"/>
              </a:rPr>
              <a:t>–  Cheap + instant — no extra model call on the hot path</a:t>
            </a:r>
          </a:p>
          <a:p>
            <a:pPr algn="l">
              <a:spcBef>
                <a:spcPts val="0"/>
              </a:spcBef>
              <a:spcAft>
                <a:spcPts val="300"/>
              </a:spcAft>
            </a:pPr>
            <a:r>
              <a:rPr sz="1500" b="0" i="0">
                <a:solidFill>
                  <a:srgbClr val="201F1E"/>
                </a:solidFill>
                <a:latin typeface="Segoe UI"/>
              </a:rPr>
              <a:t>–  Unbreakable in a demo — same input, same record</a:t>
            </a:r>
          </a:p>
          <a:p>
            <a:pPr algn="l">
              <a:spcBef>
                <a:spcPts val="0"/>
              </a:spcBef>
              <a:spcAft>
                <a:spcPts val="300"/>
              </a:spcAft>
            </a:pPr>
            <a:r>
              <a:rPr sz="1500" b="0" i="0">
                <a:solidFill>
                  <a:srgbClr val="201F1E"/>
                </a:solidFill>
                <a:latin typeface="Segoe UI"/>
              </a:rPr>
              <a:t>–  Upgrade to LLM summarization later — agents untouched</a:t>
            </a:r>
          </a:p>
          <a:p>
            <a:pPr algn="l">
              <a:spcBef>
                <a:spcPts val="0"/>
              </a:spcBef>
              <a:spcAft>
                <a:spcPts val="500"/>
              </a:spcAft>
            </a:pPr>
            <a:r>
              <a:rPr sz="1800" b="0" i="0">
                <a:solidFill>
                  <a:srgbClr val="107C10"/>
                </a:solidFill>
                <a:latin typeface="Segoe UI"/>
              </a:rPr>
              <a:t>✓  The shape matches the tiered model</a:t>
            </a:r>
          </a:p>
          <a:p>
            <a:pPr algn="l">
              <a:spcBef>
                <a:spcPts val="0"/>
              </a:spcBef>
              <a:spcAft>
                <a:spcPts val="300"/>
              </a:spcAft>
            </a:pPr>
            <a:r>
              <a:rPr sz="1500" b="0" i="0">
                <a:solidFill>
                  <a:srgbClr val="201F1E"/>
                </a:solidFill>
                <a:latin typeface="Segoe UI"/>
              </a:rPr>
              <a:t>–  summary / facts / decisions / pending — not a chat log</a:t>
            </a:r>
          </a:p>
        </p:txBody>
      </p:sp>
      <p:sp>
        <p:nvSpPr>
          <p:cNvPr id="8" name="Rectangle 7"/>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How · write path</a:t>
            </a:r>
          </a:p>
        </p:txBody>
      </p:sp>
      <p:sp>
        <p:nvSpPr>
          <p:cNvPr id="10" name="TextBox 9"/>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HOW · READ PATH</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Recall — inject what we know, before the run</a:t>
            </a:r>
          </a:p>
        </p:txBody>
      </p:sp>
      <p:sp>
        <p:nvSpPr>
          <p:cNvPr id="6" name="TextBox 5"/>
          <p:cNvSpPr txBox="1"/>
          <p:nvPr/>
        </p:nvSpPr>
        <p:spPr>
          <a:xfrm>
            <a:off x="5029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Before the team runs, we recall + inject:</a:t>
            </a:r>
          </a:p>
          <a:p>
            <a:pPr algn="l">
              <a:spcBef>
                <a:spcPts val="0"/>
              </a:spcBef>
              <a:spcAft>
                <a:spcPts val="300"/>
              </a:spcAft>
            </a:pPr>
            <a:r>
              <a:rPr sz="1500" b="0" i="0">
                <a:solidFill>
                  <a:srgbClr val="201F1E"/>
                </a:solidFill>
                <a:latin typeface="Segoe UI"/>
              </a:rPr>
              <a:t>–  Load the customer's memory record from the store</a:t>
            </a:r>
          </a:p>
          <a:p>
            <a:pPr algn="l">
              <a:spcBef>
                <a:spcPts val="0"/>
              </a:spcBef>
              <a:spcAft>
                <a:spcPts val="300"/>
              </a:spcAft>
            </a:pPr>
            <a:r>
              <a:rPr sz="1500" b="0" i="0">
                <a:solidFill>
                  <a:srgbClr val="201F1E"/>
                </a:solidFill>
                <a:latin typeface="Segoe UI"/>
              </a:rPr>
              <a:t>–  Build a short preamble from summary + facts + decisions + pending</a:t>
            </a:r>
          </a:p>
          <a:p>
            <a:pPr algn="l">
              <a:spcBef>
                <a:spcPts val="0"/>
              </a:spcBef>
              <a:spcAft>
                <a:spcPts val="300"/>
              </a:spcAft>
            </a:pPr>
            <a:r>
              <a:rPr sz="1500" b="0" i="0">
                <a:solidFill>
                  <a:srgbClr val="201F1E"/>
                </a:solidFill>
                <a:latin typeface="Segoe UI"/>
              </a:rPr>
              <a:t>–  Inject it into every specialist's instructions — the Skills seam</a:t>
            </a:r>
          </a:p>
          <a:p>
            <a:pPr algn="l">
              <a:spcBef>
                <a:spcPts val="0"/>
              </a:spcBef>
              <a:spcAft>
                <a:spcPts val="500"/>
              </a:spcAft>
            </a:pPr>
            <a:r>
              <a:rPr sz="1800" b="0" i="0">
                <a:solidFill>
                  <a:srgbClr val="107C10"/>
                </a:solidFill>
                <a:latin typeface="Segoe UI"/>
              </a:rPr>
              <a:t>✓  The team starts already knowing the customer</a:t>
            </a:r>
          </a:p>
        </p:txBody>
      </p:sp>
      <p:sp>
        <p:nvSpPr>
          <p:cNvPr id="7" name="TextBox 6"/>
          <p:cNvSpPr txBox="1"/>
          <p:nvPr/>
        </p:nvSpPr>
        <p:spPr>
          <a:xfrm>
            <a:off x="59893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Scope — two different keys</a:t>
            </a:r>
          </a:p>
          <a:p>
            <a:pPr algn="l">
              <a:spcBef>
                <a:spcPts val="0"/>
              </a:spcBef>
              <a:spcAft>
                <a:spcPts val="300"/>
              </a:spcAft>
            </a:pPr>
            <a:r>
              <a:rPr sz="1500" b="0" i="0">
                <a:solidFill>
                  <a:srgbClr val="201F1E"/>
                </a:solidFill>
                <a:latin typeface="Segoe UI"/>
              </a:rPr>
              <a:t>–  customerId = WHOSE memory (persists across sessions)</a:t>
            </a:r>
          </a:p>
          <a:p>
            <a:pPr algn="l">
              <a:spcBef>
                <a:spcPts val="0"/>
              </a:spcBef>
              <a:spcAft>
                <a:spcPts val="300"/>
              </a:spcAft>
            </a:pPr>
            <a:r>
              <a:rPr sz="1500" b="0" i="0">
                <a:solidFill>
                  <a:srgbClr val="201F1E"/>
                </a:solidFill>
                <a:latin typeface="Segoe UI"/>
              </a:rPr>
              <a:t>–  threadId = WHICH conversation (one run, then gone)</a:t>
            </a:r>
          </a:p>
          <a:p>
            <a:pPr algn="l">
              <a:spcBef>
                <a:spcPts val="0"/>
              </a:spcBef>
              <a:spcAft>
                <a:spcPts val="300"/>
              </a:spcAft>
            </a:pPr>
            <a:r>
              <a:rPr sz="1500" b="0" i="0">
                <a:solidFill>
                  <a:srgbClr val="201F1E"/>
                </a:solidFill>
                <a:latin typeface="Segoe UI"/>
              </a:rPr>
              <a:t>–  Keep them separate — one customer, many threads</a:t>
            </a:r>
          </a:p>
          <a:p>
            <a:pPr algn="l">
              <a:spcBef>
                <a:spcPts val="0"/>
              </a:spcBef>
              <a:spcAft>
                <a:spcPts val="500"/>
              </a:spcAft>
            </a:pPr>
            <a:r>
              <a:rPr sz="1800" b="0" i="0">
                <a:solidFill>
                  <a:srgbClr val="107C10"/>
                </a:solidFill>
                <a:latin typeface="Segoe UI"/>
              </a:rPr>
              <a:t>✓  You can see it at startup</a:t>
            </a:r>
          </a:p>
          <a:p>
            <a:pPr algn="l">
              <a:spcBef>
                <a:spcPts val="0"/>
              </a:spcBef>
              <a:spcAft>
                <a:spcPts val="300"/>
              </a:spcAft>
            </a:pPr>
            <a:r>
              <a:rPr sz="1500" b="0" i="0">
                <a:solidFill>
                  <a:srgbClr val="201F1E"/>
                </a:solidFill>
                <a:latin typeface="Segoe UI"/>
              </a:rPr>
              <a:t>–  Banner prints recalled session count + the recalled facts</a:t>
            </a:r>
          </a:p>
        </p:txBody>
      </p:sp>
      <p:sp>
        <p:nvSpPr>
          <p:cNvPr id="8" name="Rectangle 7"/>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How · read path</a:t>
            </a:r>
          </a:p>
        </p:txBody>
      </p:sp>
      <p:sp>
        <p:nvSpPr>
          <p:cNvPr id="10" name="TextBox 9"/>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HOW · THE CODE</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The BYO seam — one interface, swap the store</a:t>
            </a:r>
          </a:p>
        </p:txBody>
      </p:sp>
      <p:sp>
        <p:nvSpPr>
          <p:cNvPr id="6" name="Rounded Rectangle 5"/>
          <p:cNvSpPr/>
          <p:nvPr/>
        </p:nvSpPr>
        <p:spPr>
          <a:xfrm>
            <a:off x="502920" y="1298448"/>
            <a:ext cx="10332720" cy="4709160"/>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389888"/>
            <a:ext cx="9875520" cy="274320"/>
          </a:xfrm>
          <a:prstGeom prst="rect">
            <a:avLst/>
          </a:prstGeom>
          <a:noFill/>
        </p:spPr>
        <p:txBody>
          <a:bodyPr wrap="square" anchor="t" lIns="0" rIns="0" tIns="0" bIns="0">
            <a:spAutoFit/>
          </a:bodyPr>
          <a:lstStyle/>
          <a:p>
            <a:pPr algn="l"/>
            <a:r>
              <a:rPr sz="1200" b="1" i="0">
                <a:solidFill>
                  <a:srgbClr val="00B7C3"/>
                </a:solidFill>
                <a:latin typeface="Segoe UI"/>
              </a:rPr>
              <a:t>●  Memory/IMemoryStore.cs  +  MemoryManager.cs</a:t>
            </a:r>
          </a:p>
        </p:txBody>
      </p:sp>
      <p:sp>
        <p:nvSpPr>
          <p:cNvPr id="8" name="TextBox 7"/>
          <p:cNvSpPr txBox="1"/>
          <p:nvPr/>
        </p:nvSpPr>
        <p:spPr>
          <a:xfrm>
            <a:off x="758952" y="1737360"/>
            <a:ext cx="9875520" cy="4142232"/>
          </a:xfrm>
          <a:prstGeom prst="rect">
            <a:avLst/>
          </a:prstGeom>
          <a:noFill/>
        </p:spPr>
        <p:txBody>
          <a:bodyPr wrap="square" anchor="t" lIns="0" rIns="0" tIns="0" bIns="0">
            <a:spAutoFit/>
          </a:bodyPr>
          <a:lstStyle/>
          <a:p>
            <a:pPr algn="l">
              <a:lnSpc>
                <a:spcPts val="1450"/>
              </a:lnSpc>
              <a:spcAft>
                <a:spcPts val="0"/>
              </a:spcAft>
            </a:pPr>
            <a:r>
              <a:rPr sz="1200" b="0" i="0">
                <a:solidFill>
                  <a:srgbClr val="6A9955"/>
                </a:solidFill>
                <a:latin typeface="Consolas"/>
              </a:rPr>
              <a:t>// local + cosmos BOTH implement this one contract.</a:t>
            </a:r>
          </a:p>
          <a:p>
            <a:pPr algn="l">
              <a:lnSpc>
                <a:spcPts val="1450"/>
              </a:lnSpc>
              <a:spcAft>
                <a:spcPts val="0"/>
              </a:spcAft>
            </a:pPr>
            <a:r>
              <a:rPr sz="1200" b="0" i="0">
                <a:solidFill>
                  <a:srgbClr val="DCDCDC"/>
                </a:solidFill>
                <a:latin typeface="Consolas"/>
              </a:rPr>
              <a:t>public interface IMemoryStore</a:t>
            </a:r>
          </a:p>
          <a:p>
            <a:pPr algn="l">
              <a:lnSpc>
                <a:spcPts val="1450"/>
              </a:lnSpc>
              <a:spcAft>
                <a:spcPts val="0"/>
              </a:spcAft>
            </a:pPr>
            <a:r>
              <a:rPr sz="1200" b="0" i="0">
                <a:solidFill>
                  <a:srgbClr val="DCDCDC"/>
                </a:solidFill>
                <a:latin typeface="Consolas"/>
              </a:rPr>
              <a:t>{</a:t>
            </a:r>
          </a:p>
          <a:p>
            <a:pPr algn="l">
              <a:lnSpc>
                <a:spcPts val="1450"/>
              </a:lnSpc>
              <a:spcAft>
                <a:spcPts val="0"/>
              </a:spcAft>
            </a:pPr>
            <a:r>
              <a:rPr sz="1200" b="0" i="0">
                <a:solidFill>
                  <a:srgbClr val="DCDCDC"/>
                </a:solidFill>
                <a:latin typeface="Consolas"/>
              </a:rPr>
              <a:t>    Task&lt;MemoryRecord?&gt; LoadAsync(string userId, ...);</a:t>
            </a:r>
          </a:p>
          <a:p>
            <a:pPr algn="l">
              <a:lnSpc>
                <a:spcPts val="1450"/>
              </a:lnSpc>
              <a:spcAft>
                <a:spcPts val="0"/>
              </a:spcAft>
            </a:pPr>
            <a:r>
              <a:rPr sz="1200" b="0" i="0">
                <a:solidFill>
                  <a:srgbClr val="DCDCDC"/>
                </a:solidFill>
                <a:latin typeface="Consolas"/>
              </a:rPr>
              <a:t>    Task SaveAsync(MemoryRecord record, ...);</a:t>
            </a:r>
          </a:p>
          <a:p>
            <a:pPr algn="l">
              <a:lnSpc>
                <a:spcPts val="1450"/>
              </a:lnSpc>
              <a:spcAft>
                <a:spcPts val="0"/>
              </a:spcAft>
            </a:pPr>
            <a:r>
              <a:rPr sz="1200" b="1" i="0">
                <a:solidFill>
                  <a:srgbClr val="9CDCFE"/>
                </a:solidFill>
                <a:latin typeface="Consolas"/>
              </a:rPr>
              <a:t>    string Describe();   // feeds the honest startup banner</a:t>
            </a:r>
          </a:p>
          <a:p>
            <a:pPr algn="l">
              <a:lnSpc>
                <a:spcPts val="1450"/>
              </a:lnSpc>
              <a:spcAft>
                <a:spcPts val="0"/>
              </a:spcAft>
            </a:pPr>
            <a:r>
              <a:rPr sz="1200" b="0" i="0">
                <a:solidFill>
                  <a:srgbClr val="DCDCDC"/>
                </a:solidFill>
                <a:latin typeface="Consolas"/>
              </a:rPr>
              <a:t>}</a:t>
            </a:r>
          </a:p>
          <a:p>
            <a:pPr algn="l">
              <a:lnSpc>
                <a:spcPts val="1450"/>
              </a:lnSpc>
              <a:spcAft>
                <a:spcPts val="0"/>
              </a:spcAft>
            </a:pPr>
            <a:r>
              <a:rPr sz="600" b="0" i="0">
                <a:solidFill>
                  <a:srgbClr val="DCDCDC"/>
                </a:solidFill>
                <a:latin typeface="Consolas"/>
              </a:rPr>
              <a:t> </a:t>
            </a:r>
          </a:p>
          <a:p>
            <a:pPr algn="l">
              <a:lnSpc>
                <a:spcPts val="1450"/>
              </a:lnSpc>
              <a:spcAft>
                <a:spcPts val="0"/>
              </a:spcAft>
            </a:pPr>
            <a:r>
              <a:rPr sz="1200" b="0" i="0">
                <a:solidFill>
                  <a:srgbClr val="6A9955"/>
                </a:solidFill>
                <a:latin typeface="Consolas"/>
              </a:rPr>
              <a:t>// The store swap: same interface, different backend.</a:t>
            </a:r>
          </a:p>
          <a:p>
            <a:pPr algn="l">
              <a:lnSpc>
                <a:spcPts val="1450"/>
              </a:lnSpc>
              <a:spcAft>
                <a:spcPts val="0"/>
              </a:spcAft>
            </a:pPr>
            <a:r>
              <a:rPr sz="1200" b="0" i="0">
                <a:solidFill>
                  <a:srgbClr val="DCDCDC"/>
                </a:solidFill>
                <a:latin typeface="Consolas"/>
              </a:rPr>
              <a:t>public static IMemoryStore CreateStore(string mode)</a:t>
            </a:r>
          </a:p>
          <a:p>
            <a:pPr algn="l">
              <a:lnSpc>
                <a:spcPts val="1450"/>
              </a:lnSpc>
              <a:spcAft>
                <a:spcPts val="0"/>
              </a:spcAft>
            </a:pPr>
            <a:r>
              <a:rPr sz="1200" b="0" i="0">
                <a:solidFill>
                  <a:srgbClr val="DCDCDC"/>
                </a:solidFill>
                <a:latin typeface="Consolas"/>
              </a:rPr>
              <a:t>{</a:t>
            </a:r>
          </a:p>
          <a:p>
            <a:pPr algn="l">
              <a:lnSpc>
                <a:spcPts val="1450"/>
              </a:lnSpc>
              <a:spcAft>
                <a:spcPts val="0"/>
              </a:spcAft>
            </a:pPr>
            <a:r>
              <a:rPr sz="1200" b="0" i="0">
                <a:solidFill>
                  <a:srgbClr val="DCDCDC"/>
                </a:solidFill>
                <a:latin typeface="Consolas"/>
              </a:rPr>
              <a:t>    if (mode == "cosmos")</a:t>
            </a:r>
          </a:p>
          <a:p>
            <a:pPr algn="l">
              <a:lnSpc>
                <a:spcPts val="1450"/>
              </a:lnSpc>
              <a:spcAft>
                <a:spcPts val="0"/>
              </a:spcAft>
            </a:pPr>
            <a:r>
              <a:rPr sz="1200" b="0" i="0">
                <a:solidFill>
                  <a:srgbClr val="DCDCDC"/>
                </a:solidFill>
                <a:latin typeface="Consolas"/>
              </a:rPr>
              <a:t>    {</a:t>
            </a:r>
          </a:p>
          <a:p>
            <a:pPr algn="l">
              <a:lnSpc>
                <a:spcPts val="1450"/>
              </a:lnSpc>
              <a:spcAft>
                <a:spcPts val="0"/>
              </a:spcAft>
            </a:pPr>
            <a:r>
              <a:rPr sz="1200" b="0" i="0">
                <a:solidFill>
                  <a:srgbClr val="DCDCDC"/>
                </a:solidFill>
                <a:latin typeface="Consolas"/>
              </a:rPr>
              <a:t>        var store = CosmosStore.FromEnvironment(out var why);</a:t>
            </a:r>
          </a:p>
          <a:p>
            <a:pPr algn="l">
              <a:lnSpc>
                <a:spcPts val="1450"/>
              </a:lnSpc>
              <a:spcAft>
                <a:spcPts val="0"/>
              </a:spcAft>
            </a:pPr>
            <a:r>
              <a:rPr sz="1200" b="1" i="0">
                <a:solidFill>
                  <a:srgbClr val="9CDCFE"/>
                </a:solidFill>
                <a:latin typeface="Consolas"/>
              </a:rPr>
              <a:t>        if (store is not null) return store;  // keyless RBAC</a:t>
            </a:r>
          </a:p>
          <a:p>
            <a:pPr algn="l">
              <a:lnSpc>
                <a:spcPts val="1450"/>
              </a:lnSpc>
              <a:spcAft>
                <a:spcPts val="0"/>
              </a:spcAft>
            </a:pPr>
            <a:r>
              <a:rPr sz="1200" b="0" i="0">
                <a:solidFill>
                  <a:srgbClr val="DCDCDC"/>
                </a:solidFill>
                <a:latin typeface="Consolas"/>
              </a:rPr>
              <a:t>        Console.WriteLine($"cosmos off ({why}) -&gt; local");</a:t>
            </a:r>
          </a:p>
          <a:p>
            <a:pPr algn="l">
              <a:lnSpc>
                <a:spcPts val="1450"/>
              </a:lnSpc>
              <a:spcAft>
                <a:spcPts val="0"/>
              </a:spcAft>
            </a:pPr>
            <a:r>
              <a:rPr sz="1200" b="0" i="0">
                <a:solidFill>
                  <a:srgbClr val="DCDCDC"/>
                </a:solidFill>
                <a:latin typeface="Consolas"/>
              </a:rPr>
              <a:t>    }</a:t>
            </a:r>
          </a:p>
          <a:p>
            <a:pPr algn="l">
              <a:lnSpc>
                <a:spcPts val="1450"/>
              </a:lnSpc>
              <a:spcAft>
                <a:spcPts val="0"/>
              </a:spcAft>
            </a:pPr>
            <a:r>
              <a:rPr sz="1200" b="1" i="0">
                <a:solidFill>
                  <a:srgbClr val="9CDCFE"/>
                </a:solidFill>
                <a:latin typeface="Consolas"/>
              </a:rPr>
              <a:t>    return new LocalFileStore();   // JSON on disk, no Azure</a:t>
            </a:r>
          </a:p>
          <a:p>
            <a:pPr algn="l">
              <a:lnSpc>
                <a:spcPts val="1450"/>
              </a:lnSpc>
              <a:spcAft>
                <a:spcPts val="0"/>
              </a:spcAft>
            </a:pPr>
            <a:r>
              <a:rPr sz="1200" b="0" i="0">
                <a:solidFill>
                  <a:srgbClr val="DCDCDC"/>
                </a:solidFill>
                <a:latin typeface="Consolas"/>
              </a:rPr>
              <a:t>}</a:t>
            </a:r>
          </a:p>
        </p:txBody>
      </p:sp>
      <p:sp>
        <p:nvSpPr>
          <p:cNvPr id="9" name="TextBox 8"/>
          <p:cNvSpPr txBox="1"/>
          <p:nvPr/>
        </p:nvSpPr>
        <p:spPr>
          <a:xfrm>
            <a:off x="502920" y="6089904"/>
            <a:ext cx="10332720" cy="274320"/>
          </a:xfrm>
          <a:prstGeom prst="rect">
            <a:avLst/>
          </a:prstGeom>
          <a:noFill/>
        </p:spPr>
        <p:txBody>
          <a:bodyPr wrap="square" anchor="t" lIns="0" rIns="0" tIns="0" bIns="0">
            <a:spAutoFit/>
          </a:bodyPr>
          <a:lstStyle/>
          <a:p>
            <a:pPr algn="l"/>
            <a:r>
              <a:rPr sz="1200" b="0" i="1">
                <a:solidFill>
                  <a:srgbClr val="605E5C"/>
                </a:solidFill>
                <a:latin typeface="Segoe UI"/>
              </a:rPr>
              <a:t>local ↔ cosmos is a store swap behind one interface — agents and workflow never change</a:t>
            </a:r>
          </a:p>
        </p:txBody>
      </p:sp>
      <p:sp>
        <p:nvSpPr>
          <p:cNvPr id="10" name="Rectangle 9"/>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How · the code</a:t>
            </a:r>
          </a:p>
        </p:txBody>
      </p:sp>
      <p:sp>
        <p:nvSpPr>
          <p:cNvPr id="12" name="TextBox 11"/>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HOW · THE CODE</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The two hooks — recall before, record after</a:t>
            </a:r>
          </a:p>
        </p:txBody>
      </p:sp>
      <p:sp>
        <p:nvSpPr>
          <p:cNvPr id="6" name="Rounded Rectangle 5"/>
          <p:cNvSpPr/>
          <p:nvPr/>
        </p:nvSpPr>
        <p:spPr>
          <a:xfrm>
            <a:off x="502920" y="1298448"/>
            <a:ext cx="10332720" cy="4709160"/>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389888"/>
            <a:ext cx="9875520" cy="274320"/>
          </a:xfrm>
          <a:prstGeom prst="rect">
            <a:avLst/>
          </a:prstGeom>
          <a:noFill/>
        </p:spPr>
        <p:txBody>
          <a:bodyPr wrap="square" anchor="t" lIns="0" rIns="0" tIns="0" bIns="0">
            <a:spAutoFit/>
          </a:bodyPr>
          <a:lstStyle/>
          <a:p>
            <a:pPr algn="l"/>
            <a:r>
              <a:rPr sz="1200" b="1" i="0">
                <a:solidFill>
                  <a:srgbClr val="00B7C3"/>
                </a:solidFill>
                <a:latin typeface="Segoe UI"/>
              </a:rPr>
              <a:t>●  MemoryManager.cs  +  Program.cs</a:t>
            </a:r>
          </a:p>
        </p:txBody>
      </p:sp>
      <p:sp>
        <p:nvSpPr>
          <p:cNvPr id="8" name="TextBox 7"/>
          <p:cNvSpPr txBox="1"/>
          <p:nvPr/>
        </p:nvSpPr>
        <p:spPr>
          <a:xfrm>
            <a:off x="758952" y="1737360"/>
            <a:ext cx="9875520" cy="4142232"/>
          </a:xfrm>
          <a:prstGeom prst="rect">
            <a:avLst/>
          </a:prstGeom>
          <a:noFill/>
        </p:spPr>
        <p:txBody>
          <a:bodyPr wrap="square" anchor="t" lIns="0" rIns="0" tIns="0" bIns="0">
            <a:spAutoFit/>
          </a:bodyPr>
          <a:lstStyle/>
          <a:p>
            <a:pPr algn="l">
              <a:lnSpc>
                <a:spcPts val="1450"/>
              </a:lnSpc>
              <a:spcAft>
                <a:spcPts val="0"/>
              </a:spcAft>
            </a:pPr>
            <a:r>
              <a:rPr sz="1200" b="0" i="0">
                <a:solidFill>
                  <a:srgbClr val="6A9955"/>
                </a:solidFill>
                <a:latin typeface="Consolas"/>
              </a:rPr>
              <a:t>// BEFORE the run: load memory, build a preamble to inject.</a:t>
            </a:r>
          </a:p>
          <a:p>
            <a:pPr algn="l">
              <a:lnSpc>
                <a:spcPts val="1450"/>
              </a:lnSpc>
              <a:spcAft>
                <a:spcPts val="0"/>
              </a:spcAft>
            </a:pPr>
            <a:r>
              <a:rPr sz="1200" b="0" i="0">
                <a:solidFill>
                  <a:srgbClr val="DCDCDC"/>
                </a:solidFill>
                <a:latin typeface="Consolas"/>
              </a:rPr>
              <a:t>public async Task&lt;Recall&gt; RecallAsync(string userId, ...)</a:t>
            </a:r>
          </a:p>
          <a:p>
            <a:pPr algn="l">
              <a:lnSpc>
                <a:spcPts val="1450"/>
              </a:lnSpc>
              <a:spcAft>
                <a:spcPts val="0"/>
              </a:spcAft>
            </a:pPr>
            <a:r>
              <a:rPr sz="1200" b="0" i="0">
                <a:solidFill>
                  <a:srgbClr val="DCDCDC"/>
                </a:solidFill>
                <a:latin typeface="Consolas"/>
              </a:rPr>
              <a:t>{</a:t>
            </a:r>
          </a:p>
          <a:p>
            <a:pPr algn="l">
              <a:lnSpc>
                <a:spcPts val="1450"/>
              </a:lnSpc>
              <a:spcAft>
                <a:spcPts val="0"/>
              </a:spcAft>
            </a:pPr>
            <a:r>
              <a:rPr sz="1200" b="0" i="0">
                <a:solidFill>
                  <a:srgbClr val="DCDCDC"/>
                </a:solidFill>
                <a:latin typeface="Consolas"/>
              </a:rPr>
              <a:t>    var record = await _store.LoadAsync(userId, ...);</a:t>
            </a:r>
          </a:p>
          <a:p>
            <a:pPr algn="l">
              <a:lnSpc>
                <a:spcPts val="1450"/>
              </a:lnSpc>
              <a:spcAft>
                <a:spcPts val="0"/>
              </a:spcAft>
            </a:pPr>
            <a:r>
              <a:rPr sz="1200" b="0" i="0">
                <a:solidFill>
                  <a:srgbClr val="DCDCDC"/>
                </a:solidFill>
                <a:latin typeface="Consolas"/>
              </a:rPr>
              <a:t>    return record is null || record.IsEmpty</a:t>
            </a:r>
          </a:p>
          <a:p>
            <a:pPr algn="l">
              <a:lnSpc>
                <a:spcPts val="1450"/>
              </a:lnSpc>
              <a:spcAft>
                <a:spcPts val="0"/>
              </a:spcAft>
            </a:pPr>
            <a:r>
              <a:rPr sz="1200" b="0" i="0">
                <a:solidFill>
                  <a:srgbClr val="DCDCDC"/>
                </a:solidFill>
                <a:latin typeface="Consolas"/>
              </a:rPr>
              <a:t>        ? new Recall("", null)</a:t>
            </a:r>
          </a:p>
          <a:p>
            <a:pPr algn="l">
              <a:lnSpc>
                <a:spcPts val="1450"/>
              </a:lnSpc>
              <a:spcAft>
                <a:spcPts val="0"/>
              </a:spcAft>
            </a:pPr>
            <a:r>
              <a:rPr sz="1200" b="1" i="0">
                <a:solidFill>
                  <a:srgbClr val="9CDCFE"/>
                </a:solidFill>
                <a:latin typeface="Consolas"/>
              </a:rPr>
              <a:t>        : new Recall(BuildPreamble(record), record);  // inject</a:t>
            </a:r>
          </a:p>
          <a:p>
            <a:pPr algn="l">
              <a:lnSpc>
                <a:spcPts val="1450"/>
              </a:lnSpc>
              <a:spcAft>
                <a:spcPts val="0"/>
              </a:spcAft>
            </a:pPr>
            <a:r>
              <a:rPr sz="1200" b="0" i="0">
                <a:solidFill>
                  <a:srgbClr val="DCDCDC"/>
                </a:solidFill>
                <a:latin typeface="Consolas"/>
              </a:rPr>
              <a:t>}</a:t>
            </a:r>
          </a:p>
          <a:p>
            <a:pPr algn="l">
              <a:lnSpc>
                <a:spcPts val="1450"/>
              </a:lnSpc>
              <a:spcAft>
                <a:spcPts val="0"/>
              </a:spcAft>
            </a:pPr>
            <a:r>
              <a:rPr sz="600" b="0" i="0">
                <a:solidFill>
                  <a:srgbClr val="DCDCDC"/>
                </a:solidFill>
                <a:latin typeface="Consolas"/>
              </a:rPr>
              <a:t> </a:t>
            </a:r>
          </a:p>
          <a:p>
            <a:pPr algn="l">
              <a:lnSpc>
                <a:spcPts val="1450"/>
              </a:lnSpc>
              <a:spcAft>
                <a:spcPts val="0"/>
              </a:spcAft>
            </a:pPr>
            <a:r>
              <a:rPr sz="1200" b="0" i="0">
                <a:solidFill>
                  <a:srgbClr val="6A9955"/>
                </a:solidFill>
                <a:latin typeface="Consolas"/>
              </a:rPr>
              <a:t>// Program.cs -- the SAME seam Agent-&gt;Skills already used:</a:t>
            </a:r>
          </a:p>
          <a:p>
            <a:pPr algn="l">
              <a:lnSpc>
                <a:spcPts val="1450"/>
              </a:lnSpc>
              <a:spcAft>
                <a:spcPts val="0"/>
              </a:spcAft>
            </a:pPr>
            <a:r>
              <a:rPr sz="1200" b="0" i="0">
                <a:solidFill>
                  <a:srgbClr val="DCDCDC"/>
                </a:solidFill>
                <a:latin typeface="Consolas"/>
              </a:rPr>
              <a:t>Recall? recall = memory is null ? null</a:t>
            </a:r>
          </a:p>
          <a:p>
            <a:pPr algn="l">
              <a:lnSpc>
                <a:spcPts val="1450"/>
              </a:lnSpc>
              <a:spcAft>
                <a:spcPts val="0"/>
              </a:spcAft>
            </a:pPr>
            <a:r>
              <a:rPr sz="1200" b="0" i="0">
                <a:solidFill>
                  <a:srgbClr val="DCDCDC"/>
                </a:solidFill>
                <a:latin typeface="Consolas"/>
              </a:rPr>
              <a:t>    : await memory.RecallAsync(customerId);</a:t>
            </a:r>
          </a:p>
          <a:p>
            <a:pPr algn="l">
              <a:lnSpc>
                <a:spcPts val="1450"/>
              </a:lnSpc>
              <a:spcAft>
                <a:spcPts val="0"/>
              </a:spcAft>
            </a:pPr>
            <a:r>
              <a:rPr sz="1200" b="0" i="0">
                <a:solidFill>
                  <a:srgbClr val="DCDCDC"/>
                </a:solidFill>
                <a:latin typeface="Consolas"/>
              </a:rPr>
              <a:t>var team = AgentTeam.Build(client, model, customerId, skills,</a:t>
            </a:r>
          </a:p>
          <a:p>
            <a:pPr algn="l">
              <a:lnSpc>
                <a:spcPts val="1450"/>
              </a:lnSpc>
              <a:spcAft>
                <a:spcPts val="0"/>
              </a:spcAft>
            </a:pPr>
            <a:r>
              <a:rPr sz="1200" b="1" i="0">
                <a:solidFill>
                  <a:srgbClr val="9CDCFE"/>
                </a:solidFill>
                <a:latin typeface="Consolas"/>
              </a:rPr>
              <a:t>    recall is { HasMemory: true } ? recall.Preamble : null);</a:t>
            </a:r>
          </a:p>
          <a:p>
            <a:pPr algn="l">
              <a:lnSpc>
                <a:spcPts val="1450"/>
              </a:lnSpc>
              <a:spcAft>
                <a:spcPts val="0"/>
              </a:spcAft>
            </a:pPr>
            <a:r>
              <a:rPr sz="600" b="0" i="0">
                <a:solidFill>
                  <a:srgbClr val="DCDCDC"/>
                </a:solidFill>
                <a:latin typeface="Consolas"/>
              </a:rPr>
              <a:t> </a:t>
            </a:r>
          </a:p>
          <a:p>
            <a:pPr algn="l">
              <a:lnSpc>
                <a:spcPts val="1450"/>
              </a:lnSpc>
              <a:spcAft>
                <a:spcPts val="0"/>
              </a:spcAft>
            </a:pPr>
            <a:r>
              <a:rPr sz="1200" b="0" i="0">
                <a:solidFill>
                  <a:srgbClr val="6A9955"/>
                </a:solidFill>
                <a:latin typeface="Consolas"/>
              </a:rPr>
              <a:t>// AFTER the run: compact + persist.</a:t>
            </a:r>
          </a:p>
          <a:p>
            <a:pPr algn="l">
              <a:lnSpc>
                <a:spcPts val="1450"/>
              </a:lnSpc>
              <a:spcAft>
                <a:spcPts val="0"/>
              </a:spcAft>
            </a:pPr>
            <a:r>
              <a:rPr sz="1200" b="1" i="0">
                <a:solidFill>
                  <a:srgbClr val="9CDCFE"/>
                </a:solidFill>
                <a:latin typeface="Consolas"/>
              </a:rPr>
              <a:t>await memory.RecordAsync(customerId, threadId, turns);</a:t>
            </a:r>
          </a:p>
        </p:txBody>
      </p:sp>
      <p:sp>
        <p:nvSpPr>
          <p:cNvPr id="9" name="TextBox 8"/>
          <p:cNvSpPr txBox="1"/>
          <p:nvPr/>
        </p:nvSpPr>
        <p:spPr>
          <a:xfrm>
            <a:off x="502920" y="6089904"/>
            <a:ext cx="10332720" cy="274320"/>
          </a:xfrm>
          <a:prstGeom prst="rect">
            <a:avLst/>
          </a:prstGeom>
          <a:noFill/>
        </p:spPr>
        <p:txBody>
          <a:bodyPr wrap="square" anchor="t" lIns="0" rIns="0" tIns="0" bIns="0">
            <a:spAutoFit/>
          </a:bodyPr>
          <a:lstStyle/>
          <a:p>
            <a:pPr algn="l"/>
            <a:r>
              <a:rPr sz="1200" b="0" i="1">
                <a:solidFill>
                  <a:srgbClr val="605E5C"/>
                </a:solidFill>
                <a:latin typeface="Segoe UI"/>
              </a:rPr>
              <a:t>Two hooks on the existing seam — no agent or workflow rewrites</a:t>
            </a:r>
          </a:p>
        </p:txBody>
      </p:sp>
      <p:sp>
        <p:nvSpPr>
          <p:cNvPr id="10" name="Rectangle 9"/>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How · the code</a:t>
            </a:r>
          </a:p>
        </p:txBody>
      </p:sp>
      <p:sp>
        <p:nvSpPr>
          <p:cNvPr id="12" name="TextBox 11"/>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HOW · THE CODE</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The managed tier — hand it to the platform</a:t>
            </a:r>
          </a:p>
        </p:txBody>
      </p:sp>
      <p:sp>
        <p:nvSpPr>
          <p:cNvPr id="6" name="Rounded Rectangle 5"/>
          <p:cNvSpPr/>
          <p:nvPr/>
        </p:nvSpPr>
        <p:spPr>
          <a:xfrm>
            <a:off x="502920" y="1298448"/>
            <a:ext cx="10332720" cy="4709160"/>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389888"/>
            <a:ext cx="9875520" cy="274320"/>
          </a:xfrm>
          <a:prstGeom prst="rect">
            <a:avLst/>
          </a:prstGeom>
          <a:noFill/>
        </p:spPr>
        <p:txBody>
          <a:bodyPr wrap="square" anchor="t" lIns="0" rIns="0" tIns="0" bIns="0">
            <a:spAutoFit/>
          </a:bodyPr>
          <a:lstStyle/>
          <a:p>
            <a:pPr algn="l"/>
            <a:r>
              <a:rPr sz="1200" b="1" i="0">
                <a:solidFill>
                  <a:srgbClr val="00B7C3"/>
                </a:solidFill>
                <a:latin typeface="Segoe UI"/>
              </a:rPr>
              <a:t>●  Memory/FoundryMemoryDemo.cs   (--memory foundry)</a:t>
            </a:r>
          </a:p>
        </p:txBody>
      </p:sp>
      <p:sp>
        <p:nvSpPr>
          <p:cNvPr id="8" name="TextBox 7"/>
          <p:cNvSpPr txBox="1"/>
          <p:nvPr/>
        </p:nvSpPr>
        <p:spPr>
          <a:xfrm>
            <a:off x="758952" y="1737360"/>
            <a:ext cx="9875520" cy="4142232"/>
          </a:xfrm>
          <a:prstGeom prst="rect">
            <a:avLst/>
          </a:prstGeom>
          <a:noFill/>
        </p:spPr>
        <p:txBody>
          <a:bodyPr wrap="square" anchor="t" lIns="0" rIns="0" tIns="0" bIns="0">
            <a:spAutoFit/>
          </a:bodyPr>
          <a:lstStyle/>
          <a:p>
            <a:pPr algn="l">
              <a:lnSpc>
                <a:spcPts val="1450"/>
              </a:lnSpc>
              <a:spcAft>
                <a:spcPts val="0"/>
              </a:spcAft>
            </a:pPr>
            <a:r>
              <a:rPr sz="1200" b="0" i="0">
                <a:solidFill>
                  <a:srgbClr val="6A9955"/>
                </a:solidFill>
                <a:latin typeface="Consolas"/>
              </a:rPr>
              <a:t>// No IMemoryStore -- the PLATFORM owns extraction + storage.</a:t>
            </a:r>
          </a:p>
          <a:p>
            <a:pPr algn="l">
              <a:lnSpc>
                <a:spcPts val="1450"/>
              </a:lnSpc>
              <a:spcAft>
                <a:spcPts val="0"/>
              </a:spcAft>
            </a:pPr>
            <a:r>
              <a:rPr sz="1200" b="0" i="0">
                <a:solidFill>
                  <a:srgbClr val="6A9955"/>
                </a:solidFill>
                <a:latin typeface="Consolas"/>
              </a:rPr>
              <a:t>// Scope keys memory to THIS customer (across sessions):</a:t>
            </a:r>
          </a:p>
          <a:p>
            <a:pPr algn="l">
              <a:lnSpc>
                <a:spcPts val="1450"/>
              </a:lnSpc>
              <a:spcAft>
                <a:spcPts val="0"/>
              </a:spcAft>
            </a:pPr>
            <a:r>
              <a:rPr sz="1200" b="0" i="0">
                <a:solidFill>
                  <a:srgbClr val="DCDCDC"/>
                </a:solidFill>
                <a:latin typeface="Consolas"/>
              </a:rPr>
              <a:t>var memory = new FoundryMemoryProvider(</a:t>
            </a:r>
          </a:p>
          <a:p>
            <a:pPr algn="l">
              <a:lnSpc>
                <a:spcPts val="1450"/>
              </a:lnSpc>
              <a:spcAft>
                <a:spcPts val="0"/>
              </a:spcAft>
            </a:pPr>
            <a:r>
              <a:rPr sz="1200" b="0" i="0">
                <a:solidFill>
                  <a:srgbClr val="DCDCDC"/>
                </a:solidFill>
                <a:latin typeface="Consolas"/>
              </a:rPr>
              <a:t>    client, storeName,</a:t>
            </a:r>
          </a:p>
          <a:p>
            <a:pPr algn="l">
              <a:lnSpc>
                <a:spcPts val="1450"/>
              </a:lnSpc>
              <a:spcAft>
                <a:spcPts val="0"/>
              </a:spcAft>
            </a:pPr>
            <a:r>
              <a:rPr sz="1200" b="1" i="0">
                <a:solidFill>
                  <a:srgbClr val="9CDCFE"/>
                </a:solidFill>
                <a:latin typeface="Consolas"/>
              </a:rPr>
              <a:t>    _ =&gt; new(new FoundryMemoryProviderScope(customerId)));</a:t>
            </a:r>
          </a:p>
          <a:p>
            <a:pPr algn="l">
              <a:lnSpc>
                <a:spcPts val="1450"/>
              </a:lnSpc>
              <a:spcAft>
                <a:spcPts val="0"/>
              </a:spcAft>
            </a:pPr>
            <a:r>
              <a:rPr sz="600" b="0" i="0">
                <a:solidFill>
                  <a:srgbClr val="DCDCDC"/>
                </a:solidFill>
                <a:latin typeface="Consolas"/>
              </a:rPr>
              <a:t> </a:t>
            </a:r>
          </a:p>
          <a:p>
            <a:pPr algn="l">
              <a:lnSpc>
                <a:spcPts val="1450"/>
              </a:lnSpc>
              <a:spcAft>
                <a:spcPts val="0"/>
              </a:spcAft>
            </a:pPr>
            <a:r>
              <a:rPr sz="1200" b="0" i="0">
                <a:solidFill>
                  <a:srgbClr val="DCDCDC"/>
                </a:solidFill>
                <a:latin typeface="Consolas"/>
              </a:rPr>
              <a:t>var agent = client.AsAIAgent(new ChatClientAgentOptions</a:t>
            </a:r>
          </a:p>
          <a:p>
            <a:pPr algn="l">
              <a:lnSpc>
                <a:spcPts val="1450"/>
              </a:lnSpc>
              <a:spcAft>
                <a:spcPts val="0"/>
              </a:spcAft>
            </a:pPr>
            <a:r>
              <a:rPr sz="1200" b="0" i="0">
                <a:solidFill>
                  <a:srgbClr val="DCDCDC"/>
                </a:solidFill>
                <a:latin typeface="Consolas"/>
              </a:rPr>
              <a:t>{</a:t>
            </a:r>
          </a:p>
          <a:p>
            <a:pPr algn="l">
              <a:lnSpc>
                <a:spcPts val="1450"/>
              </a:lnSpc>
              <a:spcAft>
                <a:spcPts val="0"/>
              </a:spcAft>
            </a:pPr>
            <a:r>
              <a:rPr sz="1200" b="0" i="0">
                <a:solidFill>
                  <a:srgbClr val="DCDCDC"/>
                </a:solidFill>
                <a:latin typeface="Consolas"/>
              </a:rPr>
              <a:t>    Name = "BankingConcierge",</a:t>
            </a:r>
          </a:p>
          <a:p>
            <a:pPr algn="l">
              <a:lnSpc>
                <a:spcPts val="1450"/>
              </a:lnSpc>
              <a:spcAft>
                <a:spcPts val="0"/>
              </a:spcAft>
            </a:pPr>
            <a:r>
              <a:rPr sz="1200" b="0" i="0">
                <a:solidFill>
                  <a:srgbClr val="DCDCDC"/>
                </a:solidFill>
                <a:latin typeface="Consolas"/>
              </a:rPr>
              <a:t>    ChatOptions = new() { ModelId = chatModel, Instructions = ... },</a:t>
            </a:r>
          </a:p>
          <a:p>
            <a:pPr algn="l">
              <a:lnSpc>
                <a:spcPts val="1450"/>
              </a:lnSpc>
              <a:spcAft>
                <a:spcPts val="0"/>
              </a:spcAft>
            </a:pPr>
            <a:r>
              <a:rPr sz="1200" b="1" i="0">
                <a:solidFill>
                  <a:srgbClr val="9CDCFE"/>
                </a:solidFill>
                <a:latin typeface="Consolas"/>
              </a:rPr>
              <a:t>    AIContextProviders = [memory],   // attach the provider</a:t>
            </a:r>
          </a:p>
          <a:p>
            <a:pPr algn="l">
              <a:lnSpc>
                <a:spcPts val="1450"/>
              </a:lnSpc>
              <a:spcAft>
                <a:spcPts val="0"/>
              </a:spcAft>
            </a:pPr>
            <a:r>
              <a:rPr sz="1200" b="0" i="0">
                <a:solidFill>
                  <a:srgbClr val="DCDCDC"/>
                </a:solidFill>
                <a:latin typeface="Consolas"/>
              </a:rPr>
              <a:t>});</a:t>
            </a:r>
          </a:p>
          <a:p>
            <a:pPr algn="l">
              <a:lnSpc>
                <a:spcPts val="1450"/>
              </a:lnSpc>
              <a:spcAft>
                <a:spcPts val="0"/>
              </a:spcAft>
            </a:pPr>
            <a:r>
              <a:rPr sz="600" b="0" i="0">
                <a:solidFill>
                  <a:srgbClr val="DCDCDC"/>
                </a:solidFill>
                <a:latin typeface="Consolas"/>
              </a:rPr>
              <a:t> </a:t>
            </a:r>
          </a:p>
          <a:p>
            <a:pPr algn="l">
              <a:lnSpc>
                <a:spcPts val="1450"/>
              </a:lnSpc>
              <a:spcAft>
                <a:spcPts val="0"/>
              </a:spcAft>
            </a:pPr>
            <a:r>
              <a:rPr sz="1200" b="0" i="0">
                <a:solidFill>
                  <a:srgbClr val="DCDCDC"/>
                </a:solidFill>
                <a:latin typeface="Consolas"/>
              </a:rPr>
              <a:t>await memory.EnsureMemoryStoreCreatedAsync(chat, embedding, ...);</a:t>
            </a:r>
          </a:p>
          <a:p>
            <a:pPr algn="l">
              <a:lnSpc>
                <a:spcPts val="1450"/>
              </a:lnSpc>
              <a:spcAft>
                <a:spcPts val="0"/>
              </a:spcAft>
            </a:pPr>
            <a:r>
              <a:rPr sz="1200" b="0" i="0">
                <a:solidFill>
                  <a:srgbClr val="DCDCDC"/>
                </a:solidFill>
                <a:latin typeface="Consolas"/>
              </a:rPr>
              <a:t>var session = await agent.CreateSessionAsync();</a:t>
            </a:r>
          </a:p>
          <a:p>
            <a:pPr algn="l">
              <a:lnSpc>
                <a:spcPts val="1450"/>
              </a:lnSpc>
              <a:spcAft>
                <a:spcPts val="0"/>
              </a:spcAft>
            </a:pPr>
            <a:r>
              <a:rPr sz="1200" b="0" i="0">
                <a:solidFill>
                  <a:srgbClr val="DCDCDC"/>
                </a:solidFill>
                <a:latin typeface="Consolas"/>
              </a:rPr>
              <a:t>await foreach (var u in agent.RunStreamingAsync(task, session))</a:t>
            </a:r>
          </a:p>
          <a:p>
            <a:pPr algn="l">
              <a:lnSpc>
                <a:spcPts val="1450"/>
              </a:lnSpc>
              <a:spcAft>
                <a:spcPts val="0"/>
              </a:spcAft>
            </a:pPr>
            <a:r>
              <a:rPr sz="1200" b="0" i="0">
                <a:solidFill>
                  <a:srgbClr val="DCDCDC"/>
                </a:solidFill>
                <a:latin typeface="Consolas"/>
              </a:rPr>
              <a:t>    Console.Write(u.Text);</a:t>
            </a:r>
          </a:p>
          <a:p>
            <a:pPr algn="l">
              <a:lnSpc>
                <a:spcPts val="1450"/>
              </a:lnSpc>
              <a:spcAft>
                <a:spcPts val="0"/>
              </a:spcAft>
            </a:pPr>
            <a:r>
              <a:rPr sz="1200" b="1" i="0">
                <a:solidFill>
                  <a:srgbClr val="9CDCFE"/>
                </a:solidFill>
                <a:latin typeface="Consolas"/>
              </a:rPr>
              <a:t>await memory.WhenUpdatesCompletedAsync();  // extraction is async</a:t>
            </a:r>
          </a:p>
        </p:txBody>
      </p:sp>
      <p:sp>
        <p:nvSpPr>
          <p:cNvPr id="9" name="TextBox 8"/>
          <p:cNvSpPr txBox="1"/>
          <p:nvPr/>
        </p:nvSpPr>
        <p:spPr>
          <a:xfrm>
            <a:off x="502920" y="6089904"/>
            <a:ext cx="10332720" cy="274320"/>
          </a:xfrm>
          <a:prstGeom prst="rect">
            <a:avLst/>
          </a:prstGeom>
          <a:noFill/>
        </p:spPr>
        <p:txBody>
          <a:bodyPr wrap="square" anchor="t" lIns="0" rIns="0" tIns="0" bIns="0">
            <a:spAutoFit/>
          </a:bodyPr>
          <a:lstStyle/>
          <a:p>
            <a:pPr algn="l"/>
            <a:r>
              <a:rPr sz="1200" b="0" i="1">
                <a:solidFill>
                  <a:srgbClr val="605E5C"/>
                </a:solidFill>
                <a:latin typeface="Segoe UI"/>
              </a:rPr>
              <a:t>A context provider on one agent — the platform owns storage, not IMemoryStore</a:t>
            </a:r>
          </a:p>
        </p:txBody>
      </p:sp>
      <p:sp>
        <p:nvSpPr>
          <p:cNvPr id="10" name="Rectangle 9"/>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How · the code</a:t>
            </a:r>
          </a:p>
        </p:txBody>
      </p:sp>
      <p:sp>
        <p:nvSpPr>
          <p:cNvPr id="12" name="TextBox 11"/>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468880"/>
            <a:ext cx="109728" cy="15544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31720"/>
            <a:ext cx="2743200" cy="914400"/>
          </a:xfrm>
          <a:prstGeom prst="rect">
            <a:avLst/>
          </a:prstGeom>
          <a:noFill/>
        </p:spPr>
        <p:txBody>
          <a:bodyPr wrap="square" anchor="t" lIns="0" rIns="0" tIns="0" bIns="0">
            <a:spAutoFit/>
          </a:bodyPr>
          <a:lstStyle/>
          <a:p>
            <a:pPr algn="l"/>
            <a:r>
              <a:rPr sz="6600" b="1" i="0">
                <a:solidFill>
                  <a:srgbClr val="00B7C3"/>
                </a:solidFill>
                <a:latin typeface="Segoe UI"/>
              </a:rPr>
              <a:t>02</a:t>
            </a:r>
          </a:p>
        </p:txBody>
      </p:sp>
      <p:sp>
        <p:nvSpPr>
          <p:cNvPr id="5" name="TextBox 4"/>
          <p:cNvSpPr txBox="1"/>
          <p:nvPr/>
        </p:nvSpPr>
        <p:spPr>
          <a:xfrm>
            <a:off x="868680" y="3200400"/>
            <a:ext cx="9601200" cy="914400"/>
          </a:xfrm>
          <a:prstGeom prst="rect">
            <a:avLst/>
          </a:prstGeom>
          <a:noFill/>
        </p:spPr>
        <p:txBody>
          <a:bodyPr wrap="square" anchor="t" lIns="0" rIns="0" tIns="0" bIns="0">
            <a:spAutoFit/>
          </a:bodyPr>
          <a:lstStyle/>
          <a:p>
            <a:pPr algn="l"/>
            <a:r>
              <a:rPr sz="3800" b="1" i="0">
                <a:solidFill>
                  <a:srgbClr val="FFFFFF"/>
                </a:solidFill>
                <a:latin typeface="Segoe UI"/>
              </a:rPr>
              <a:t>Live</a:t>
            </a:r>
          </a:p>
        </p:txBody>
      </p:sp>
      <p:sp>
        <p:nvSpPr>
          <p:cNvPr id="6" name="TextBox 5"/>
          <p:cNvSpPr txBox="1"/>
          <p:nvPr/>
        </p:nvSpPr>
        <p:spPr>
          <a:xfrm>
            <a:off x="896112" y="4114800"/>
            <a:ext cx="9601200" cy="731520"/>
          </a:xfrm>
          <a:prstGeom prst="rect">
            <a:avLst/>
          </a:prstGeom>
          <a:noFill/>
        </p:spPr>
        <p:txBody>
          <a:bodyPr wrap="square" anchor="t" lIns="0" rIns="0" tIns="0" bIns="0">
            <a:spAutoFit/>
          </a:bodyPr>
          <a:lstStyle/>
          <a:p>
            <a:pPr algn="l"/>
            <a:r>
              <a:rPr sz="1800" b="0" i="0">
                <a:solidFill>
                  <a:srgbClr val="BFD7F0"/>
                </a:solidFill>
                <a:latin typeface="Segoe UI"/>
              </a:rPr>
              <a:t>Memory changes what the team can answer — seed, then follow 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DEMO</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The team remembers — and it shows in the answer</a:t>
            </a:r>
          </a:p>
        </p:txBody>
      </p:sp>
      <p:sp>
        <p:nvSpPr>
          <p:cNvPr id="6" name="TextBox 5"/>
          <p:cNvSpPr txBox="1"/>
          <p:nvPr/>
        </p:nvSpPr>
        <p:spPr>
          <a:xfrm>
            <a:off x="5029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Seed one session, then ask a follow-up that omits the details:</a:t>
            </a:r>
          </a:p>
          <a:p>
            <a:pPr algn="l">
              <a:spcBef>
                <a:spcPts val="0"/>
              </a:spcBef>
              <a:spcAft>
                <a:spcPts val="300"/>
              </a:spcAft>
            </a:pPr>
            <a:r>
              <a:rPr sz="1500" b="0" i="0">
                <a:solidFill>
                  <a:srgbClr val="201F1E"/>
                </a:solidFill>
                <a:latin typeface="Segoe UI"/>
              </a:rPr>
              <a:t>–  Run 1  —  seed · --memory local  →  prepares the $25,000 / 60-mo offer, SAVES the facts</a:t>
            </a:r>
          </a:p>
          <a:p>
            <a:pPr algn="l">
              <a:spcBef>
                <a:spcPts val="0"/>
              </a:spcBef>
              <a:spcAft>
                <a:spcPts val="300"/>
              </a:spcAft>
            </a:pPr>
            <a:r>
              <a:rPr sz="1500" b="0" i="0">
                <a:solidFill>
                  <a:srgbClr val="201F1E"/>
                </a:solidFill>
                <a:latin typeface="Segoe UI"/>
              </a:rPr>
              <a:t>–  Run 2  —  follow-up · --memory local  →  “finalize the loan we discussed” → recalls $25,000 · 60-mo · 4.99%</a:t>
            </a:r>
          </a:p>
          <a:p>
            <a:pPr algn="l">
              <a:spcBef>
                <a:spcPts val="0"/>
              </a:spcBef>
              <a:spcAft>
                <a:spcPts val="300"/>
              </a:spcAft>
            </a:pPr>
            <a:r>
              <a:rPr sz="1500" b="0" i="0">
                <a:solidFill>
                  <a:srgbClr val="201F1E"/>
                </a:solidFill>
                <a:latin typeface="Segoe UI"/>
              </a:rPr>
              <a:t>–  Run 3  —  same follow-up · --memory off  →  “which loan? please re-supply the details”</a:t>
            </a:r>
          </a:p>
          <a:p>
            <a:pPr algn="l">
              <a:spcBef>
                <a:spcPts val="0"/>
              </a:spcBef>
              <a:spcAft>
                <a:spcPts val="500"/>
              </a:spcAft>
            </a:pPr>
            <a:r>
              <a:rPr sz="1800" b="0" i="0">
                <a:solidFill>
                  <a:srgbClr val="107C10"/>
                </a:solidFill>
                <a:latin typeface="Segoe UI"/>
              </a:rPr>
              <a:t>✓  Same question — memory ON answers it, memory OFF can’t. That’s the difference</a:t>
            </a:r>
          </a:p>
        </p:txBody>
      </p:sp>
      <p:sp>
        <p:nvSpPr>
          <p:cNvPr id="7" name="TextBox 6"/>
          <p:cNvSpPr txBox="1"/>
          <p:nvPr/>
        </p:nvSpPr>
        <p:spPr>
          <a:xfrm>
            <a:off x="59893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Point out</a:t>
            </a:r>
          </a:p>
          <a:p>
            <a:pPr algn="l">
              <a:spcBef>
                <a:spcPts val="0"/>
              </a:spcBef>
              <a:spcAft>
                <a:spcPts val="300"/>
              </a:spcAft>
            </a:pPr>
            <a:r>
              <a:rPr sz="1500" b="0" i="0">
                <a:solidFill>
                  <a:srgbClr val="201F1E"/>
                </a:solidFill>
                <a:latin typeface="Segoe UI"/>
              </a:rPr>
              <a:t>–  The follow-up OMITS the numbers — that’s why recall matters</a:t>
            </a:r>
          </a:p>
          <a:p>
            <a:pPr algn="l">
              <a:spcBef>
                <a:spcPts val="0"/>
              </a:spcBef>
              <a:spcAft>
                <a:spcPts val="300"/>
              </a:spcAft>
            </a:pPr>
            <a:r>
              <a:rPr sz="1500" b="0" i="0">
                <a:solidFill>
                  <a:srgbClr val="201F1E"/>
                </a:solidFill>
                <a:latin typeface="Segoe UI"/>
              </a:rPr>
              <a:t>–  Memory OFF signals absence (asks for details) — it doesn’t bluff</a:t>
            </a:r>
          </a:p>
          <a:p>
            <a:pPr algn="l">
              <a:spcBef>
                <a:spcPts val="0"/>
              </a:spcBef>
              <a:spcAft>
                <a:spcPts val="300"/>
              </a:spcAft>
            </a:pPr>
            <a:r>
              <a:rPr sz="1500" b="0" i="0">
                <a:solidFill>
                  <a:srgbClr val="201F1E"/>
                </a:solidFill>
                <a:latin typeface="Segoe UI"/>
              </a:rPr>
              <a:t>–  The store is a plain JSON file under .memory/ — open it and show it</a:t>
            </a:r>
          </a:p>
          <a:p>
            <a:pPr algn="l">
              <a:spcBef>
                <a:spcPts val="0"/>
              </a:spcBef>
              <a:spcAft>
                <a:spcPts val="500"/>
              </a:spcAft>
            </a:pPr>
            <a:r>
              <a:rPr sz="1800" b="0" i="0">
                <a:solidFill>
                  <a:srgbClr val="107C10"/>
                </a:solidFill>
                <a:latin typeface="Segoe UI"/>
              </a:rPr>
              <a:t>✓  Validated live — .NET on Foundry gpt-4o</a:t>
            </a:r>
          </a:p>
        </p:txBody>
      </p:sp>
      <p:sp>
        <p:nvSpPr>
          <p:cNvPr id="8" name="Rectangle 7"/>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Demo</a:t>
            </a:r>
          </a:p>
        </p:txBody>
      </p:sp>
      <p:sp>
        <p:nvSpPr>
          <p:cNvPr id="10" name="TextBox 9"/>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16</a:t>
            </a:r>
          </a:p>
        </p:txBody>
      </p:sp>
      <p:sp>
        <p:nvSpPr>
          <p:cNvPr id="11" name="Rounded Rectangle 10"/>
          <p:cNvSpPr/>
          <p:nvPr/>
        </p:nvSpPr>
        <p:spPr>
          <a:xfrm>
            <a:off x="502920" y="5961888"/>
            <a:ext cx="10332720" cy="530352"/>
          </a:xfrm>
          <a:prstGeom prst="roundRect">
            <a:avLst/>
          </a:prstGeom>
          <a:solidFill>
            <a:srgbClr val="E3F3F6"/>
          </a:solidFill>
          <a:ln w="15875">
            <a:solidFill>
              <a:srgbClr val="00B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961888"/>
            <a:ext cx="1417320" cy="530352"/>
          </a:xfrm>
          <a:prstGeom prst="rect">
            <a:avLst/>
          </a:prstGeom>
          <a:noFill/>
        </p:spPr>
        <p:txBody>
          <a:bodyPr wrap="square" anchor="ctr" lIns="0" rIns="0" tIns="0" bIns="0">
            <a:spAutoFit/>
          </a:bodyPr>
          <a:lstStyle/>
          <a:p>
            <a:pPr algn="l"/>
            <a:r>
              <a:rPr sz="1400" b="1" i="0">
                <a:solidFill>
                  <a:srgbClr val="00B7C3"/>
                </a:solidFill>
                <a:latin typeface="Segoe UI"/>
              </a:rPr>
              <a:t>▶ DEMO</a:t>
            </a:r>
          </a:p>
        </p:txBody>
      </p:sp>
      <p:sp>
        <p:nvSpPr>
          <p:cNvPr id="13" name="TextBox 12"/>
          <p:cNvSpPr txBox="1"/>
          <p:nvPr/>
        </p:nvSpPr>
        <p:spPr>
          <a:xfrm>
            <a:off x="2057400" y="5961888"/>
            <a:ext cx="8595360" cy="530352"/>
          </a:xfrm>
          <a:prstGeom prst="rect">
            <a:avLst/>
          </a:prstGeom>
          <a:noFill/>
        </p:spPr>
        <p:txBody>
          <a:bodyPr wrap="square" anchor="ctr" lIns="0" rIns="0" tIns="0" bIns="0">
            <a:spAutoFit/>
          </a:bodyPr>
          <a:lstStyle/>
          <a:p>
            <a:pPr algn="l"/>
            <a:r>
              <a:rPr sz="1300" b="1" i="0">
                <a:solidFill>
                  <a:srgbClr val="243A5E"/>
                </a:solidFill>
                <a:latin typeface="Segoe UI"/>
              </a:rPr>
              <a:t>seed → --memory local  (team recalls the loan)   vs   --memory off  (team has to ask)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HOW</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--memory: four modes, two memory models</a:t>
            </a:r>
          </a:p>
        </p:txBody>
      </p:sp>
      <p:sp>
        <p:nvSpPr>
          <p:cNvPr id="6" name="TextBox 5"/>
          <p:cNvSpPr txBox="1"/>
          <p:nvPr/>
        </p:nvSpPr>
        <p:spPr>
          <a:xfrm>
            <a:off x="5029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off   —  default; clean, stateless runs (every other demo)</a:t>
            </a:r>
          </a:p>
          <a:p>
            <a:pPr algn="l">
              <a:spcBef>
                <a:spcPts val="0"/>
              </a:spcBef>
              <a:spcAft>
                <a:spcPts val="500"/>
              </a:spcAft>
            </a:pPr>
            <a:r>
              <a:rPr sz="1800" b="0" i="0">
                <a:solidFill>
                  <a:srgbClr val="107C10"/>
                </a:solidFill>
                <a:latin typeface="Segoe UI"/>
              </a:rPr>
              <a:t>✓  local —  BYO file store, no Azure  —  verified live</a:t>
            </a:r>
          </a:p>
          <a:p>
            <a:pPr algn="l">
              <a:spcBef>
                <a:spcPts val="0"/>
              </a:spcBef>
              <a:spcAft>
                <a:spcPts val="500"/>
              </a:spcAft>
            </a:pPr>
            <a:r>
              <a:rPr sz="1800" b="0" i="0">
                <a:solidFill>
                  <a:srgbClr val="107C10"/>
                </a:solidFill>
                <a:latin typeface="Segoe UI"/>
              </a:rPr>
              <a:t>✓  cosmos —  BYO managed store (Cosmos DB)  —  verified live</a:t>
            </a:r>
          </a:p>
          <a:p>
            <a:pPr algn="l">
              <a:spcBef>
                <a:spcPts val="0"/>
              </a:spcBef>
              <a:spcAft>
                <a:spcPts val="500"/>
              </a:spcAft>
            </a:pPr>
            <a:r>
              <a:rPr sz="1800" b="0" i="0">
                <a:solidFill>
                  <a:srgbClr val="107C10"/>
                </a:solidFill>
                <a:latin typeface="Segoe UI"/>
              </a:rPr>
              <a:t>✓  foundry — platform-managed Memory (preview)  —  verified live</a:t>
            </a:r>
          </a:p>
        </p:txBody>
      </p:sp>
      <p:sp>
        <p:nvSpPr>
          <p:cNvPr id="7" name="TextBox 6"/>
          <p:cNvSpPr txBox="1"/>
          <p:nvPr/>
        </p:nvSpPr>
        <p:spPr>
          <a:xfrm>
            <a:off x="59893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BYO tiers (local + cosmos)</a:t>
            </a:r>
          </a:p>
          <a:p>
            <a:pPr algn="l">
              <a:spcBef>
                <a:spcPts val="0"/>
              </a:spcBef>
              <a:spcAft>
                <a:spcPts val="300"/>
              </a:spcAft>
            </a:pPr>
            <a:r>
              <a:rPr sz="1500" b="0" i="0">
                <a:solidFill>
                  <a:srgbClr val="201F1E"/>
                </a:solidFill>
                <a:latin typeface="Segoe UI"/>
              </a:rPr>
              <a:t>–  One contract: IMemoryStore — Load / Save / Describe</a:t>
            </a:r>
          </a:p>
          <a:p>
            <a:pPr algn="l">
              <a:spcBef>
                <a:spcPts val="0"/>
              </a:spcBef>
              <a:spcAft>
                <a:spcPts val="300"/>
              </a:spcAft>
            </a:pPr>
            <a:r>
              <a:rPr sz="1500" b="0" i="0">
                <a:solidFill>
                  <a:srgbClr val="201F1E"/>
                </a:solidFill>
                <a:latin typeface="Segoe UI"/>
              </a:rPr>
              <a:t>–  Swap the store — app, agents, and workflow stay identical</a:t>
            </a:r>
          </a:p>
          <a:p>
            <a:pPr algn="l">
              <a:spcBef>
                <a:spcPts val="400"/>
              </a:spcBef>
              <a:spcAft>
                <a:spcPts val="500"/>
              </a:spcAft>
            </a:pPr>
            <a:r>
              <a:rPr sz="1800" b="1" i="0">
                <a:solidFill>
                  <a:srgbClr val="243A5E"/>
                </a:solidFill>
                <a:latin typeface="Segoe UI"/>
              </a:rPr>
              <a:t>■  Managed tier (foundry)</a:t>
            </a:r>
          </a:p>
          <a:p>
            <a:pPr algn="l">
              <a:spcBef>
                <a:spcPts val="0"/>
              </a:spcBef>
              <a:spcAft>
                <a:spcPts val="300"/>
              </a:spcAft>
            </a:pPr>
            <a:r>
              <a:rPr sz="1500" b="0" i="0">
                <a:solidFill>
                  <a:srgbClr val="201F1E"/>
                </a:solidFill>
                <a:latin typeface="Segoe UI"/>
              </a:rPr>
              <a:t>–  FoundryMemoryProvider on a single agent + session — platform extracts/embeds/recalls</a:t>
            </a:r>
          </a:p>
          <a:p>
            <a:pPr algn="l">
              <a:spcBef>
                <a:spcPts val="0"/>
              </a:spcBef>
              <a:spcAft>
                <a:spcPts val="500"/>
              </a:spcAft>
            </a:pPr>
            <a:r>
              <a:rPr sz="1800" b="0" i="0">
                <a:solidFill>
                  <a:srgbClr val="107C10"/>
                </a:solidFill>
                <a:latin typeface="Segoe UI"/>
              </a:rPr>
              <a:t>✓  Honest status banner — prints the backend it truly used</a:t>
            </a:r>
          </a:p>
        </p:txBody>
      </p:sp>
      <p:sp>
        <p:nvSpPr>
          <p:cNvPr id="8" name="Rectangle 7"/>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How</a:t>
            </a:r>
          </a:p>
        </p:txBody>
      </p:sp>
      <p:sp>
        <p:nvSpPr>
          <p:cNvPr id="10" name="TextBox 9"/>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ROADMAP</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From file, to Cosmos, to platform-managed</a:t>
            </a:r>
          </a:p>
        </p:txBody>
      </p:sp>
      <p:sp>
        <p:nvSpPr>
          <p:cNvPr id="6" name="Rounded Rectangle 5"/>
          <p:cNvSpPr/>
          <p:nvPr/>
        </p:nvSpPr>
        <p:spPr>
          <a:xfrm>
            <a:off x="502920" y="1783080"/>
            <a:ext cx="2343150"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local file</a:t>
            </a:r>
          </a:p>
          <a:p>
            <a:pPr algn="ctr"/>
            <a:r>
              <a:rPr sz="1000" b="0" i="0">
                <a:solidFill>
                  <a:srgbClr val="605E5C"/>
                </a:solidFill>
                <a:latin typeface="Segoe UI"/>
              </a:rPr>
              <a:t>(done)</a:t>
            </a:r>
          </a:p>
        </p:txBody>
      </p:sp>
      <p:sp>
        <p:nvSpPr>
          <p:cNvPr id="7" name="Right Arrow 6"/>
          <p:cNvSpPr/>
          <p:nvPr/>
        </p:nvSpPr>
        <p:spPr>
          <a:xfrm>
            <a:off x="2827782"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166110" y="1783080"/>
            <a:ext cx="2343150"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Cosmos DB</a:t>
            </a:r>
          </a:p>
          <a:p>
            <a:pPr algn="ctr"/>
            <a:r>
              <a:rPr sz="1000" b="0" i="0">
                <a:solidFill>
                  <a:srgbClr val="605E5C"/>
                </a:solidFill>
                <a:latin typeface="Segoe UI"/>
              </a:rPr>
              <a:t>(done)</a:t>
            </a:r>
          </a:p>
        </p:txBody>
      </p:sp>
      <p:sp>
        <p:nvSpPr>
          <p:cNvPr id="9" name="Right Arrow 8"/>
          <p:cNvSpPr/>
          <p:nvPr/>
        </p:nvSpPr>
        <p:spPr>
          <a:xfrm>
            <a:off x="5490972"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29300" y="1783080"/>
            <a:ext cx="2343150"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Foundry Memory</a:t>
            </a:r>
          </a:p>
          <a:p>
            <a:pPr algn="ctr"/>
            <a:r>
              <a:rPr sz="1000" b="0" i="0">
                <a:solidFill>
                  <a:srgbClr val="605E5C"/>
                </a:solidFill>
                <a:latin typeface="Segoe UI"/>
              </a:rPr>
              <a:t>(managed, done)</a:t>
            </a:r>
          </a:p>
        </p:txBody>
      </p:sp>
      <p:sp>
        <p:nvSpPr>
          <p:cNvPr id="11" name="Right Arrow 10"/>
          <p:cNvSpPr/>
          <p:nvPr/>
        </p:nvSpPr>
        <p:spPr>
          <a:xfrm>
            <a:off x="8154162" y="2162556"/>
            <a:ext cx="374904" cy="109728"/>
          </a:xfrm>
          <a:prstGeom prst="rightArrow">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92490" y="1783080"/>
            <a:ext cx="2343150" cy="868680"/>
          </a:xfrm>
          <a:prstGeom prst="roundRect">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243A5E"/>
                </a:solidFill>
                <a:latin typeface="Segoe UI"/>
              </a:rPr>
              <a:t>+ AI Search</a:t>
            </a:r>
          </a:p>
          <a:p>
            <a:pPr algn="ctr"/>
            <a:r>
              <a:rPr sz="1000" b="0" i="0">
                <a:solidFill>
                  <a:srgbClr val="605E5C"/>
                </a:solidFill>
                <a:latin typeface="Segoe UI"/>
              </a:rPr>
              <a:t>(next)</a:t>
            </a:r>
          </a:p>
        </p:txBody>
      </p:sp>
      <p:sp>
        <p:nvSpPr>
          <p:cNvPr id="13" name="TextBox 12"/>
          <p:cNvSpPr txBox="1"/>
          <p:nvPr/>
        </p:nvSpPr>
        <p:spPr>
          <a:xfrm>
            <a:off x="502920" y="2880360"/>
            <a:ext cx="10332720" cy="457200"/>
          </a:xfrm>
          <a:prstGeom prst="rect">
            <a:avLst/>
          </a:prstGeom>
          <a:noFill/>
        </p:spPr>
        <p:txBody>
          <a:bodyPr wrap="square" anchor="t" lIns="0" rIns="0" tIns="0" bIns="0">
            <a:spAutoFit/>
          </a:bodyPr>
          <a:lstStyle/>
          <a:p>
            <a:pPr algn="ctr"/>
            <a:r>
              <a:rPr sz="1300" b="0" i="1">
                <a:solidFill>
                  <a:srgbClr val="605E5C"/>
                </a:solidFill>
                <a:latin typeface="Segoe UI"/>
              </a:rPr>
              <a:t>BYO swaps behind one interface · managed is the platform-owned tier · knowledge is next</a:t>
            </a:r>
          </a:p>
        </p:txBody>
      </p:sp>
      <p:sp>
        <p:nvSpPr>
          <p:cNvPr id="14" name="TextBox 13"/>
          <p:cNvSpPr txBox="1"/>
          <p:nvPr/>
        </p:nvSpPr>
        <p:spPr>
          <a:xfrm>
            <a:off x="502920" y="3474720"/>
            <a:ext cx="10332720" cy="2286000"/>
          </a:xfrm>
          <a:prstGeom prst="rect">
            <a:avLst/>
          </a:prstGeom>
          <a:noFill/>
        </p:spPr>
        <p:txBody>
          <a:bodyPr wrap="square" anchor="t" lIns="0" rIns="0" tIns="0" bIns="0">
            <a:spAutoFit/>
          </a:bodyPr>
          <a:lstStyle/>
          <a:p>
            <a:pPr algn="l">
              <a:spcBef>
                <a:spcPts val="0"/>
              </a:spcBef>
              <a:spcAft>
                <a:spcPts val="500"/>
              </a:spcAft>
            </a:pPr>
            <a:r>
              <a:rPr sz="1800" b="0" i="0">
                <a:solidFill>
                  <a:srgbClr val="107C10"/>
                </a:solidFill>
                <a:latin typeface="Segoe UI"/>
              </a:rPr>
              <a:t>✓  Cosmos (done): partition by /userId · keyless Entra RBAC · serverless · infra/provision-cosmos.ps1</a:t>
            </a:r>
          </a:p>
          <a:p>
            <a:pPr algn="l">
              <a:spcBef>
                <a:spcPts val="0"/>
              </a:spcBef>
              <a:spcAft>
                <a:spcPts val="500"/>
              </a:spcAft>
            </a:pPr>
            <a:r>
              <a:rPr sz="1800" b="0" i="0">
                <a:solidFill>
                  <a:srgbClr val="107C10"/>
                </a:solidFill>
                <a:latin typeface="Segoe UI"/>
              </a:rPr>
              <a:t>✓  Foundry Memory (done): managed provider, scope by user · embedding deploy + preview + MI role · provision-foundry-memory.ps1</a:t>
            </a:r>
          </a:p>
          <a:p>
            <a:pPr algn="l">
              <a:spcBef>
                <a:spcPts val="400"/>
              </a:spcBef>
              <a:spcAft>
                <a:spcPts val="500"/>
              </a:spcAft>
            </a:pPr>
            <a:r>
              <a:rPr sz="1800" b="1" i="0">
                <a:solidFill>
                  <a:srgbClr val="243A5E"/>
                </a:solidFill>
                <a:latin typeface="Segoe UI"/>
              </a:rPr>
              <a:t>■  Shared AI Search (next): the knowledge-memory tier — reuse the Lab 03 index · Python parity to follow</a:t>
            </a:r>
          </a:p>
        </p:txBody>
      </p:sp>
      <p:sp>
        <p:nvSpPr>
          <p:cNvPr id="15" name="Rectangle 14"/>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Roadmap</a:t>
            </a:r>
          </a:p>
        </p:txBody>
      </p:sp>
      <p:sp>
        <p:nvSpPr>
          <p:cNvPr id="17" name="TextBox 16"/>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GUIDANCE</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Design guidance for agent memory</a:t>
            </a:r>
          </a:p>
        </p:txBody>
      </p:sp>
      <p:sp>
        <p:nvSpPr>
          <p:cNvPr id="6" name="TextBox 5"/>
          <p:cNvSpPr txBox="1"/>
          <p:nvPr/>
        </p:nvSpPr>
        <p:spPr>
          <a:xfrm>
            <a:off x="5029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Treat memory as a host concern, not an agent feature</a:t>
            </a:r>
          </a:p>
          <a:p>
            <a:pPr algn="l">
              <a:spcBef>
                <a:spcPts val="0"/>
              </a:spcBef>
              <a:spcAft>
                <a:spcPts val="300"/>
              </a:spcAft>
            </a:pPr>
            <a:r>
              <a:rPr sz="1500" b="0" i="0">
                <a:solidFill>
                  <a:srgbClr val="201F1E"/>
                </a:solidFill>
                <a:latin typeface="Segoe UI"/>
              </a:rPr>
              <a:t>–  Same seam as skills — inject on read, compact on write</a:t>
            </a:r>
          </a:p>
          <a:p>
            <a:pPr algn="l">
              <a:spcBef>
                <a:spcPts val="400"/>
              </a:spcBef>
              <a:spcAft>
                <a:spcPts val="500"/>
              </a:spcAft>
            </a:pPr>
            <a:r>
              <a:rPr sz="1800" b="1" i="0">
                <a:solidFill>
                  <a:srgbClr val="243A5E"/>
                </a:solidFill>
                <a:latin typeface="Segoe UI"/>
              </a:rPr>
              <a:t>■  Use tiers — don't force one store to do all four</a:t>
            </a:r>
          </a:p>
          <a:p>
            <a:pPr algn="l">
              <a:spcBef>
                <a:spcPts val="0"/>
              </a:spcBef>
              <a:spcAft>
                <a:spcPts val="300"/>
              </a:spcAft>
            </a:pPr>
            <a:r>
              <a:rPr sz="1500" b="0" i="0">
                <a:solidFill>
                  <a:srgbClr val="201F1E"/>
                </a:solidFill>
                <a:latin typeface="Segoe UI"/>
              </a:rPr>
              <a:t>–  Conversation ≠ user memory ≠ state ≠ knowledge</a:t>
            </a:r>
          </a:p>
          <a:p>
            <a:pPr algn="l">
              <a:spcBef>
                <a:spcPts val="400"/>
              </a:spcBef>
              <a:spcAft>
                <a:spcPts val="500"/>
              </a:spcAft>
            </a:pPr>
            <a:r>
              <a:rPr sz="1800" b="1" i="0">
                <a:solidFill>
                  <a:srgbClr val="243A5E"/>
                </a:solidFill>
                <a:latin typeface="Segoe UI"/>
              </a:rPr>
              <a:t>■  Compact to { summary, facts, decisions, pending } — not a chat log</a:t>
            </a:r>
          </a:p>
        </p:txBody>
      </p:sp>
      <p:sp>
        <p:nvSpPr>
          <p:cNvPr id="7" name="TextBox 6"/>
          <p:cNvSpPr txBox="1"/>
          <p:nvPr/>
        </p:nvSpPr>
        <p:spPr>
          <a:xfrm>
            <a:off x="59893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Scope by user — separate from thread</a:t>
            </a:r>
          </a:p>
          <a:p>
            <a:pPr algn="l">
              <a:spcBef>
                <a:spcPts val="0"/>
              </a:spcBef>
              <a:spcAft>
                <a:spcPts val="300"/>
              </a:spcAft>
            </a:pPr>
            <a:r>
              <a:rPr sz="1500" b="0" i="0">
                <a:solidFill>
                  <a:srgbClr val="201F1E"/>
                </a:solidFill>
                <a:latin typeface="Segoe UI"/>
              </a:rPr>
              <a:t>–  customerId persists; threadId is per-run</a:t>
            </a:r>
          </a:p>
          <a:p>
            <a:pPr algn="l">
              <a:spcBef>
                <a:spcPts val="400"/>
              </a:spcBef>
              <a:spcAft>
                <a:spcPts val="500"/>
              </a:spcAft>
            </a:pPr>
            <a:r>
              <a:rPr sz="1800" b="1" i="0">
                <a:solidFill>
                  <a:srgbClr val="243A5E"/>
                </a:solidFill>
                <a:latin typeface="Segoe UI"/>
              </a:rPr>
              <a:t>■  Store decisions + facts, not raw PII</a:t>
            </a:r>
          </a:p>
          <a:p>
            <a:pPr algn="l">
              <a:spcBef>
                <a:spcPts val="0"/>
              </a:spcBef>
              <a:spcAft>
                <a:spcPts val="300"/>
              </a:spcAft>
            </a:pPr>
            <a:r>
              <a:rPr sz="1500" b="0" i="0">
                <a:solidFill>
                  <a:srgbClr val="201F1E"/>
                </a:solidFill>
                <a:latin typeface="Segoe UI"/>
              </a:rPr>
              <a:t>–  Minimize what's durable — least data that gives continuity</a:t>
            </a:r>
          </a:p>
          <a:p>
            <a:pPr algn="l">
              <a:spcBef>
                <a:spcPts val="400"/>
              </a:spcBef>
              <a:spcAft>
                <a:spcPts val="500"/>
              </a:spcAft>
            </a:pPr>
            <a:r>
              <a:rPr sz="1800" b="1" i="0">
                <a:solidFill>
                  <a:srgbClr val="243A5E"/>
                </a:solidFill>
                <a:latin typeface="Segoe UI"/>
              </a:rPr>
              <a:t>■  Default OFF — memory is an explicit choice</a:t>
            </a:r>
          </a:p>
          <a:p>
            <a:pPr algn="l">
              <a:spcBef>
                <a:spcPts val="0"/>
              </a:spcBef>
              <a:spcAft>
                <a:spcPts val="300"/>
              </a:spcAft>
            </a:pPr>
            <a:r>
              <a:rPr sz="1500" b="0" i="0">
                <a:solidFill>
                  <a:srgbClr val="201F1E"/>
                </a:solidFill>
                <a:latin typeface="Segoe UI"/>
              </a:rPr>
              <a:t>–  Keeps stateless demos deterministic + auditable</a:t>
            </a:r>
          </a:p>
          <a:p>
            <a:pPr algn="l">
              <a:spcBef>
                <a:spcPts val="0"/>
              </a:spcBef>
              <a:spcAft>
                <a:spcPts val="500"/>
              </a:spcAft>
            </a:pPr>
            <a:r>
              <a:rPr sz="1800" b="0" i="0">
                <a:solidFill>
                  <a:srgbClr val="107C10"/>
                </a:solidFill>
                <a:latin typeface="Segoe UI"/>
              </a:rPr>
              <a:t>✓  BYO-first → managed when you want platform retrieval</a:t>
            </a:r>
          </a:p>
        </p:txBody>
      </p:sp>
      <p:sp>
        <p:nvSpPr>
          <p:cNvPr id="8" name="Rectangle 7"/>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Guidance</a:t>
            </a:r>
          </a:p>
        </p:txBody>
      </p:sp>
      <p:sp>
        <p:nvSpPr>
          <p:cNvPr id="10" name="TextBox 9"/>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2000"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274320"/>
          </a:xfrm>
          <a:prstGeom prst="rect">
            <a:avLst/>
          </a:prstGeom>
          <a:noFill/>
        </p:spPr>
        <p:txBody>
          <a:bodyPr wrap="square" anchor="t" lIns="0" rIns="0" tIns="0" bIns="0">
            <a:spAutoFit/>
          </a:bodyPr>
          <a:lstStyle/>
          <a:p>
            <a:pPr algn="l"/>
            <a:r>
              <a:rPr sz="1200" b="1" i="0">
                <a:solidFill>
                  <a:srgbClr val="00B7C3"/>
                </a:solidFill>
                <a:latin typeface="Segoe UI"/>
              </a:rPr>
              <a:t>WRAP</a:t>
            </a:r>
          </a:p>
        </p:txBody>
      </p:sp>
      <p:sp>
        <p:nvSpPr>
          <p:cNvPr id="5" name="TextBox 4"/>
          <p:cNvSpPr txBox="1"/>
          <p:nvPr/>
        </p:nvSpPr>
        <p:spPr>
          <a:xfrm>
            <a:off x="502920" y="420624"/>
            <a:ext cx="10972800" cy="566928"/>
          </a:xfrm>
          <a:prstGeom prst="rect">
            <a:avLst/>
          </a:prstGeom>
          <a:noFill/>
        </p:spPr>
        <p:txBody>
          <a:bodyPr wrap="square" anchor="ctr" lIns="0" rIns="0" tIns="0" bIns="0">
            <a:spAutoFit/>
          </a:bodyPr>
          <a:lstStyle/>
          <a:p>
            <a:pPr algn="l"/>
            <a:r>
              <a:rPr sz="2600" b="1" i="0">
                <a:solidFill>
                  <a:srgbClr val="FFFFFF"/>
                </a:solidFill>
                <a:latin typeface="Segoe UI"/>
              </a:rPr>
              <a:t>Take-aways &amp; where to next</a:t>
            </a:r>
          </a:p>
        </p:txBody>
      </p:sp>
      <p:sp>
        <p:nvSpPr>
          <p:cNvPr id="6" name="TextBox 5"/>
          <p:cNvSpPr txBox="1"/>
          <p:nvPr/>
        </p:nvSpPr>
        <p:spPr>
          <a:xfrm>
            <a:off x="5029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What we added this session:</a:t>
            </a:r>
          </a:p>
          <a:p>
            <a:pPr algn="l">
              <a:spcBef>
                <a:spcPts val="0"/>
              </a:spcBef>
              <a:spcAft>
                <a:spcPts val="300"/>
              </a:spcAft>
            </a:pPr>
            <a:r>
              <a:rPr sz="1500" b="0" i="0">
                <a:solidFill>
                  <a:srgbClr val="107C10"/>
                </a:solidFill>
                <a:latin typeface="Segoe UI"/>
              </a:rPr>
              <a:t>✓  Cross-session memory on the SAME seams — recall→inject, record→compact→save</a:t>
            </a:r>
          </a:p>
          <a:p>
            <a:pPr algn="l">
              <a:spcBef>
                <a:spcPts val="0"/>
              </a:spcBef>
              <a:spcAft>
                <a:spcPts val="300"/>
              </a:spcAft>
            </a:pPr>
            <a:r>
              <a:rPr sz="1500" b="0" i="0">
                <a:solidFill>
                  <a:srgbClr val="107C10"/>
                </a:solidFill>
                <a:latin typeface="Segoe UI"/>
              </a:rPr>
              <a:t>✓  All three tiers verified live — local + cosmos (BYO) and foundry (platform-managed)</a:t>
            </a:r>
          </a:p>
          <a:p>
            <a:pPr algn="l">
              <a:spcBef>
                <a:spcPts val="0"/>
              </a:spcBef>
              <a:spcAft>
                <a:spcPts val="300"/>
              </a:spcAft>
            </a:pPr>
            <a:r>
              <a:rPr sz="1500" b="0" i="0">
                <a:solidFill>
                  <a:srgbClr val="107C10"/>
                </a:solidFill>
                <a:latin typeface="Segoe UI"/>
              </a:rPr>
              <a:t>✓  Deterministic compaction — keep facts / decisions / pending, not transcripts</a:t>
            </a:r>
          </a:p>
          <a:p>
            <a:pPr algn="l">
              <a:spcBef>
                <a:spcPts val="0"/>
              </a:spcBef>
              <a:spcAft>
                <a:spcPts val="300"/>
              </a:spcAft>
            </a:pPr>
            <a:r>
              <a:rPr sz="1500" b="0" i="0">
                <a:solidFill>
                  <a:srgbClr val="107C10"/>
                </a:solidFill>
                <a:latin typeface="Segoe UI"/>
              </a:rPr>
              <a:t>✓  New memory tiers + IaC (Cosmos + Foundry role grant) — no agent or workflow rewrites</a:t>
            </a:r>
          </a:p>
        </p:txBody>
      </p:sp>
      <p:sp>
        <p:nvSpPr>
          <p:cNvPr id="7" name="TextBox 6"/>
          <p:cNvSpPr txBox="1"/>
          <p:nvPr/>
        </p:nvSpPr>
        <p:spPr>
          <a:xfrm>
            <a:off x="5989320" y="1325880"/>
            <a:ext cx="5212080" cy="4572000"/>
          </a:xfrm>
          <a:prstGeom prst="rect">
            <a:avLst/>
          </a:prstGeom>
          <a:noFill/>
        </p:spPr>
        <p:txBody>
          <a:bodyPr wrap="square" anchor="t" lIns="0" rIns="0" tIns="0" bIns="0">
            <a:spAutoFit/>
          </a:bodyPr>
          <a:lstStyle/>
          <a:p>
            <a:pPr algn="l">
              <a:spcBef>
                <a:spcPts val="400"/>
              </a:spcBef>
              <a:spcAft>
                <a:spcPts val="500"/>
              </a:spcAft>
            </a:pPr>
            <a:r>
              <a:rPr sz="1800" b="1" i="0">
                <a:solidFill>
                  <a:srgbClr val="243A5E"/>
                </a:solidFill>
                <a:latin typeface="Segoe UI"/>
              </a:rPr>
              <a:t>■  Where to next</a:t>
            </a:r>
          </a:p>
          <a:p>
            <a:pPr algn="l">
              <a:spcBef>
                <a:spcPts val="0"/>
              </a:spcBef>
              <a:spcAft>
                <a:spcPts val="300"/>
              </a:spcAft>
            </a:pPr>
            <a:r>
              <a:rPr sz="1500" b="0" i="0">
                <a:solidFill>
                  <a:srgbClr val="201F1E"/>
                </a:solidFill>
                <a:latin typeface="Segoe UI"/>
              </a:rPr>
              <a:t>–  Cosmos BYO store + IaC — done (keyless, serverless, /userId)</a:t>
            </a:r>
          </a:p>
          <a:p>
            <a:pPr algn="l">
              <a:spcBef>
                <a:spcPts val="0"/>
              </a:spcBef>
              <a:spcAft>
                <a:spcPts val="300"/>
              </a:spcAft>
            </a:pPr>
            <a:r>
              <a:rPr sz="1500" b="0" i="0">
                <a:solidFill>
                  <a:srgbClr val="201F1E"/>
                </a:solidFill>
                <a:latin typeface="Segoe UI"/>
              </a:rPr>
              <a:t>–  Foundry-managed Memory — done (embedding + preview + MI role)</a:t>
            </a:r>
          </a:p>
          <a:p>
            <a:pPr algn="l">
              <a:spcBef>
                <a:spcPts val="0"/>
              </a:spcBef>
              <a:spcAft>
                <a:spcPts val="300"/>
              </a:spcAft>
            </a:pPr>
            <a:r>
              <a:rPr sz="1500" b="0" i="0">
                <a:solidFill>
                  <a:srgbClr val="201F1E"/>
                </a:solidFill>
                <a:latin typeface="Segoe UI"/>
              </a:rPr>
              <a:t>–  Shared AI Search knowledge tier + Python parity</a:t>
            </a:r>
          </a:p>
          <a:p>
            <a:pPr algn="l">
              <a:spcBef>
                <a:spcPts val="400"/>
              </a:spcBef>
              <a:spcAft>
                <a:spcPts val="500"/>
              </a:spcAft>
            </a:pPr>
            <a:r>
              <a:rPr sz="1800" b="1" i="0">
                <a:solidFill>
                  <a:srgbClr val="243A5E"/>
                </a:solidFill>
                <a:latin typeface="Segoe UI"/>
              </a:rPr>
              <a:t>■  Take-away</a:t>
            </a:r>
          </a:p>
          <a:p>
            <a:pPr algn="l">
              <a:spcBef>
                <a:spcPts val="0"/>
              </a:spcBef>
              <a:spcAft>
                <a:spcPts val="300"/>
              </a:spcAft>
            </a:pPr>
            <a:r>
              <a:rPr sz="1500" b="0" i="0">
                <a:solidFill>
                  <a:srgbClr val="201F1E"/>
                </a:solidFill>
                <a:latin typeface="Segoe UI"/>
              </a:rPr>
              <a:t>–  Memory is a host concern — add it on seams, not rewrites</a:t>
            </a:r>
          </a:p>
          <a:p>
            <a:pPr algn="l">
              <a:spcBef>
                <a:spcPts val="400"/>
              </a:spcBef>
              <a:spcAft>
                <a:spcPts val="500"/>
              </a:spcAft>
            </a:pPr>
            <a:r>
              <a:rPr sz="1800" b="1" i="0">
                <a:solidFill>
                  <a:srgbClr val="243A5E"/>
                </a:solidFill>
                <a:latin typeface="Segoe UI"/>
              </a:rPr>
              <a:t>■  github.com/bradrlaw/agent-modernization-workshops</a:t>
            </a:r>
          </a:p>
          <a:p>
            <a:pPr algn="l">
              <a:spcBef>
                <a:spcPts val="0"/>
              </a:spcBef>
              <a:spcAft>
                <a:spcPts val="300"/>
              </a:spcAft>
            </a:pPr>
            <a:r>
              <a:rPr sz="1500" b="0" i="0">
                <a:solidFill>
                  <a:srgbClr val="201F1E"/>
                </a:solidFill>
                <a:latin typeface="Segoe UI"/>
              </a:rPr>
              <a:t>–  Brad.Lawrence@microsoft.com</a:t>
            </a:r>
          </a:p>
        </p:txBody>
      </p:sp>
      <p:sp>
        <p:nvSpPr>
          <p:cNvPr id="8" name="Rectangle 7"/>
          <p:cNvSpPr/>
          <p:nvPr/>
        </p:nvSpPr>
        <p:spPr>
          <a:xfrm>
            <a:off x="0" y="6601968"/>
            <a:ext cx="12192000"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611112"/>
            <a:ext cx="8229600" cy="228600"/>
          </a:xfrm>
          <a:prstGeom prst="rect">
            <a:avLst/>
          </a:prstGeom>
          <a:noFill/>
        </p:spPr>
        <p:txBody>
          <a:bodyPr wrap="square" anchor="ctr" lIns="0" rIns="0" tIns="0" bIns="0">
            <a:spAutoFit/>
          </a:bodyPr>
          <a:lstStyle/>
          <a:p>
            <a:pPr algn="l"/>
            <a:r>
              <a:rPr sz="900" b="0" i="0">
                <a:solidFill>
                  <a:srgbClr val="605E5C"/>
                </a:solidFill>
                <a:latin typeface="Segoe UI"/>
              </a:rPr>
              <a:t>Agent Modernization Workshops — Lab 06: Agent Memory Strategies   |   Wrap</a:t>
            </a:r>
          </a:p>
        </p:txBody>
      </p:sp>
      <p:sp>
        <p:nvSpPr>
          <p:cNvPr id="10" name="TextBox 9"/>
          <p:cNvSpPr txBox="1"/>
          <p:nvPr/>
        </p:nvSpPr>
        <p:spPr>
          <a:xfrm>
            <a:off x="11003280" y="6611112"/>
            <a:ext cx="731520" cy="228600"/>
          </a:xfrm>
          <a:prstGeom prst="rect">
            <a:avLst/>
          </a:prstGeom>
          <a:noFill/>
        </p:spPr>
        <p:txBody>
          <a:bodyPr wrap="square" anchor="ctr" lIns="0" rIns="0" tIns="0" bIns="0">
            <a:spAutoFit/>
          </a:bodyPr>
          <a:lstStyle/>
          <a:p>
            <a:pPr algn="r"/>
            <a:r>
              <a:rPr sz="900" b="1" i="0">
                <a:solidFill>
                  <a:srgbClr val="605E5C"/>
                </a:solidFill>
                <a:latin typeface="Segoe U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