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7322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Lab 07 of the Agent Modernization Workshops. The through-line: the earlier labs got agents WORKING; this lab makes them PRODUCTION-READY and TRUSTWORTHY. Three ideas to land: (1) agents fail differently than apps, so 'it ran' isn't enough; (2) encode domain policy as deterministic evaluators you can gate every PR on offline — free and instant; (3) close the loop with tracing, dashboards, and red teaming. Everything has Python AND .NET parity and is grounded in the Lab 03 banking agent. Budget ~35 min: ~15 concepts, ~15 live demo, ~5 wrap.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Keep concepts tight so there's room for the demo — the offline gate and the tracing walk are the heart of it. Two explicit DEMO beats are flagged here and carry DEMO bands on their slides: the offline quality gate (fully offline, deterministic, the reliable one) and OpenTelemetry tracing into the Foundry Tracing tab (needs Azure). Tell the room the whole harness is Python + .NET and reuses the Lab 03 agent as the system under test.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'why.' An agent is non-deterministic and calls tools, so classic APM (latency, exceptions) misses the failures that matter: a confidently wrong answer, an ungrounded claim, a leaked account number, a missing disclosure. All of those return HTTP 200. The rest of the lab is the toolkit to catch them: deterministic policy gates, LLM-judge quality evals, traces, dashboards, and adversarial scans.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mental model for the whole lab. Three pillars, one loop. Tracing is the 'why' (the OpenTelemetry spans). Evaluation is the 'was it good' (rule-based + LLM-judge). Monitoring is the 'trend' (dashboards and alerts). The power is in connecting them — write the eval run ID and scores back onto the trace so 'what happened' and 'was it good' live together during an incident.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can't improve what you don't measure. Start by agreeing targets with the business — they're examples here, set your own. Key distinction that sets up the next slide: general quality metrics (groundedness, relevance...) tell you if an answer is GOOD, but they don't know your DOMAIN POLICY. In banking, 'no full account numbers' and 'loan quotes need a disclosure' are pass/fail rules, not 1-5 scores — so we encode them as deterministic evaluators.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complementary tools. LLM-judges are flexible but non-deterministic and cost tokens — perfect for quality/drift. Domain rules are deterministic: PII leakage (no 13-19 digit PANs or SSNs — last-4 only), currency format ($ + exactly two decimals), required disclosure (any loan quote needs 'estimate'/'subject to change'). Because they're pure functions they unit-test and gate PRs with zero Azure. DEMO: run the unit tests in both stacks — same rules, both green. Then slide 7 runs them as a gate.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reliable, offline, deterministic demo — lead with it. Run the clean sample: GATE PASSED, exit 0. Then tamper ONE field in a copied row to show it catch a breach — e.g. change an amount to '$3842.5' (currency) or drop the disclosure from the loan quote — re-run: GATE FAILED, exit 1. That non-zero exit is what fails a CI build. The point: policy violations are caught before merge, for free, with no cloud dependency. The exact steps are in DEMO-SCRIPT.md.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Orient the room on what they're about to see. The harness doesn't invent a toy — it evaluates the SAME banking agent from Lab 03, so this is how you'd actually test what you built. Synthetic data only, safe to record. Emphasize the offline/Azure split: the gate + tests need nothing cloud (great for CI and for this demo); generation, LLM-judge, tracing, and red teaming need a Foundry project. Parity is full except AI red teaming (Python-only) — covered later.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stop at one offline dataset. Evaluation is a pipeline across the lifecycle: cheap deterministic checks on every PR; a fuller regression nightly against a baseline so you catch drift; sampled, redacted production traffic scored online with scores flowing back to App Insights; and a human review queue that turns real failures into new regression cases. The same SDK adds agent-aware evaluators — did it resolve intent, call the right tool, adhere to the task — beyond generic text quality.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Tracing is the backbone — standardized on OpenTelemetry's GenAI semantic conventions (gen_ai.* attributes) so Foundry, Copilot Studio, and third-party frameworks all land in one place: Application Insights, surfaced in the Foundry Tracing tab and the Azure Monitor Agents (preview) view. Add your own spans so routing decisions show up, and correlate trace IDs with eval scores. Privacy: message-content capture is OFF by default; only enable in non-prod with approval. DEMO: run the trace task, then open the Tracing tab (1-2 min lag).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Turn signals into a workbook and alerts. These six tiles are the minimum for an agent: latency percentiles, token/cost, tool reliability, errors, throttling, and the quality/safety scores from your evals. The repo ships starter KQL in queries/*.kql you can paste into a workbook. Caveat worth saying out loud: the exact gen_ai.* attributes depend on your SDK/exporter/sampling — inspect a recent trace and adjust the query to match your telemetry. DEMO (portal): open the workbook, show one or two tiles live.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Evaluation isn't only 'is it accurate' — it's 'is it safe under attack.' The AI Red Teaming Agent (preview, PyRIT-based) auto-generates adversarial prompts across risk categories and scans a model or app callback. Treat scan results as release evidence. Be honest about the one gap in our otherwise full parity: red teaming is Python-only today. A .NET team still gets full coverage — the scan hits your deployed agent over HTTP regardless of its language, so run the Python scanner as a CI/release step, or scan from the portal.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moves prompts, context, and responses into logs — in a regulated domain that's a data-governance decision, not a default. Keep content capture off unless approved; redact PII at the app boundary; split dev/prod via configuration; lock down who can read traces. Tie it back: the PII-leakage evaluator is defense in depth — if a full PAN ever shows up in a response, the gate fails before it ships.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Reassure the pro-code audience: this isn't a Python-only story. Custom evaluators, the offline gate, LLM-judge quality evals, response generation, and OpenTelemetry export are all first-class in BOTH stacks — .NET via Microsoft.Extensions.AI.Evaluation, Python via azure-ai-evaluation. The single gap is AI red teaming (PyRIT is Python-only). It doesn't block a .NET team: the scanner targets the deployed agent over HTTP, so run it as a CI step regardless of the agent's language.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Currency check so nobody is surprised in production. Call out what's preview (red teaming, several agent-specific evaluators, the Azure Monitor Agents view) and tell them to verify region + suitability before relying on it. The durable bets are the two evaluation libraries (azure-ai-evaluation for Python, Microsoft.Extensions.AI.Evaluation for .NET) on top of OpenTelemetry GenAI conventions. And for the low-code side, point to the Copilot Studio Evaluation Framework — same designed+observed philosophy, exported to the Copilot Studio Evaluation tool or the Power CAT Kit.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plane. The takeaway in one line: make quality measurable and make it a gate — deterministic policy checks on every PR, LLM-judge quality and safety continuously, and tracing + dashboards + red teaming to close the loop, all with .NET/Python parity. Point them at the repo and the DEMO-SCRIPT.md run book, and tee up Lab 08 (Knowledge, Tools &amp; Skills on Foundry IQ).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703320"/>
            <a:ext cx="12191695" cy="7315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34440"/>
            <a:ext cx="10058400" cy="457200"/>
          </a:xfrm>
          <a:prstGeom prst="rect">
            <a:avLst/>
          </a:prstGeom>
          <a:noFill/>
        </p:spPr>
        <p:txBody>
          <a:bodyPr wrap="square" lIns="0" tIns="0" rIns="0" bIns="0" anchor="t">
            <a:spAutoFit/>
          </a:bodyPr>
          <a:lstStyle/>
          <a:p>
            <a:pPr algn="l"/>
            <a:r>
              <a:rPr sz="1500" b="1">
                <a:solidFill>
                  <a:srgbClr val="00B7C3"/>
                </a:solidFill>
                <a:latin typeface="Segoe UI"/>
              </a:rPr>
              <a:t>AGENT MODERNIZATION WORKSHOPS  ·  LAB 07</a:t>
            </a:r>
          </a:p>
        </p:txBody>
      </p:sp>
      <p:sp>
        <p:nvSpPr>
          <p:cNvPr id="5" name="TextBox 4"/>
          <p:cNvSpPr txBox="1"/>
          <p:nvPr/>
        </p:nvSpPr>
        <p:spPr>
          <a:xfrm>
            <a:off x="822960" y="1783080"/>
            <a:ext cx="10424160" cy="1783080"/>
          </a:xfrm>
          <a:prstGeom prst="rect">
            <a:avLst/>
          </a:prstGeom>
          <a:noFill/>
        </p:spPr>
        <p:txBody>
          <a:bodyPr wrap="square" lIns="0" tIns="0" rIns="0" bIns="0" anchor="t">
            <a:spAutoFit/>
          </a:bodyPr>
          <a:lstStyle/>
          <a:p>
            <a:pPr algn="l">
              <a:spcAft>
                <a:spcPts val="600"/>
              </a:spcAft>
            </a:pPr>
            <a:r>
              <a:rPr sz="4600" b="1">
                <a:solidFill>
                  <a:srgbClr val="FFFFFF"/>
                </a:solidFill>
                <a:latin typeface="Segoe UI"/>
              </a:rPr>
              <a:t>Testing, Evaluation &amp; Observability</a:t>
            </a:r>
          </a:p>
          <a:p>
            <a:pPr algn="l"/>
            <a:r>
              <a:rPr sz="2200" b="0">
                <a:solidFill>
                  <a:srgbClr val="BFD7F0"/>
                </a:solidFill>
                <a:latin typeface="Segoe UI"/>
              </a:rPr>
              <a:t>Make agents production-ready — quality gates, evaluations, and enterprise monitoring</a:t>
            </a:r>
          </a:p>
        </p:txBody>
      </p:sp>
      <p:sp>
        <p:nvSpPr>
          <p:cNvPr id="6" name="TextBox 5"/>
          <p:cNvSpPr txBox="1"/>
          <p:nvPr/>
        </p:nvSpPr>
        <p:spPr>
          <a:xfrm>
            <a:off x="822960" y="3977639"/>
            <a:ext cx="10607040" cy="868680"/>
          </a:xfrm>
          <a:prstGeom prst="rect">
            <a:avLst/>
          </a:prstGeom>
          <a:noFill/>
        </p:spPr>
        <p:txBody>
          <a:bodyPr wrap="square" lIns="0" tIns="0" rIns="0" bIns="0" anchor="t">
            <a:spAutoFit/>
          </a:bodyPr>
          <a:lstStyle/>
          <a:p>
            <a:pPr algn="l">
              <a:spcAft>
                <a:spcPts val="400"/>
              </a:spcAft>
            </a:pPr>
            <a:r>
              <a:rPr sz="1500" b="0">
                <a:solidFill>
                  <a:srgbClr val="FFFFFF"/>
                </a:solidFill>
                <a:latin typeface="Segoe UI"/>
              </a:rPr>
              <a:t>Offline rule-based gates   ·   LLM-judge quality evals   ·   OpenTelemetry tracing   ·   dashboards &amp; red teaming</a:t>
            </a:r>
          </a:p>
          <a:p>
            <a:pPr algn="l"/>
            <a:r>
              <a:rPr sz="1500" b="0">
                <a:solidFill>
                  <a:srgbClr val="BFD7F0"/>
                </a:solidFill>
                <a:latin typeface="Segoe UI"/>
              </a:rPr>
              <a:t>Python + .NET parity, grounded in the Lab 03 banking agent</a:t>
            </a:r>
          </a:p>
        </p:txBody>
      </p:sp>
      <p:sp>
        <p:nvSpPr>
          <p:cNvPr id="7" name="TextBox 6"/>
          <p:cNvSpPr txBox="1"/>
          <p:nvPr/>
        </p:nvSpPr>
        <p:spPr>
          <a:xfrm>
            <a:off x="822960" y="5074920"/>
            <a:ext cx="10058400" cy="548640"/>
          </a:xfrm>
          <a:prstGeom prst="rect">
            <a:avLst/>
          </a:prstGeom>
          <a:noFill/>
        </p:spPr>
        <p:txBody>
          <a:bodyPr wrap="square" lIns="0" tIns="0" rIns="0" bIns="0" anchor="t">
            <a:spAutoFit/>
          </a:bodyPr>
          <a:lstStyle/>
          <a:p>
            <a:pPr algn="l"/>
            <a:r>
              <a:rPr sz="1400" b="1">
                <a:solidFill>
                  <a:srgbClr val="00B7C3"/>
                </a:solidFill>
                <a:latin typeface="Segoe UI"/>
              </a:rPr>
              <a:t>Brad Lawrence   ·   Brad.Lawrence@microsoft.com   ·   Microsoft ISD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AGENDA</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What we'll cover (≈35 min)</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2</a:t>
            </a:r>
          </a:p>
        </p:txBody>
      </p:sp>
      <p:sp>
        <p:nvSpPr>
          <p:cNvPr id="9" name="TextBox 8"/>
          <p:cNvSpPr txBox="1"/>
          <p:nvPr/>
        </p:nvSpPr>
        <p:spPr>
          <a:xfrm>
            <a:off x="548640" y="1325880"/>
            <a:ext cx="11064240" cy="4572000"/>
          </a:xfrm>
          <a:prstGeom prst="rect">
            <a:avLst/>
          </a:prstGeom>
          <a:noFill/>
        </p:spPr>
        <p:txBody>
          <a:bodyPr wrap="square" lIns="0" tIns="0" rIns="0" bIns="0" anchor="t">
            <a:spAutoFit/>
          </a:bodyPr>
          <a:lstStyle/>
          <a:p>
            <a:pPr algn="l">
              <a:lnSpc>
                <a:spcPct val="105000"/>
              </a:lnSpc>
              <a:spcBef>
                <a:spcPts val="1000"/>
              </a:spcBef>
              <a:spcAft>
                <a:spcPts val="300"/>
              </a:spcAft>
            </a:pPr>
            <a:r>
              <a:rPr sz="1800" b="1" dirty="0">
                <a:solidFill>
                  <a:srgbClr val="243A5E"/>
                </a:solidFill>
                <a:latin typeface="Segoe UI"/>
              </a:rPr>
              <a:t>■  Why agents need a different observability model</a:t>
            </a:r>
          </a:p>
          <a:p>
            <a:pPr algn="l">
              <a:lnSpc>
                <a:spcPct val="105000"/>
              </a:lnSpc>
              <a:spcBef>
                <a:spcPts val="1000"/>
              </a:spcBef>
              <a:spcAft>
                <a:spcPts val="300"/>
              </a:spcAft>
            </a:pPr>
            <a:r>
              <a:rPr sz="1800" b="1" dirty="0">
                <a:solidFill>
                  <a:srgbClr val="243A5E"/>
                </a:solidFill>
                <a:latin typeface="Segoe UI"/>
              </a:rPr>
              <a:t>■  The three pillars: trace → evaluate → monitor</a:t>
            </a:r>
          </a:p>
          <a:p>
            <a:pPr algn="l">
              <a:lnSpc>
                <a:spcPct val="105000"/>
              </a:lnSpc>
              <a:spcBef>
                <a:spcPts val="1000"/>
              </a:spcBef>
              <a:spcAft>
                <a:spcPts val="300"/>
              </a:spcAft>
            </a:pPr>
            <a:r>
              <a:rPr sz="1800" b="1" dirty="0">
                <a:solidFill>
                  <a:srgbClr val="243A5E"/>
                </a:solidFill>
                <a:latin typeface="Segoe UI"/>
              </a:rPr>
              <a:t>■  Define quality metrics — and domain policy</a:t>
            </a:r>
          </a:p>
          <a:p>
            <a:pPr algn="l">
              <a:lnSpc>
                <a:spcPct val="105000"/>
              </a:lnSpc>
              <a:spcBef>
                <a:spcPts val="1000"/>
              </a:spcBef>
              <a:spcAft>
                <a:spcPts val="300"/>
              </a:spcAft>
            </a:pPr>
            <a:r>
              <a:rPr sz="1800" b="1" dirty="0">
                <a:solidFill>
                  <a:srgbClr val="243A5E"/>
                </a:solidFill>
                <a:latin typeface="Segoe UI"/>
              </a:rPr>
              <a:t>■  Custom deterministic evaluators + the offline CI quality gate   —  demo</a:t>
            </a:r>
          </a:p>
          <a:p>
            <a:pPr algn="l">
              <a:lnSpc>
                <a:spcPct val="105000"/>
              </a:lnSpc>
              <a:spcBef>
                <a:spcPts val="1000"/>
              </a:spcBef>
              <a:spcAft>
                <a:spcPts val="300"/>
              </a:spcAft>
            </a:pPr>
            <a:r>
              <a:rPr sz="1800" b="1" dirty="0">
                <a:solidFill>
                  <a:srgbClr val="243A5E"/>
                </a:solidFill>
                <a:latin typeface="Segoe UI"/>
              </a:rPr>
              <a:t>■  Continuous &amp; online evaluation with LLM-as-judge</a:t>
            </a:r>
          </a:p>
          <a:p>
            <a:pPr algn="l">
              <a:lnSpc>
                <a:spcPct val="105000"/>
              </a:lnSpc>
              <a:spcBef>
                <a:spcPts val="1000"/>
              </a:spcBef>
              <a:spcAft>
                <a:spcPts val="300"/>
              </a:spcAft>
            </a:pPr>
            <a:r>
              <a:rPr sz="1800" b="1" dirty="0">
                <a:solidFill>
                  <a:srgbClr val="243A5E"/>
                </a:solidFill>
                <a:latin typeface="Segoe UI"/>
              </a:rPr>
              <a:t>■  Tracing with </a:t>
            </a:r>
            <a:r>
              <a:rPr sz="1800" b="1" dirty="0" err="1">
                <a:solidFill>
                  <a:srgbClr val="243A5E"/>
                </a:solidFill>
                <a:latin typeface="Segoe UI"/>
              </a:rPr>
              <a:t>OpenTelemetry</a:t>
            </a:r>
            <a:r>
              <a:rPr sz="1800" b="1" dirty="0">
                <a:solidFill>
                  <a:srgbClr val="243A5E"/>
                </a:solidFill>
                <a:latin typeface="Segoe UI"/>
              </a:rPr>
              <a:t> GenAI → Azure Monitor   —  demo</a:t>
            </a:r>
          </a:p>
          <a:p>
            <a:pPr algn="l">
              <a:lnSpc>
                <a:spcPct val="105000"/>
              </a:lnSpc>
              <a:spcBef>
                <a:spcPts val="1000"/>
              </a:spcBef>
              <a:spcAft>
                <a:spcPts val="300"/>
              </a:spcAft>
            </a:pPr>
            <a:r>
              <a:rPr sz="1800" b="1" dirty="0">
                <a:solidFill>
                  <a:srgbClr val="243A5E"/>
                </a:solidFill>
                <a:latin typeface="Segoe UI"/>
              </a:rPr>
              <a:t>■  Dashboards, alerts, and AI red teaming</a:t>
            </a:r>
          </a:p>
          <a:p>
            <a:pPr algn="l">
              <a:lnSpc>
                <a:spcPct val="105000"/>
              </a:lnSpc>
              <a:spcBef>
                <a:spcPts val="1000"/>
              </a:spcBef>
              <a:spcAft>
                <a:spcPts val="300"/>
              </a:spcAft>
            </a:pPr>
            <a:r>
              <a:rPr sz="1800" b="1" dirty="0">
                <a:solidFill>
                  <a:srgbClr val="243A5E"/>
                </a:solidFill>
                <a:latin typeface="Segoe UI"/>
              </a:rPr>
              <a:t>■  Governance, .NET / Python parity, and what's still preview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THE PROBLEM</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Agents fail differently than apps</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3</a:t>
            </a:r>
          </a:p>
        </p:txBody>
      </p:sp>
      <p:sp>
        <p:nvSpPr>
          <p:cNvPr id="9" name="TextBox 8"/>
          <p:cNvSpPr txBox="1"/>
          <p:nvPr/>
        </p:nvSpPr>
        <p:spPr>
          <a:xfrm>
            <a:off x="502920" y="1325880"/>
            <a:ext cx="5394960" cy="420624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Traditional APM isn't enough</a:t>
            </a:r>
          </a:p>
          <a:p>
            <a:pPr algn="l">
              <a:lnSpc>
                <a:spcPct val="105000"/>
              </a:lnSpc>
              <a:spcBef>
                <a:spcPts val="0"/>
              </a:spcBef>
              <a:spcAft>
                <a:spcPts val="300"/>
              </a:spcAft>
            </a:pPr>
            <a:r>
              <a:rPr sz="1500" b="0">
                <a:solidFill>
                  <a:srgbClr val="201F1E"/>
                </a:solidFill>
                <a:latin typeface="Segoe UI"/>
              </a:rPr>
              <a:t>–  Shows latency, exceptions, and dependencies</a:t>
            </a:r>
          </a:p>
          <a:p>
            <a:pPr algn="l">
              <a:lnSpc>
                <a:spcPct val="105000"/>
              </a:lnSpc>
              <a:spcBef>
                <a:spcPts val="0"/>
              </a:spcBef>
              <a:spcAft>
                <a:spcPts val="300"/>
              </a:spcAft>
            </a:pPr>
            <a:r>
              <a:rPr sz="1500" b="0">
                <a:solidFill>
                  <a:srgbClr val="201F1E"/>
                </a:solidFill>
                <a:latin typeface="Segoe UI"/>
              </a:rPr>
              <a:t>–  “It ran” is not the same as “it was right”</a:t>
            </a:r>
          </a:p>
          <a:p>
            <a:pPr algn="l">
              <a:lnSpc>
                <a:spcPct val="105000"/>
              </a:lnSpc>
              <a:spcBef>
                <a:spcPts val="0"/>
              </a:spcBef>
              <a:spcAft>
                <a:spcPts val="300"/>
              </a:spcAft>
            </a:pPr>
            <a:r>
              <a:rPr sz="1500" b="0">
                <a:solidFill>
                  <a:srgbClr val="201F1E"/>
                </a:solidFill>
                <a:latin typeface="Segoe UI"/>
              </a:rPr>
              <a:t>–  Dashboards stay green while answers go wrong</a:t>
            </a:r>
          </a:p>
          <a:p>
            <a:pPr algn="l">
              <a:lnSpc>
                <a:spcPct val="105000"/>
              </a:lnSpc>
              <a:spcBef>
                <a:spcPts val="0"/>
              </a:spcBef>
              <a:spcAft>
                <a:spcPts val="300"/>
              </a:spcAft>
            </a:pPr>
            <a:r>
              <a:rPr sz="1500" b="0">
                <a:solidFill>
                  <a:srgbClr val="201F1E"/>
                </a:solidFill>
                <a:latin typeface="Segoe UI"/>
              </a:rPr>
              <a:t>–  Uptime says nothing about groundedness or safety</a:t>
            </a:r>
          </a:p>
        </p:txBody>
      </p:sp>
      <p:sp>
        <p:nvSpPr>
          <p:cNvPr id="10" name="TextBox 9"/>
          <p:cNvSpPr txBox="1"/>
          <p:nvPr/>
        </p:nvSpPr>
        <p:spPr>
          <a:xfrm>
            <a:off x="6080760" y="1325880"/>
            <a:ext cx="5577840" cy="420624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Agents add new failure modes</a:t>
            </a:r>
          </a:p>
          <a:p>
            <a:pPr algn="l">
              <a:lnSpc>
                <a:spcPct val="105000"/>
              </a:lnSpc>
              <a:spcBef>
                <a:spcPts val="0"/>
              </a:spcBef>
              <a:spcAft>
                <a:spcPts val="300"/>
              </a:spcAft>
            </a:pPr>
            <a:r>
              <a:rPr sz="1500" b="0">
                <a:solidFill>
                  <a:srgbClr val="201F1E"/>
                </a:solidFill>
                <a:latin typeface="Segoe UI"/>
              </a:rPr>
              <a:t>–  Non-deterministic responses — same input, different output</a:t>
            </a:r>
          </a:p>
          <a:p>
            <a:pPr algn="l">
              <a:lnSpc>
                <a:spcPct val="105000"/>
              </a:lnSpc>
              <a:spcBef>
                <a:spcPts val="0"/>
              </a:spcBef>
              <a:spcAft>
                <a:spcPts val="300"/>
              </a:spcAft>
            </a:pPr>
            <a:r>
              <a:rPr sz="1500" b="0">
                <a:solidFill>
                  <a:srgbClr val="201F1E"/>
                </a:solidFill>
                <a:latin typeface="Segoe UI"/>
              </a:rPr>
              <a:t>–  Multi-step tool calls that partially fail</a:t>
            </a:r>
          </a:p>
          <a:p>
            <a:pPr algn="l">
              <a:lnSpc>
                <a:spcPct val="105000"/>
              </a:lnSpc>
              <a:spcBef>
                <a:spcPts val="0"/>
              </a:spcBef>
              <a:spcAft>
                <a:spcPts val="300"/>
              </a:spcAft>
            </a:pPr>
            <a:r>
              <a:rPr sz="1500" b="0">
                <a:solidFill>
                  <a:srgbClr val="201F1E"/>
                </a:solidFill>
                <a:latin typeface="Segoe UI"/>
              </a:rPr>
              <a:t>–  Token cost and quality drift over time</a:t>
            </a:r>
          </a:p>
          <a:p>
            <a:pPr algn="l">
              <a:lnSpc>
                <a:spcPct val="105000"/>
              </a:lnSpc>
              <a:spcBef>
                <a:spcPts val="0"/>
              </a:spcBef>
              <a:spcAft>
                <a:spcPts val="300"/>
              </a:spcAft>
            </a:pPr>
            <a:r>
              <a:rPr sz="1500" b="0">
                <a:solidFill>
                  <a:srgbClr val="201F1E"/>
                </a:solidFill>
                <a:latin typeface="Segoe UI"/>
              </a:rPr>
              <a:t>–  A prompt or context change silently regresses quality</a:t>
            </a:r>
          </a:p>
        </p:txBody>
      </p:sp>
      <p:sp>
        <p:nvSpPr>
          <p:cNvPr id="11" name="TextBox 10"/>
          <p:cNvSpPr txBox="1"/>
          <p:nvPr/>
        </p:nvSpPr>
        <p:spPr>
          <a:xfrm>
            <a:off x="502920" y="5532120"/>
            <a:ext cx="11155680" cy="822960"/>
          </a:xfrm>
          <a:prstGeom prst="rect">
            <a:avLst/>
          </a:prstGeom>
          <a:noFill/>
        </p:spPr>
        <p:txBody>
          <a:bodyPr wrap="square" lIns="0" tIns="0" rIns="0" bIns="0" anchor="t">
            <a:spAutoFit/>
          </a:bodyPr>
          <a:lstStyle/>
          <a:p>
            <a:pPr algn="l">
              <a:lnSpc>
                <a:spcPct val="105000"/>
              </a:lnSpc>
              <a:spcBef>
                <a:spcPts val="800"/>
              </a:spcBef>
              <a:spcAft>
                <a:spcPts val="0"/>
              </a:spcAft>
            </a:pPr>
            <a:r>
              <a:rPr sz="1400" b="1">
                <a:solidFill>
                  <a:srgbClr val="243A5E"/>
                </a:solidFill>
                <a:latin typeface="Segoe UI"/>
              </a:rPr>
              <a:t>You need to know not just whether the agent ran — but whether the answer was good, grounded, and safe. That takes tracing + evaluation +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Three pillars of agent observability</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4</a:t>
            </a:r>
          </a:p>
        </p:txBody>
      </p:sp>
      <p:sp>
        <p:nvSpPr>
          <p:cNvPr id="9" name="Rounded Rectangle 8"/>
          <p:cNvSpPr/>
          <p:nvPr/>
        </p:nvSpPr>
        <p:spPr>
          <a:xfrm>
            <a:off x="960120" y="1508760"/>
            <a:ext cx="2926080"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Tracing</a:t>
            </a:r>
          </a:p>
          <a:p>
            <a:pPr algn="ctr"/>
            <a:r>
              <a:rPr sz="1050" b="0">
                <a:solidFill>
                  <a:srgbClr val="605E5C"/>
                </a:solidFill>
                <a:latin typeface="Segoe UI"/>
              </a:rPr>
              <a:t>what happened</a:t>
            </a:r>
          </a:p>
        </p:txBody>
      </p:sp>
      <p:sp>
        <p:nvSpPr>
          <p:cNvPr id="10" name="Rectangle 9"/>
          <p:cNvSpPr/>
          <p:nvPr/>
        </p:nvSpPr>
        <p:spPr>
          <a:xfrm>
            <a:off x="3995928" y="1911095"/>
            <a:ext cx="365760" cy="10972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26280" y="1508760"/>
            <a:ext cx="2926080"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Evaluation</a:t>
            </a:r>
          </a:p>
          <a:p>
            <a:pPr algn="ctr"/>
            <a:r>
              <a:rPr sz="1050" b="0">
                <a:solidFill>
                  <a:srgbClr val="605E5C"/>
                </a:solidFill>
                <a:latin typeface="Segoe UI"/>
              </a:rPr>
              <a:t>was it good?</a:t>
            </a:r>
          </a:p>
        </p:txBody>
      </p:sp>
      <p:sp>
        <p:nvSpPr>
          <p:cNvPr id="12" name="Rectangle 11"/>
          <p:cNvSpPr/>
          <p:nvPr/>
        </p:nvSpPr>
        <p:spPr>
          <a:xfrm>
            <a:off x="7562088" y="1911095"/>
            <a:ext cx="365760" cy="10972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92440" y="1508760"/>
            <a:ext cx="2926080"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Monitoring</a:t>
            </a:r>
          </a:p>
          <a:p>
            <a:pPr algn="ctr"/>
            <a:r>
              <a:rPr sz="1050" b="0">
                <a:solidFill>
                  <a:srgbClr val="605E5C"/>
                </a:solidFill>
                <a:latin typeface="Segoe UI"/>
              </a:rPr>
              <a:t>how is the trend?</a:t>
            </a:r>
          </a:p>
        </p:txBody>
      </p:sp>
      <p:sp>
        <p:nvSpPr>
          <p:cNvPr id="14" name="TextBox 13"/>
          <p:cNvSpPr txBox="1"/>
          <p:nvPr/>
        </p:nvSpPr>
        <p:spPr>
          <a:xfrm>
            <a:off x="502920" y="2560320"/>
            <a:ext cx="11155680" cy="365760"/>
          </a:xfrm>
          <a:prstGeom prst="rect">
            <a:avLst/>
          </a:prstGeom>
          <a:noFill/>
        </p:spPr>
        <p:txBody>
          <a:bodyPr wrap="square" lIns="0" tIns="0" rIns="0" bIns="0" anchor="t">
            <a:spAutoFit/>
          </a:bodyPr>
          <a:lstStyle/>
          <a:p>
            <a:pPr algn="l">
              <a:lnSpc>
                <a:spcPct val="105000"/>
              </a:lnSpc>
              <a:spcBef>
                <a:spcPts val="800"/>
              </a:spcBef>
              <a:spcAft>
                <a:spcPts val="0"/>
              </a:spcAft>
            </a:pPr>
            <a:r>
              <a:rPr sz="1300" b="0">
                <a:solidFill>
                  <a:srgbClr val="605E5C"/>
                </a:solidFill>
                <a:latin typeface="Segoe UI"/>
              </a:rPr>
              <a:t>A feedback loop — trace what happened → evaluate whether it was good → monitor the trend → feed fixes back in.</a:t>
            </a:r>
          </a:p>
        </p:txBody>
      </p:sp>
      <p:sp>
        <p:nvSpPr>
          <p:cNvPr id="15" name="TextBox 14"/>
          <p:cNvSpPr txBox="1"/>
          <p:nvPr/>
        </p:nvSpPr>
        <p:spPr>
          <a:xfrm>
            <a:off x="502920" y="3063240"/>
            <a:ext cx="11155680" cy="274320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Tracing — spans for agent runs, model calls, tool invocations, retrieval</a:t>
            </a:r>
          </a:p>
          <a:p>
            <a:pPr algn="l">
              <a:lnSpc>
                <a:spcPct val="105000"/>
              </a:lnSpc>
              <a:spcBef>
                <a:spcPts val="0"/>
              </a:spcBef>
              <a:spcAft>
                <a:spcPts val="300"/>
              </a:spcAft>
            </a:pPr>
            <a:r>
              <a:rPr sz="1500" b="0">
                <a:solidFill>
                  <a:srgbClr val="201F1E"/>
                </a:solidFill>
                <a:latin typeface="Segoe UI"/>
              </a:rPr>
              <a:t>–  Explains WHY an answer changed, which tool failed, where cost/latency went</a:t>
            </a:r>
          </a:p>
          <a:p>
            <a:pPr algn="l">
              <a:lnSpc>
                <a:spcPct val="105000"/>
              </a:lnSpc>
              <a:spcBef>
                <a:spcPts val="1000"/>
              </a:spcBef>
              <a:spcAft>
                <a:spcPts val="300"/>
              </a:spcAft>
            </a:pPr>
            <a:r>
              <a:rPr sz="1800" b="1">
                <a:solidFill>
                  <a:srgbClr val="243A5E"/>
                </a:solidFill>
                <a:latin typeface="Segoe UI"/>
              </a:rPr>
              <a:t>■  Evaluation — groundedness, relevance, safety, task &amp; tool-call quality</a:t>
            </a:r>
          </a:p>
          <a:p>
            <a:pPr algn="l">
              <a:lnSpc>
                <a:spcPct val="105000"/>
              </a:lnSpc>
              <a:spcBef>
                <a:spcPts val="0"/>
              </a:spcBef>
              <a:spcAft>
                <a:spcPts val="300"/>
              </a:spcAft>
            </a:pPr>
            <a:r>
              <a:rPr sz="1500" b="0">
                <a:solidFill>
                  <a:srgbClr val="201F1E"/>
                </a:solidFill>
                <a:latin typeface="Segoe UI"/>
              </a:rPr>
              <a:t>–  Measures whether the answer was good and safe — not just that it returned</a:t>
            </a:r>
          </a:p>
          <a:p>
            <a:pPr algn="l">
              <a:lnSpc>
                <a:spcPct val="105000"/>
              </a:lnSpc>
              <a:spcBef>
                <a:spcPts val="1000"/>
              </a:spcBef>
              <a:spcAft>
                <a:spcPts val="300"/>
              </a:spcAft>
            </a:pPr>
            <a:r>
              <a:rPr sz="1800" b="1">
                <a:solidFill>
                  <a:srgbClr val="243A5E"/>
                </a:solidFill>
                <a:latin typeface="Segoe UI"/>
              </a:rPr>
              <a:t>■  Monitoring — latency, tokens, cost, errors, throttling, quality scores</a:t>
            </a:r>
          </a:p>
          <a:p>
            <a:pPr algn="l">
              <a:lnSpc>
                <a:spcPct val="105000"/>
              </a:lnSpc>
              <a:spcBef>
                <a:spcPts val="0"/>
              </a:spcBef>
              <a:spcAft>
                <a:spcPts val="300"/>
              </a:spcAft>
            </a:pPr>
            <a:r>
              <a:rPr sz="1500" b="0">
                <a:solidFill>
                  <a:srgbClr val="201F1E"/>
                </a:solidFill>
                <a:latin typeface="Segoe UI"/>
              </a:rPr>
              <a:t>–  Detects production regressions, drift, and operational incidents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Decide what “good” means — with targets</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5</a:t>
            </a:r>
          </a:p>
        </p:txBody>
      </p:sp>
      <p:graphicFrame>
        <p:nvGraphicFramePr>
          <p:cNvPr id="9" name="Table 8"/>
          <p:cNvGraphicFramePr>
            <a:graphicFrameLocks noGrp="1"/>
          </p:cNvGraphicFramePr>
          <p:nvPr>
            <p:extLst>
              <p:ext uri="{D42A27DB-BD31-4B8C-83A1-F6EECF244321}">
                <p14:modId xmlns:p14="http://schemas.microsoft.com/office/powerpoint/2010/main" val="1096287404"/>
              </p:ext>
            </p:extLst>
          </p:nvPr>
        </p:nvGraphicFramePr>
        <p:xfrm>
          <a:off x="502920" y="2302002"/>
          <a:ext cx="11183112" cy="1876200"/>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tblGrid>
              <a:tr h="184352">
                <a:tc>
                  <a:txBody>
                    <a:bodyPr/>
                    <a:lstStyle/>
                    <a:p>
                      <a:pPr algn="l"/>
                      <a:r>
                        <a:rPr sz="1250" b="1" dirty="0">
                          <a:solidFill>
                            <a:srgbClr val="FFFFFF"/>
                          </a:solidFill>
                          <a:latin typeface="Segoe UI"/>
                        </a:rPr>
                        <a:t>Metric</a:t>
                      </a:r>
                    </a:p>
                  </a:txBody>
                  <a:tcPr marR="73152" marT="27432" marB="27432" anchor="ctr">
                    <a:solidFill>
                      <a:srgbClr val="243A5E"/>
                    </a:solidFill>
                  </a:tcPr>
                </a:tc>
                <a:tc>
                  <a:txBody>
                    <a:bodyPr/>
                    <a:lstStyle/>
                    <a:p>
                      <a:pPr algn="l"/>
                      <a:r>
                        <a:rPr sz="1250" b="1" dirty="0">
                          <a:solidFill>
                            <a:srgbClr val="FFFFFF"/>
                          </a:solidFill>
                          <a:latin typeface="Segoe UI"/>
                        </a:rPr>
                        <a:t>What it asks</a:t>
                      </a:r>
                    </a:p>
                  </a:txBody>
                  <a:tcPr marR="73152" marT="27432" marB="27432" anchor="ctr">
                    <a:solidFill>
                      <a:srgbClr val="243A5E"/>
                    </a:solidFill>
                  </a:tcPr>
                </a:tc>
                <a:tc>
                  <a:txBody>
                    <a:bodyPr/>
                    <a:lstStyle/>
                    <a:p>
                      <a:pPr algn="l"/>
                      <a:r>
                        <a:rPr sz="1250" b="1">
                          <a:solidFill>
                            <a:srgbClr val="FFFFFF"/>
                          </a:solidFill>
                          <a:latin typeface="Segoe UI"/>
                        </a:rPr>
                        <a:t>Target</a:t>
                      </a:r>
                    </a:p>
                  </a:txBody>
                  <a:tcPr marR="73152" marT="27432" marB="27432" anchor="ctr">
                    <a:solidFill>
                      <a:srgbClr val="243A5E"/>
                    </a:solidFill>
                  </a:tcPr>
                </a:tc>
                <a:extLst>
                  <a:ext uri="{0D108BD9-81ED-4DB2-BD59-A6C34878D82A}">
                    <a16:rowId xmlns:a16="http://schemas.microsoft.com/office/drawing/2014/main" val="10000"/>
                  </a:ext>
                </a:extLst>
              </a:tr>
              <a:tr h="107454">
                <a:tc>
                  <a:txBody>
                    <a:bodyPr/>
                    <a:lstStyle/>
                    <a:p>
                      <a:pPr algn="l"/>
                      <a:r>
                        <a:rPr sz="1250" b="0">
                          <a:solidFill>
                            <a:srgbClr val="201F1E"/>
                          </a:solidFill>
                          <a:latin typeface="Segoe UI"/>
                        </a:rPr>
                        <a:t>Groundedness</a:t>
                      </a:r>
                    </a:p>
                  </a:txBody>
                  <a:tcPr marR="73152" marT="27432" marB="27432" anchor="ctr">
                    <a:solidFill>
                      <a:srgbClr val="FFFFFF"/>
                    </a:solidFill>
                  </a:tcPr>
                </a:tc>
                <a:tc>
                  <a:txBody>
                    <a:bodyPr/>
                    <a:lstStyle/>
                    <a:p>
                      <a:pPr algn="l"/>
                      <a:r>
                        <a:rPr sz="1250" b="0" dirty="0">
                          <a:solidFill>
                            <a:srgbClr val="201F1E"/>
                          </a:solidFill>
                          <a:latin typeface="Segoe UI"/>
                        </a:rPr>
                        <a:t>Are responses grounded in provided knowledge?</a:t>
                      </a:r>
                    </a:p>
                  </a:txBody>
                  <a:tcPr marR="73152" marT="27432" marB="27432" anchor="ctr">
                    <a:solidFill>
                      <a:srgbClr val="FFFFFF"/>
                    </a:solidFill>
                  </a:tcPr>
                </a:tc>
                <a:tc>
                  <a:txBody>
                    <a:bodyPr/>
                    <a:lstStyle/>
                    <a:p>
                      <a:pPr algn="ctr"/>
                      <a:r>
                        <a:rPr sz="1250" b="0">
                          <a:solidFill>
                            <a:srgbClr val="201F1E"/>
                          </a:solidFill>
                          <a:latin typeface="Segoe UI"/>
                        </a:rPr>
                        <a:t>&gt; 90%</a:t>
                      </a:r>
                    </a:p>
                  </a:txBody>
                  <a:tcPr marR="73152" marT="27432" marB="27432" anchor="ctr">
                    <a:solidFill>
                      <a:srgbClr val="FFFFFF"/>
                    </a:solidFill>
                  </a:tcPr>
                </a:tc>
                <a:extLst>
                  <a:ext uri="{0D108BD9-81ED-4DB2-BD59-A6C34878D82A}">
                    <a16:rowId xmlns:a16="http://schemas.microsoft.com/office/drawing/2014/main" val="10001"/>
                  </a:ext>
                </a:extLst>
              </a:tr>
              <a:tr h="142921">
                <a:tc>
                  <a:txBody>
                    <a:bodyPr/>
                    <a:lstStyle/>
                    <a:p>
                      <a:pPr algn="l"/>
                      <a:r>
                        <a:rPr sz="1250" b="0">
                          <a:solidFill>
                            <a:srgbClr val="201F1E"/>
                          </a:solidFill>
                          <a:latin typeface="Segoe UI"/>
                        </a:rPr>
                        <a:t>Relevance</a:t>
                      </a:r>
                    </a:p>
                  </a:txBody>
                  <a:tcPr marR="73152" marT="27432" marB="27432" anchor="ctr">
                    <a:solidFill>
                      <a:srgbClr val="F3F6FB"/>
                    </a:solidFill>
                  </a:tcPr>
                </a:tc>
                <a:tc>
                  <a:txBody>
                    <a:bodyPr/>
                    <a:lstStyle/>
                    <a:p>
                      <a:pPr algn="l"/>
                      <a:r>
                        <a:rPr sz="1250" b="0">
                          <a:solidFill>
                            <a:srgbClr val="201F1E"/>
                          </a:solidFill>
                          <a:latin typeface="Segoe UI"/>
                        </a:rPr>
                        <a:t>Do responses answer the user's question?</a:t>
                      </a:r>
                    </a:p>
                  </a:txBody>
                  <a:tcPr marR="73152" marT="27432" marB="27432" anchor="ctr">
                    <a:solidFill>
                      <a:srgbClr val="F3F6FB"/>
                    </a:solidFill>
                  </a:tcPr>
                </a:tc>
                <a:tc>
                  <a:txBody>
                    <a:bodyPr/>
                    <a:lstStyle/>
                    <a:p>
                      <a:pPr algn="ctr"/>
                      <a:r>
                        <a:rPr sz="1250" b="0">
                          <a:solidFill>
                            <a:srgbClr val="201F1E"/>
                          </a:solidFill>
                          <a:latin typeface="Segoe UI"/>
                        </a:rPr>
                        <a:t>&gt; 85%</a:t>
                      </a:r>
                    </a:p>
                  </a:txBody>
                  <a:tcPr marR="73152" marT="27432" marB="27432" anchor="ctr">
                    <a:solidFill>
                      <a:srgbClr val="F3F6FB"/>
                    </a:solidFill>
                  </a:tcPr>
                </a:tc>
                <a:extLst>
                  <a:ext uri="{0D108BD9-81ED-4DB2-BD59-A6C34878D82A}">
                    <a16:rowId xmlns:a16="http://schemas.microsoft.com/office/drawing/2014/main" val="10002"/>
                  </a:ext>
                </a:extLst>
              </a:tr>
              <a:tr h="107454">
                <a:tc>
                  <a:txBody>
                    <a:bodyPr/>
                    <a:lstStyle/>
                    <a:p>
                      <a:pPr algn="l"/>
                      <a:r>
                        <a:rPr sz="1250" b="0">
                          <a:solidFill>
                            <a:srgbClr val="201F1E"/>
                          </a:solidFill>
                          <a:latin typeface="Segoe UI"/>
                        </a:rPr>
                        <a:t>Coherence</a:t>
                      </a:r>
                    </a:p>
                  </a:txBody>
                  <a:tcPr marR="73152" marT="27432" marB="27432" anchor="ctr">
                    <a:solidFill>
                      <a:srgbClr val="FFFFFF"/>
                    </a:solidFill>
                  </a:tcPr>
                </a:tc>
                <a:tc>
                  <a:txBody>
                    <a:bodyPr/>
                    <a:lstStyle/>
                    <a:p>
                      <a:pPr algn="l"/>
                      <a:r>
                        <a:rPr sz="1250" b="0">
                          <a:solidFill>
                            <a:srgbClr val="201F1E"/>
                          </a:solidFill>
                          <a:latin typeface="Segoe UI"/>
                        </a:rPr>
                        <a:t>Are responses well-structured and clear?</a:t>
                      </a:r>
                    </a:p>
                  </a:txBody>
                  <a:tcPr marR="73152" marT="27432" marB="27432" anchor="ctr">
                    <a:solidFill>
                      <a:srgbClr val="FFFFFF"/>
                    </a:solidFill>
                  </a:tcPr>
                </a:tc>
                <a:tc>
                  <a:txBody>
                    <a:bodyPr/>
                    <a:lstStyle/>
                    <a:p>
                      <a:pPr algn="ctr"/>
                      <a:r>
                        <a:rPr sz="1250" b="0">
                          <a:solidFill>
                            <a:srgbClr val="201F1E"/>
                          </a:solidFill>
                          <a:latin typeface="Segoe UI"/>
                        </a:rPr>
                        <a:t>&gt; 90%</a:t>
                      </a:r>
                    </a:p>
                  </a:txBody>
                  <a:tcPr marR="73152" marT="27432" marB="27432" anchor="ctr">
                    <a:solidFill>
                      <a:srgbClr val="FFFFFF"/>
                    </a:solidFill>
                  </a:tcPr>
                </a:tc>
                <a:extLst>
                  <a:ext uri="{0D108BD9-81ED-4DB2-BD59-A6C34878D82A}">
                    <a16:rowId xmlns:a16="http://schemas.microsoft.com/office/drawing/2014/main" val="10003"/>
                  </a:ext>
                </a:extLst>
              </a:tr>
              <a:tr h="139132">
                <a:tc>
                  <a:txBody>
                    <a:bodyPr/>
                    <a:lstStyle/>
                    <a:p>
                      <a:pPr algn="l"/>
                      <a:r>
                        <a:rPr sz="1250" b="0" dirty="0">
                          <a:solidFill>
                            <a:srgbClr val="201F1E"/>
                          </a:solidFill>
                          <a:latin typeface="Segoe UI"/>
                        </a:rPr>
                        <a:t>Fluency</a:t>
                      </a:r>
                    </a:p>
                  </a:txBody>
                  <a:tcPr marR="73152" marT="27432" marB="27432" anchor="ctr">
                    <a:solidFill>
                      <a:srgbClr val="F3F6FB"/>
                    </a:solidFill>
                  </a:tcPr>
                </a:tc>
                <a:tc>
                  <a:txBody>
                    <a:bodyPr/>
                    <a:lstStyle/>
                    <a:p>
                      <a:pPr algn="l"/>
                      <a:r>
                        <a:rPr sz="1250" b="0">
                          <a:solidFill>
                            <a:srgbClr val="201F1E"/>
                          </a:solidFill>
                          <a:latin typeface="Segoe UI"/>
                        </a:rPr>
                        <a:t>Is the language natural and grammatical?</a:t>
                      </a:r>
                    </a:p>
                  </a:txBody>
                  <a:tcPr marR="73152" marT="27432" marB="27432" anchor="ctr">
                    <a:solidFill>
                      <a:srgbClr val="F3F6FB"/>
                    </a:solidFill>
                  </a:tcPr>
                </a:tc>
                <a:tc>
                  <a:txBody>
                    <a:bodyPr/>
                    <a:lstStyle/>
                    <a:p>
                      <a:pPr algn="ctr"/>
                      <a:r>
                        <a:rPr sz="1250" b="0">
                          <a:solidFill>
                            <a:srgbClr val="201F1E"/>
                          </a:solidFill>
                          <a:latin typeface="Segoe UI"/>
                        </a:rPr>
                        <a:t>&gt; 95%</a:t>
                      </a:r>
                    </a:p>
                  </a:txBody>
                  <a:tcPr marR="73152" marT="27432" marB="27432" anchor="ctr">
                    <a:solidFill>
                      <a:srgbClr val="F3F6FB"/>
                    </a:solidFill>
                  </a:tcPr>
                </a:tc>
                <a:extLst>
                  <a:ext uri="{0D108BD9-81ED-4DB2-BD59-A6C34878D82A}">
                    <a16:rowId xmlns:a16="http://schemas.microsoft.com/office/drawing/2014/main" val="10004"/>
                  </a:ext>
                </a:extLst>
              </a:tr>
              <a:tr h="107454">
                <a:tc>
                  <a:txBody>
                    <a:bodyPr/>
                    <a:lstStyle/>
                    <a:p>
                      <a:pPr algn="l"/>
                      <a:r>
                        <a:rPr sz="1250" b="0" dirty="0">
                          <a:solidFill>
                            <a:srgbClr val="201F1E"/>
                          </a:solidFill>
                          <a:latin typeface="Segoe UI"/>
                        </a:rPr>
                        <a:t>Safety</a:t>
                      </a:r>
                    </a:p>
                  </a:txBody>
                  <a:tcPr marR="73152" marT="27432" marB="27432" anchor="ctr">
                    <a:solidFill>
                      <a:srgbClr val="FFFFFF"/>
                    </a:solidFill>
                  </a:tcPr>
                </a:tc>
                <a:tc>
                  <a:txBody>
                    <a:bodyPr/>
                    <a:lstStyle/>
                    <a:p>
                      <a:pPr algn="l"/>
                      <a:r>
                        <a:rPr sz="1250" b="0">
                          <a:solidFill>
                            <a:srgbClr val="201F1E"/>
                          </a:solidFill>
                          <a:latin typeface="Segoe UI"/>
                        </a:rPr>
                        <a:t>Are responses free of harmful content?</a:t>
                      </a:r>
                    </a:p>
                  </a:txBody>
                  <a:tcPr marR="73152" marT="27432" marB="27432" anchor="ctr">
                    <a:solidFill>
                      <a:srgbClr val="FFFFFF"/>
                    </a:solidFill>
                  </a:tcPr>
                </a:tc>
                <a:tc>
                  <a:txBody>
                    <a:bodyPr/>
                    <a:lstStyle/>
                    <a:p>
                      <a:pPr algn="ctr"/>
                      <a:r>
                        <a:rPr sz="1250" b="0" dirty="0">
                          <a:solidFill>
                            <a:srgbClr val="201F1E"/>
                          </a:solidFill>
                          <a:latin typeface="Segoe UI"/>
                        </a:rPr>
                        <a:t>100%</a:t>
                      </a:r>
                    </a:p>
                  </a:txBody>
                  <a:tcPr marR="73152" marT="27432" marB="27432" anchor="ctr">
                    <a:solidFill>
                      <a:srgbClr val="FFFFFF"/>
                    </a:solidFill>
                  </a:tcPr>
                </a:tc>
                <a:extLst>
                  <a:ext uri="{0D108BD9-81ED-4DB2-BD59-A6C34878D82A}">
                    <a16:rowId xmlns:a16="http://schemas.microsoft.com/office/drawing/2014/main" val="10005"/>
                  </a:ext>
                </a:extLst>
              </a:tr>
              <a:tr h="404016">
                <a:tc>
                  <a:txBody>
                    <a:bodyPr/>
                    <a:lstStyle/>
                    <a:p>
                      <a:pPr algn="l"/>
                      <a:r>
                        <a:rPr sz="1250" b="0" dirty="0">
                          <a:solidFill>
                            <a:srgbClr val="201F1E"/>
                          </a:solidFill>
                          <a:latin typeface="Segoe UI"/>
                        </a:rPr>
                        <a:t>Completion</a:t>
                      </a:r>
                    </a:p>
                  </a:txBody>
                  <a:tcPr marR="73152" marT="27432" marB="27432" anchor="ctr">
                    <a:solidFill>
                      <a:srgbClr val="F3F6FB"/>
                    </a:solidFill>
                  </a:tcPr>
                </a:tc>
                <a:tc>
                  <a:txBody>
                    <a:bodyPr/>
                    <a:lstStyle/>
                    <a:p>
                      <a:pPr algn="l"/>
                      <a:r>
                        <a:rPr sz="1250" b="0" dirty="0">
                          <a:solidFill>
                            <a:srgbClr val="201F1E"/>
                          </a:solidFill>
                          <a:latin typeface="Segoe UI"/>
                        </a:rPr>
                        <a:t>Do users actually achieve their goal?</a:t>
                      </a:r>
                    </a:p>
                  </a:txBody>
                  <a:tcPr marR="73152" marT="27432" marB="27432" anchor="ctr">
                    <a:solidFill>
                      <a:srgbClr val="F3F6FB"/>
                    </a:solidFill>
                  </a:tcPr>
                </a:tc>
                <a:tc>
                  <a:txBody>
                    <a:bodyPr/>
                    <a:lstStyle/>
                    <a:p>
                      <a:pPr algn="ctr"/>
                      <a:r>
                        <a:rPr sz="1250" b="0" dirty="0">
                          <a:solidFill>
                            <a:srgbClr val="201F1E"/>
                          </a:solidFill>
                          <a:latin typeface="Segoe UI"/>
                        </a:rPr>
                        <a:t>&gt; 80%</a:t>
                      </a:r>
                    </a:p>
                  </a:txBody>
                  <a:tcPr marR="73152" marT="27432" marB="27432" anchor="ctr">
                    <a:solidFill>
                      <a:srgbClr val="F3F6FB"/>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667512" y="5191760"/>
            <a:ext cx="11155680" cy="1005840"/>
          </a:xfrm>
          <a:prstGeom prst="rect">
            <a:avLst/>
          </a:prstGeom>
          <a:noFill/>
        </p:spPr>
        <p:txBody>
          <a:bodyPr wrap="square" lIns="0" tIns="0" rIns="0" bIns="0" anchor="t">
            <a:spAutoFit/>
          </a:bodyPr>
          <a:lstStyle/>
          <a:p>
            <a:pPr algn="l">
              <a:lnSpc>
                <a:spcPct val="105000"/>
              </a:lnSpc>
              <a:spcBef>
                <a:spcPts val="800"/>
              </a:spcBef>
              <a:spcAft>
                <a:spcPts val="0"/>
              </a:spcAft>
            </a:pPr>
            <a:r>
              <a:rPr sz="1400" b="1" dirty="0">
                <a:solidFill>
                  <a:srgbClr val="243A5E"/>
                </a:solidFill>
                <a:latin typeface="Segoe UI"/>
              </a:rPr>
              <a:t>General quality ≠ domain policy. A banking answer must ALSO obey hard rules: no full card/account numbers or SSNs, correctly formatted currency, and a disclosure on every loan quote. Those become deterministic evaluators (next).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Two kinds of evaluators</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6</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General — LLM-as-judge</a:t>
            </a:r>
          </a:p>
          <a:p>
            <a:pPr algn="l">
              <a:lnSpc>
                <a:spcPct val="105000"/>
              </a:lnSpc>
              <a:spcBef>
                <a:spcPts val="0"/>
              </a:spcBef>
              <a:spcAft>
                <a:spcPts val="300"/>
              </a:spcAft>
            </a:pPr>
            <a:r>
              <a:rPr sz="1500" b="0">
                <a:solidFill>
                  <a:srgbClr val="201F1E"/>
                </a:solidFill>
                <a:latin typeface="Segoe UI"/>
              </a:rPr>
              <a:t>–  Groundedness, relevance, coherence, fluency, similarity</a:t>
            </a:r>
          </a:p>
          <a:p>
            <a:pPr algn="l">
              <a:lnSpc>
                <a:spcPct val="105000"/>
              </a:lnSpc>
              <a:spcBef>
                <a:spcPts val="0"/>
              </a:spcBef>
              <a:spcAft>
                <a:spcPts val="300"/>
              </a:spcAft>
            </a:pPr>
            <a:r>
              <a:rPr sz="1500" b="0">
                <a:solidFill>
                  <a:srgbClr val="201F1E"/>
                </a:solidFill>
                <a:latin typeface="Segoe UI"/>
              </a:rPr>
              <a:t>–  Model-graded — needs an evaluator model, costs tokens</a:t>
            </a:r>
          </a:p>
          <a:p>
            <a:pPr algn="l">
              <a:lnSpc>
                <a:spcPct val="105000"/>
              </a:lnSpc>
              <a:spcBef>
                <a:spcPts val="0"/>
              </a:spcBef>
              <a:spcAft>
                <a:spcPts val="300"/>
              </a:spcAft>
            </a:pPr>
            <a:r>
              <a:rPr sz="1500" b="0">
                <a:solidFill>
                  <a:srgbClr val="201F1E"/>
                </a:solidFill>
                <a:latin typeface="Segoe UI"/>
              </a:rPr>
              <a:t>–  Great for quality and drift over curated + sampled traffic</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Domain — deterministic rules</a:t>
            </a:r>
          </a:p>
          <a:p>
            <a:pPr algn="l">
              <a:lnSpc>
                <a:spcPct val="105000"/>
              </a:lnSpc>
              <a:spcBef>
                <a:spcPts val="0"/>
              </a:spcBef>
              <a:spcAft>
                <a:spcPts val="300"/>
              </a:spcAft>
            </a:pPr>
            <a:r>
              <a:rPr sz="1500" b="0">
                <a:solidFill>
                  <a:srgbClr val="201F1E"/>
                </a:solidFill>
                <a:latin typeface="Segoe UI"/>
              </a:rPr>
              <a:t>–  PII leakage · currency format · required disclosure</a:t>
            </a:r>
          </a:p>
          <a:p>
            <a:pPr algn="l">
              <a:lnSpc>
                <a:spcPct val="105000"/>
              </a:lnSpc>
              <a:spcBef>
                <a:spcPts val="0"/>
              </a:spcBef>
              <a:spcAft>
                <a:spcPts val="300"/>
              </a:spcAft>
            </a:pPr>
            <a:r>
              <a:rPr sz="1500" b="0">
                <a:solidFill>
                  <a:srgbClr val="201F1E"/>
                </a:solidFill>
                <a:latin typeface="Segoe UI"/>
              </a:rPr>
              <a:t>–  Pure rules, no model: fast, free, fully deterministic</a:t>
            </a:r>
          </a:p>
          <a:p>
            <a:pPr algn="l">
              <a:lnSpc>
                <a:spcPct val="105000"/>
              </a:lnSpc>
              <a:spcBef>
                <a:spcPts val="0"/>
              </a:spcBef>
              <a:spcAft>
                <a:spcPts val="300"/>
              </a:spcAft>
            </a:pPr>
            <a:r>
              <a:rPr sz="1500" b="0">
                <a:solidFill>
                  <a:srgbClr val="201F1E"/>
                </a:solidFill>
                <a:latin typeface="Segoe UI"/>
              </a:rPr>
              <a:t>–  pass = 1.0 / fail = 0.0 — ideal for unit tests + a CI gate</a:t>
            </a:r>
          </a:p>
          <a:p>
            <a:pPr algn="l">
              <a:lnSpc>
                <a:spcPct val="105000"/>
              </a:lnSpc>
              <a:spcBef>
                <a:spcPts val="0"/>
              </a:spcBef>
              <a:spcAft>
                <a:spcPts val="300"/>
              </a:spcAft>
            </a:pPr>
            <a:r>
              <a:rPr sz="1500" b="0">
                <a:solidFill>
                  <a:srgbClr val="201F1E"/>
                </a:solidFill>
                <a:latin typeface="Segoe UI"/>
              </a:rPr>
              <a:t>–  Identical logic in Python and .NET, with matching tests</a:t>
            </a:r>
          </a:p>
        </p:txBody>
      </p:sp>
      <p:sp>
        <p:nvSpPr>
          <p:cNvPr id="11" name="Rounded Rectangle 10"/>
          <p:cNvSpPr/>
          <p:nvPr/>
        </p:nvSpPr>
        <p:spPr>
          <a:xfrm>
            <a:off x="502920" y="5943600"/>
            <a:ext cx="11183112" cy="530352"/>
          </a:xfrm>
          <a:prstGeom prst="roundRect">
            <a:avLst/>
          </a:prstGeom>
          <a:solidFill>
            <a:srgbClr val="E3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5943600"/>
            <a:ext cx="1417320" cy="530352"/>
          </a:xfrm>
          <a:prstGeom prst="rect">
            <a:avLst/>
          </a:prstGeom>
          <a:noFill/>
        </p:spPr>
        <p:txBody>
          <a:bodyPr wrap="square" lIns="0" tIns="0" rIns="0" bIns="0" anchor="ctr">
            <a:spAutoFit/>
          </a:bodyPr>
          <a:lstStyle/>
          <a:p>
            <a:pPr algn="l"/>
            <a:r>
              <a:rPr sz="1400" b="1">
                <a:solidFill>
                  <a:srgbClr val="00B7C3"/>
                </a:solidFill>
                <a:latin typeface="Segoe UI"/>
              </a:rPr>
              <a:t>▶ DEMO</a:t>
            </a:r>
          </a:p>
        </p:txBody>
      </p:sp>
      <p:sp>
        <p:nvSpPr>
          <p:cNvPr id="13" name="TextBox 12"/>
          <p:cNvSpPr txBox="1"/>
          <p:nvPr/>
        </p:nvSpPr>
        <p:spPr>
          <a:xfrm>
            <a:off x="2057400" y="5943600"/>
            <a:ext cx="9418320" cy="530352"/>
          </a:xfrm>
          <a:prstGeom prst="rect">
            <a:avLst/>
          </a:prstGeom>
          <a:noFill/>
        </p:spPr>
        <p:txBody>
          <a:bodyPr wrap="square" lIns="0" tIns="0" rIns="0" bIns="0" anchor="ctr">
            <a:spAutoFit/>
          </a:bodyPr>
          <a:lstStyle/>
          <a:p>
            <a:pPr algn="l"/>
            <a:r>
              <a:rPr sz="1250" b="1">
                <a:solidFill>
                  <a:srgbClr val="243A5E"/>
                </a:solidFill>
                <a:latin typeface="Segoe UI"/>
              </a:rPr>
              <a:t>python -m pytest tests/ -v    ·    dotnet test     →   the 3 banking rules, green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6974"/>
            <a:ext cx="11155680" cy="603504"/>
          </a:xfrm>
          <a:prstGeom prst="rect">
            <a:avLst/>
          </a:prstGeom>
          <a:noFill/>
        </p:spPr>
        <p:txBody>
          <a:bodyPr wrap="square" lIns="0" tIns="0" rIns="0" bIns="0" anchor="t">
            <a:spAutoFit/>
          </a:bodyPr>
          <a:lstStyle/>
          <a:p>
            <a:pPr algn="l"/>
            <a:r>
              <a:rPr sz="2600" b="1">
                <a:solidFill>
                  <a:srgbClr val="FFFFFF"/>
                </a:solidFill>
                <a:latin typeface="Segoe UI"/>
              </a:rPr>
              <a:t>Shift-left: an offline quality gate</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7</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The gate</a:t>
            </a:r>
          </a:p>
          <a:p>
            <a:pPr algn="l">
              <a:lnSpc>
                <a:spcPct val="105000"/>
              </a:lnSpc>
              <a:spcBef>
                <a:spcPts val="0"/>
              </a:spcBef>
              <a:spcAft>
                <a:spcPts val="300"/>
              </a:spcAft>
            </a:pPr>
            <a:r>
              <a:rPr sz="1500" b="0">
                <a:solidFill>
                  <a:srgbClr val="201F1E"/>
                </a:solidFill>
                <a:latin typeface="Segoe UI"/>
              </a:rPr>
              <a:t>–  Scores responses with the 3 rule evaluators</a:t>
            </a:r>
          </a:p>
          <a:p>
            <a:pPr algn="l">
              <a:lnSpc>
                <a:spcPct val="105000"/>
              </a:lnSpc>
              <a:spcBef>
                <a:spcPts val="0"/>
              </a:spcBef>
              <a:spcAft>
                <a:spcPts val="300"/>
              </a:spcAft>
            </a:pPr>
            <a:r>
              <a:rPr sz="1500" b="0">
                <a:solidFill>
                  <a:srgbClr val="201F1E"/>
                </a:solidFill>
                <a:latin typeface="Segoe UI"/>
              </a:rPr>
              <a:t>–  Prints a per-case table; exits non-zero on any violation</a:t>
            </a:r>
          </a:p>
          <a:p>
            <a:pPr algn="l">
              <a:lnSpc>
                <a:spcPct val="105000"/>
              </a:lnSpc>
              <a:spcBef>
                <a:spcPts val="0"/>
              </a:spcBef>
              <a:spcAft>
                <a:spcPts val="300"/>
              </a:spcAft>
            </a:pPr>
            <a:r>
              <a:rPr sz="1500" b="0">
                <a:solidFill>
                  <a:srgbClr val="201F1E"/>
                </a:solidFill>
                <a:latin typeface="Segoe UI"/>
              </a:rPr>
              <a:t>–  No Azure creds, no model, no network — runs in seconds</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In CI — ci/eval-gate.yml</a:t>
            </a:r>
          </a:p>
          <a:p>
            <a:pPr algn="l">
              <a:lnSpc>
                <a:spcPct val="105000"/>
              </a:lnSpc>
              <a:spcBef>
                <a:spcPts val="0"/>
              </a:spcBef>
              <a:spcAft>
                <a:spcPts val="300"/>
              </a:spcAft>
            </a:pPr>
            <a:r>
              <a:rPr sz="1500" b="0">
                <a:solidFill>
                  <a:srgbClr val="201F1E"/>
                </a:solidFill>
                <a:latin typeface="Segoe UI"/>
              </a:rPr>
              <a:t>–  A Python job and a .NET job, both fully offline</a:t>
            </a:r>
          </a:p>
          <a:p>
            <a:pPr algn="l">
              <a:lnSpc>
                <a:spcPct val="105000"/>
              </a:lnSpc>
              <a:spcBef>
                <a:spcPts val="0"/>
              </a:spcBef>
              <a:spcAft>
                <a:spcPts val="300"/>
              </a:spcAft>
            </a:pPr>
            <a:r>
              <a:rPr sz="1500" b="0">
                <a:solidFill>
                  <a:srgbClr val="201F1E"/>
                </a:solidFill>
                <a:latin typeface="Segoe UI"/>
              </a:rPr>
              <a:t>–  Fail the build on any policy breach, on every PR</a:t>
            </a:r>
          </a:p>
          <a:p>
            <a:pPr algn="l">
              <a:lnSpc>
                <a:spcPct val="105000"/>
              </a:lnSpc>
              <a:spcBef>
                <a:spcPts val="0"/>
              </a:spcBef>
              <a:spcAft>
                <a:spcPts val="300"/>
              </a:spcAft>
            </a:pPr>
            <a:r>
              <a:rPr sz="1500" b="0">
                <a:solidFill>
                  <a:srgbClr val="201F1E"/>
                </a:solidFill>
                <a:latin typeface="Segoe UI"/>
              </a:rPr>
              <a:t>–  Add generate + nightly --online (OIDC) when ready</a:t>
            </a:r>
          </a:p>
        </p:txBody>
      </p:sp>
      <p:sp>
        <p:nvSpPr>
          <p:cNvPr id="11" name="Rounded Rectangle 10"/>
          <p:cNvSpPr/>
          <p:nvPr/>
        </p:nvSpPr>
        <p:spPr>
          <a:xfrm>
            <a:off x="502920" y="5943600"/>
            <a:ext cx="11183112" cy="530352"/>
          </a:xfrm>
          <a:prstGeom prst="roundRect">
            <a:avLst/>
          </a:prstGeom>
          <a:solidFill>
            <a:srgbClr val="E3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5943600"/>
            <a:ext cx="1417320" cy="530352"/>
          </a:xfrm>
          <a:prstGeom prst="rect">
            <a:avLst/>
          </a:prstGeom>
          <a:noFill/>
        </p:spPr>
        <p:txBody>
          <a:bodyPr wrap="square" lIns="0" tIns="0" rIns="0" bIns="0" anchor="ctr">
            <a:spAutoFit/>
          </a:bodyPr>
          <a:lstStyle/>
          <a:p>
            <a:pPr algn="l"/>
            <a:r>
              <a:rPr sz="1400" b="1">
                <a:solidFill>
                  <a:srgbClr val="00B7C3"/>
                </a:solidFill>
                <a:latin typeface="Segoe UI"/>
              </a:rPr>
              <a:t>▶ DEMO</a:t>
            </a:r>
          </a:p>
        </p:txBody>
      </p:sp>
      <p:sp>
        <p:nvSpPr>
          <p:cNvPr id="13" name="TextBox 12"/>
          <p:cNvSpPr txBox="1"/>
          <p:nvPr/>
        </p:nvSpPr>
        <p:spPr>
          <a:xfrm>
            <a:off x="2057400" y="5943600"/>
            <a:ext cx="9418320" cy="530352"/>
          </a:xfrm>
          <a:prstGeom prst="rect">
            <a:avLst/>
          </a:prstGeom>
          <a:noFill/>
        </p:spPr>
        <p:txBody>
          <a:bodyPr wrap="square" lIns="0" tIns="0" rIns="0" bIns="0" anchor="ctr">
            <a:spAutoFit/>
          </a:bodyPr>
          <a:lstStyle/>
          <a:p>
            <a:pPr algn="l"/>
            <a:r>
              <a:rPr sz="1250" b="1" dirty="0">
                <a:solidFill>
                  <a:srgbClr val="243A5E"/>
                </a:solidFill>
                <a:latin typeface="Segoe UI"/>
              </a:rPr>
              <a:t>python src/evaluate_agent.py --data data/</a:t>
            </a:r>
            <a:r>
              <a:rPr sz="1250" b="1" dirty="0" err="1">
                <a:solidFill>
                  <a:srgbClr val="243A5E"/>
                </a:solidFill>
                <a:latin typeface="Segoe UI"/>
              </a:rPr>
              <a:t>responses.sample.jsonl</a:t>
            </a:r>
            <a:r>
              <a:rPr sz="1250" b="1" dirty="0">
                <a:solidFill>
                  <a:srgbClr val="243A5E"/>
                </a:solidFill>
                <a:latin typeface="Segoe UI"/>
              </a:rPr>
              <a:t>   →   GATE PASSED · exit 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DEMO DOMAIN</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Grounded in the Lab 03 banking agent</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8</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The system under test</a:t>
            </a:r>
          </a:p>
          <a:p>
            <a:pPr algn="l">
              <a:lnSpc>
                <a:spcPct val="105000"/>
              </a:lnSpc>
              <a:spcBef>
                <a:spcPts val="0"/>
              </a:spcBef>
              <a:spcAft>
                <a:spcPts val="300"/>
              </a:spcAft>
            </a:pPr>
            <a:r>
              <a:rPr sz="1500" b="0">
                <a:solidFill>
                  <a:srgbClr val="201F1E"/>
                </a:solidFill>
                <a:latin typeface="Segoe UI"/>
              </a:rPr>
              <a:t>–  Reuses the Lab 03 Virtual Banking Assistant — both stacks</a:t>
            </a:r>
          </a:p>
          <a:p>
            <a:pPr algn="l">
              <a:lnSpc>
                <a:spcPct val="105000"/>
              </a:lnSpc>
              <a:spcBef>
                <a:spcPts val="0"/>
              </a:spcBef>
              <a:spcAft>
                <a:spcPts val="300"/>
              </a:spcAft>
            </a:pPr>
            <a:r>
              <a:rPr sz="1500" b="0">
                <a:solidFill>
                  <a:srgbClr val="201F1E"/>
                </a:solidFill>
                <a:latin typeface="Segoe UI"/>
              </a:rPr>
              <a:t>–  15 labeled cases: balances, loan math, FAQ, transfers…</a:t>
            </a:r>
          </a:p>
          <a:p>
            <a:pPr algn="l">
              <a:lnSpc>
                <a:spcPct val="105000"/>
              </a:lnSpc>
              <a:spcBef>
                <a:spcPts val="0"/>
              </a:spcBef>
              <a:spcAft>
                <a:spcPts val="300"/>
              </a:spcAft>
            </a:pPr>
            <a:r>
              <a:rPr sz="1500" b="0">
                <a:solidFill>
                  <a:srgbClr val="201F1E"/>
                </a:solidFill>
                <a:latin typeface="Segoe UI"/>
              </a:rPr>
              <a:t>–  One shared dataset: data/eval-dataset.jsonl</a:t>
            </a:r>
          </a:p>
          <a:p>
            <a:pPr algn="l">
              <a:lnSpc>
                <a:spcPct val="105000"/>
              </a:lnSpc>
              <a:spcBef>
                <a:spcPts val="0"/>
              </a:spcBef>
              <a:spcAft>
                <a:spcPts val="300"/>
              </a:spcAft>
            </a:pPr>
            <a:r>
              <a:rPr sz="1500" b="0">
                <a:solidFill>
                  <a:srgbClr val="201F1E"/>
                </a:solidFill>
                <a:latin typeface="Segoe UI"/>
              </a:rPr>
              <a:t>–  A committed clean sample the gate scores offline</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Offline vs Azure</a:t>
            </a:r>
          </a:p>
          <a:p>
            <a:pPr algn="l">
              <a:lnSpc>
                <a:spcPct val="105000"/>
              </a:lnSpc>
              <a:spcBef>
                <a:spcPts val="0"/>
              </a:spcBef>
              <a:spcAft>
                <a:spcPts val="300"/>
              </a:spcAft>
            </a:pPr>
            <a:r>
              <a:rPr sz="1500" b="0">
                <a:solidFill>
                  <a:srgbClr val="201F1E"/>
                </a:solidFill>
                <a:latin typeface="Segoe UI"/>
              </a:rPr>
              <a:t>–  Offline (no cloud): unit tests, the rule gate, CI</a:t>
            </a:r>
          </a:p>
          <a:p>
            <a:pPr algn="l">
              <a:lnSpc>
                <a:spcPct val="105000"/>
              </a:lnSpc>
              <a:spcBef>
                <a:spcPts val="0"/>
              </a:spcBef>
              <a:spcAft>
                <a:spcPts val="300"/>
              </a:spcAft>
            </a:pPr>
            <a:r>
              <a:rPr sz="1500" b="0">
                <a:solidFill>
                  <a:srgbClr val="201F1E"/>
                </a:solidFill>
                <a:latin typeface="Segoe UI"/>
              </a:rPr>
              <a:t>–  Azure: generate answers, LLM-judge, tracing, red team</a:t>
            </a:r>
          </a:p>
          <a:p>
            <a:pPr algn="l">
              <a:lnSpc>
                <a:spcPct val="105000"/>
              </a:lnSpc>
              <a:spcBef>
                <a:spcPts val="0"/>
              </a:spcBef>
              <a:spcAft>
                <a:spcPts val="300"/>
              </a:spcAft>
            </a:pPr>
            <a:r>
              <a:rPr sz="1500" b="0">
                <a:solidFill>
                  <a:srgbClr val="201F1E"/>
                </a:solidFill>
                <a:latin typeface="Segoe UI"/>
              </a:rPr>
              <a:t>–  Full Python + .NET parity — one gap: red teaming</a:t>
            </a:r>
          </a:p>
        </p:txBody>
      </p:sp>
      <p:sp>
        <p:nvSpPr>
          <p:cNvPr id="11" name="TextBox 10"/>
          <p:cNvSpPr txBox="1"/>
          <p:nvPr/>
        </p:nvSpPr>
        <p:spPr>
          <a:xfrm>
            <a:off x="502920" y="5623560"/>
            <a:ext cx="11155680" cy="731520"/>
          </a:xfrm>
          <a:prstGeom prst="rect">
            <a:avLst/>
          </a:prstGeom>
          <a:noFill/>
        </p:spPr>
        <p:txBody>
          <a:bodyPr wrap="square" lIns="0" tIns="0" rIns="0" bIns="0" anchor="t">
            <a:spAutoFit/>
          </a:bodyPr>
          <a:lstStyle/>
          <a:p>
            <a:pPr algn="l">
              <a:lnSpc>
                <a:spcPct val="105000"/>
              </a:lnSpc>
              <a:spcBef>
                <a:spcPts val="800"/>
              </a:spcBef>
              <a:spcAft>
                <a:spcPts val="0"/>
              </a:spcAft>
            </a:pPr>
            <a:r>
              <a:rPr sz="1400" b="1">
                <a:solidFill>
                  <a:srgbClr val="243A5E"/>
                </a:solidFill>
                <a:latin typeface="Segoe UI"/>
              </a:rPr>
              <a:t>Everything except response generation, the online judges, tracing, and red teaming runs fully offline — so the quality gate works on any laptop.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Evaluation is continuous, not a one-off</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9</a:t>
            </a:r>
          </a:p>
        </p:txBody>
      </p:sp>
      <p:sp>
        <p:nvSpPr>
          <p:cNvPr id="9" name="Rounded Rectangle 8"/>
          <p:cNvSpPr/>
          <p:nvPr/>
        </p:nvSpPr>
        <p:spPr>
          <a:xfrm>
            <a:off x="502920" y="1463040"/>
            <a:ext cx="2615184"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PR gate</a:t>
            </a:r>
          </a:p>
          <a:p>
            <a:pPr algn="ctr"/>
            <a:r>
              <a:rPr sz="1050" b="0">
                <a:solidFill>
                  <a:srgbClr val="605E5C"/>
                </a:solidFill>
                <a:latin typeface="Segoe UI"/>
              </a:rPr>
              <a:t>offline, fail fast</a:t>
            </a:r>
          </a:p>
        </p:txBody>
      </p:sp>
      <p:sp>
        <p:nvSpPr>
          <p:cNvPr id="10" name="Rectangle 9"/>
          <p:cNvSpPr/>
          <p:nvPr/>
        </p:nvSpPr>
        <p:spPr>
          <a:xfrm>
            <a:off x="3136392" y="1865376"/>
            <a:ext cx="365760" cy="10972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91839" y="1463040"/>
            <a:ext cx="2615184"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Nightly regression</a:t>
            </a:r>
          </a:p>
          <a:p>
            <a:pPr algn="ctr"/>
            <a:r>
              <a:rPr sz="1050" b="0">
                <a:solidFill>
                  <a:srgbClr val="605E5C"/>
                </a:solidFill>
                <a:latin typeface="Segoe UI"/>
              </a:rPr>
              <a:t>full set + baseline</a:t>
            </a:r>
          </a:p>
        </p:txBody>
      </p:sp>
      <p:sp>
        <p:nvSpPr>
          <p:cNvPr id="12" name="Rectangle 11"/>
          <p:cNvSpPr/>
          <p:nvPr/>
        </p:nvSpPr>
        <p:spPr>
          <a:xfrm>
            <a:off x="5925311" y="1865376"/>
            <a:ext cx="365760" cy="10972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80759" y="1463040"/>
            <a:ext cx="2615184"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Online sampling</a:t>
            </a:r>
          </a:p>
          <a:p>
            <a:pPr algn="ctr"/>
            <a:r>
              <a:rPr sz="1050" b="0">
                <a:solidFill>
                  <a:srgbClr val="605E5C"/>
                </a:solidFill>
                <a:latin typeface="Segoe UI"/>
              </a:rPr>
              <a:t>redacted prod traffic</a:t>
            </a:r>
          </a:p>
        </p:txBody>
      </p:sp>
      <p:sp>
        <p:nvSpPr>
          <p:cNvPr id="14" name="Rectangle 13"/>
          <p:cNvSpPr/>
          <p:nvPr/>
        </p:nvSpPr>
        <p:spPr>
          <a:xfrm>
            <a:off x="8714232" y="1865376"/>
            <a:ext cx="365760" cy="10972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869680" y="1463040"/>
            <a:ext cx="2615184" cy="914400"/>
          </a:xfrm>
          <a:prstGeom prst="roundRect">
            <a:avLst/>
          </a:prstGeom>
          <a:solidFill>
            <a:srgbClr val="FFFFFF"/>
          </a:solidFill>
          <a:ln w="12700">
            <a:solidFill>
              <a:srgbClr val="D6DE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43A5E"/>
                </a:solidFill>
                <a:latin typeface="Segoe UI"/>
              </a:rPr>
              <a:t>Human review</a:t>
            </a:r>
          </a:p>
          <a:p>
            <a:pPr algn="ctr"/>
            <a:r>
              <a:rPr sz="1050" b="0">
                <a:solidFill>
                  <a:srgbClr val="605E5C"/>
                </a:solidFill>
                <a:latin typeface="Segoe UI"/>
              </a:rPr>
              <a:t>triage → back in set</a:t>
            </a:r>
          </a:p>
        </p:txBody>
      </p:sp>
      <p:sp>
        <p:nvSpPr>
          <p:cNvPr id="16" name="TextBox 15"/>
          <p:cNvSpPr txBox="1"/>
          <p:nvPr/>
        </p:nvSpPr>
        <p:spPr>
          <a:xfrm>
            <a:off x="502920" y="2788920"/>
            <a:ext cx="11155680" cy="292608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PR gate — a small deterministic set; fail fast (our offline gate)</a:t>
            </a:r>
          </a:p>
          <a:p>
            <a:pPr algn="l">
              <a:lnSpc>
                <a:spcPct val="105000"/>
              </a:lnSpc>
              <a:spcBef>
                <a:spcPts val="1000"/>
              </a:spcBef>
              <a:spcAft>
                <a:spcPts val="300"/>
              </a:spcAft>
            </a:pPr>
            <a:r>
              <a:rPr sz="1800" b="1">
                <a:solidFill>
                  <a:srgbClr val="243A5E"/>
                </a:solidFill>
                <a:latin typeface="Segoe UI"/>
              </a:rPr>
              <a:t>■  Nightly regression — full dataset + recent failures vs the last baseline</a:t>
            </a:r>
          </a:p>
          <a:p>
            <a:pPr algn="l">
              <a:lnSpc>
                <a:spcPct val="105000"/>
              </a:lnSpc>
              <a:spcBef>
                <a:spcPts val="1000"/>
              </a:spcBef>
              <a:spcAft>
                <a:spcPts val="300"/>
              </a:spcAft>
            </a:pPr>
            <a:r>
              <a:rPr sz="1800" b="1">
                <a:solidFill>
                  <a:srgbClr val="243A5E"/>
                </a:solidFill>
                <a:latin typeface="Segoe UI"/>
              </a:rPr>
              <a:t>■  Online sampling — score a % of redacted production traffic → App Insights</a:t>
            </a:r>
          </a:p>
          <a:p>
            <a:pPr algn="l">
              <a:lnSpc>
                <a:spcPct val="105000"/>
              </a:lnSpc>
              <a:spcBef>
                <a:spcPts val="1000"/>
              </a:spcBef>
              <a:spcAft>
                <a:spcPts val="300"/>
              </a:spcAft>
            </a:pPr>
            <a:r>
              <a:rPr sz="1800" b="1">
                <a:solidFill>
                  <a:srgbClr val="243A5E"/>
                </a:solidFill>
                <a:latin typeface="Segoe UI"/>
              </a:rPr>
              <a:t>■  Human review queue — route low-scoring / safety-flagged runs back into the set</a:t>
            </a:r>
          </a:p>
          <a:p>
            <a:pPr algn="l">
              <a:lnSpc>
                <a:spcPct val="105000"/>
              </a:lnSpc>
              <a:spcBef>
                <a:spcPts val="800"/>
              </a:spcBef>
              <a:spcAft>
                <a:spcPts val="0"/>
              </a:spcAft>
            </a:pPr>
            <a:r>
              <a:rPr sz="1300" b="0">
                <a:solidFill>
                  <a:srgbClr val="605E5C"/>
                </a:solidFill>
                <a:latin typeface="Segoe UI"/>
              </a:rPr>
              <a:t>azure-ai-evaluation adds agent-specific checks: intent resolution, tool-call accuracy, task adherence (some preview).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Tracing with OpenTelemetry GenAI</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10</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What &amp; where</a:t>
            </a:r>
          </a:p>
          <a:p>
            <a:pPr algn="l">
              <a:lnSpc>
                <a:spcPct val="105000"/>
              </a:lnSpc>
              <a:spcBef>
                <a:spcPts val="0"/>
              </a:spcBef>
              <a:spcAft>
                <a:spcPts val="300"/>
              </a:spcAft>
            </a:pPr>
            <a:r>
              <a:rPr sz="1500" b="0">
                <a:solidFill>
                  <a:srgbClr val="201F1E"/>
                </a:solidFill>
                <a:latin typeface="Segoe UI"/>
              </a:rPr>
              <a:t>–  gen_ai.* semantic conventions: model, tools, agent steps</a:t>
            </a:r>
          </a:p>
          <a:p>
            <a:pPr algn="l">
              <a:lnSpc>
                <a:spcPct val="105000"/>
              </a:lnSpc>
              <a:spcBef>
                <a:spcPts val="0"/>
              </a:spcBef>
              <a:spcAft>
                <a:spcPts val="300"/>
              </a:spcAft>
            </a:pPr>
            <a:r>
              <a:rPr sz="1500" b="0">
                <a:solidFill>
                  <a:srgbClr val="201F1E"/>
                </a:solidFill>
                <a:latin typeface="Segoe UI"/>
              </a:rPr>
              <a:t>–  Export to Azure Monitor / Application Insights</a:t>
            </a:r>
          </a:p>
          <a:p>
            <a:pPr algn="l">
              <a:lnSpc>
                <a:spcPct val="105000"/>
              </a:lnSpc>
              <a:spcBef>
                <a:spcPts val="0"/>
              </a:spcBef>
              <a:spcAft>
                <a:spcPts val="300"/>
              </a:spcAft>
            </a:pPr>
            <a:r>
              <a:rPr sz="1500" b="0">
                <a:solidFill>
                  <a:srgbClr val="201F1E"/>
                </a:solidFill>
                <a:latin typeface="Segoe UI"/>
              </a:rPr>
              <a:t>–  Surfaced in Foundry → Tracing tab + Azure Monitor Agents (preview)</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Make the trace tell the story</a:t>
            </a:r>
          </a:p>
          <a:p>
            <a:pPr algn="l">
              <a:lnSpc>
                <a:spcPct val="105000"/>
              </a:lnSpc>
              <a:spcBef>
                <a:spcPts val="0"/>
              </a:spcBef>
              <a:spcAft>
                <a:spcPts val="300"/>
              </a:spcAft>
            </a:pPr>
            <a:r>
              <a:rPr sz="1500" b="0">
                <a:solidFill>
                  <a:srgbClr val="201F1E"/>
                </a:solidFill>
                <a:latin typeface="Segoe UI"/>
              </a:rPr>
              <a:t>–  Add your own spans around routing / orchestration</a:t>
            </a:r>
          </a:p>
          <a:p>
            <a:pPr algn="l">
              <a:lnSpc>
                <a:spcPct val="105000"/>
              </a:lnSpc>
              <a:spcBef>
                <a:spcPts val="0"/>
              </a:spcBef>
              <a:spcAft>
                <a:spcPts val="300"/>
              </a:spcAft>
            </a:pPr>
            <a:r>
              <a:rPr sz="1500" b="0">
                <a:solidFill>
                  <a:srgbClr val="201F1E"/>
                </a:solidFill>
                <a:latin typeface="Segoe UI"/>
              </a:rPr>
              <a:t>–  Correlate trace IDs with evaluation scores</a:t>
            </a:r>
          </a:p>
          <a:p>
            <a:pPr algn="l">
              <a:lnSpc>
                <a:spcPct val="105000"/>
              </a:lnSpc>
              <a:spcBef>
                <a:spcPts val="0"/>
              </a:spcBef>
              <a:spcAft>
                <a:spcPts val="300"/>
              </a:spcAft>
            </a:pPr>
            <a:r>
              <a:rPr sz="1500" b="0">
                <a:solidFill>
                  <a:srgbClr val="201F1E"/>
                </a:solidFill>
                <a:latin typeface="Segoe UI"/>
              </a:rPr>
              <a:t>–  ⚠ Content capture OFF by default — a privacy decision</a:t>
            </a:r>
          </a:p>
        </p:txBody>
      </p:sp>
      <p:sp>
        <p:nvSpPr>
          <p:cNvPr id="11" name="Rounded Rectangle 10"/>
          <p:cNvSpPr/>
          <p:nvPr/>
        </p:nvSpPr>
        <p:spPr>
          <a:xfrm>
            <a:off x="502920" y="5943600"/>
            <a:ext cx="11183112" cy="530352"/>
          </a:xfrm>
          <a:prstGeom prst="roundRect">
            <a:avLst/>
          </a:prstGeom>
          <a:solidFill>
            <a:srgbClr val="E3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5943600"/>
            <a:ext cx="1417320" cy="530352"/>
          </a:xfrm>
          <a:prstGeom prst="rect">
            <a:avLst/>
          </a:prstGeom>
          <a:noFill/>
        </p:spPr>
        <p:txBody>
          <a:bodyPr wrap="square" lIns="0" tIns="0" rIns="0" bIns="0" anchor="ctr">
            <a:spAutoFit/>
          </a:bodyPr>
          <a:lstStyle/>
          <a:p>
            <a:pPr algn="l"/>
            <a:r>
              <a:rPr sz="1400" b="1">
                <a:solidFill>
                  <a:srgbClr val="00B7C3"/>
                </a:solidFill>
                <a:latin typeface="Segoe UI"/>
              </a:rPr>
              <a:t>▶ DEMO</a:t>
            </a:r>
          </a:p>
        </p:txBody>
      </p:sp>
      <p:sp>
        <p:nvSpPr>
          <p:cNvPr id="13" name="TextBox 12"/>
          <p:cNvSpPr txBox="1"/>
          <p:nvPr/>
        </p:nvSpPr>
        <p:spPr>
          <a:xfrm>
            <a:off x="2057400" y="5943600"/>
            <a:ext cx="9418320" cy="530352"/>
          </a:xfrm>
          <a:prstGeom prst="rect">
            <a:avLst/>
          </a:prstGeom>
          <a:noFill/>
        </p:spPr>
        <p:txBody>
          <a:bodyPr wrap="square" lIns="0" tIns="0" rIns="0" bIns="0" anchor="ctr">
            <a:spAutoFit/>
          </a:bodyPr>
          <a:lstStyle/>
          <a:p>
            <a:pPr algn="l"/>
            <a:r>
              <a:rPr sz="1250" b="1">
                <a:solidFill>
                  <a:srgbClr val="243A5E"/>
                </a:solidFill>
                <a:latin typeface="Segoe UI"/>
              </a:rPr>
              <a:t>python src/trace_agent.py   ·   dotnet run -- --task trace --limit 5   →   Foundry Tracing tab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Dashboards and alerts that matter</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11</a:t>
            </a:r>
          </a:p>
        </p:txBody>
      </p:sp>
      <p:graphicFrame>
        <p:nvGraphicFramePr>
          <p:cNvPr id="9" name="Table 8"/>
          <p:cNvGraphicFramePr>
            <a:graphicFrameLocks noGrp="1"/>
          </p:cNvGraphicFramePr>
          <p:nvPr>
            <p:extLst>
              <p:ext uri="{D42A27DB-BD31-4B8C-83A1-F6EECF244321}">
                <p14:modId xmlns:p14="http://schemas.microsoft.com/office/powerpoint/2010/main" val="1686646724"/>
              </p:ext>
            </p:extLst>
          </p:nvPr>
        </p:nvGraphicFramePr>
        <p:xfrm>
          <a:off x="475488" y="1922493"/>
          <a:ext cx="11183112" cy="1671828"/>
        </p:xfrm>
        <a:graphic>
          <a:graphicData uri="http://schemas.openxmlformats.org/drawingml/2006/table">
            <a:tbl>
              <a:tblPr>
                <a:tableStyleId>{5C22544A-7EE6-4342-B048-85BDC9FD1C3A}</a:tableStyleId>
              </a:tblPr>
              <a:tblGrid>
                <a:gridCol w="594360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tblGrid>
              <a:tr h="193946">
                <a:tc>
                  <a:txBody>
                    <a:bodyPr/>
                    <a:lstStyle/>
                    <a:p>
                      <a:pPr algn="l"/>
                      <a:r>
                        <a:rPr sz="1250" b="1">
                          <a:solidFill>
                            <a:srgbClr val="FFFFFF"/>
                          </a:solidFill>
                          <a:latin typeface="Segoe UI"/>
                        </a:rPr>
                        <a:t>Signal</a:t>
                      </a:r>
                    </a:p>
                  </a:txBody>
                  <a:tcPr marR="73152" marT="27432" marB="27432" anchor="ctr">
                    <a:solidFill>
                      <a:srgbClr val="243A5E"/>
                    </a:solidFill>
                  </a:tcPr>
                </a:tc>
                <a:tc>
                  <a:txBody>
                    <a:bodyPr/>
                    <a:lstStyle/>
                    <a:p>
                      <a:pPr algn="l"/>
                      <a:r>
                        <a:rPr sz="1250" b="1">
                          <a:solidFill>
                            <a:srgbClr val="FFFFFF"/>
                          </a:solidFill>
                          <a:latin typeface="Segoe UI"/>
                        </a:rPr>
                        <a:t>Example alert threshold</a:t>
                      </a:r>
                    </a:p>
                  </a:txBody>
                  <a:tcPr marR="73152" marT="27432" marB="27432" anchor="ctr">
                    <a:solidFill>
                      <a:srgbClr val="243A5E"/>
                    </a:solidFill>
                  </a:tcPr>
                </a:tc>
                <a:extLst>
                  <a:ext uri="{0D108BD9-81ED-4DB2-BD59-A6C34878D82A}">
                    <a16:rowId xmlns:a16="http://schemas.microsoft.com/office/drawing/2014/main" val="10000"/>
                  </a:ext>
                </a:extLst>
              </a:tr>
              <a:tr h="93094">
                <a:tc>
                  <a:txBody>
                    <a:bodyPr/>
                    <a:lstStyle/>
                    <a:p>
                      <a:pPr algn="l"/>
                      <a:r>
                        <a:rPr sz="1200" b="0">
                          <a:solidFill>
                            <a:srgbClr val="201F1E"/>
                          </a:solidFill>
                          <a:latin typeface="Segoe UI"/>
                        </a:rPr>
                        <a:t>P95 latency by model / agent / tool</a:t>
                      </a:r>
                    </a:p>
                  </a:txBody>
                  <a:tcPr marR="73152" marT="27432" marB="27432" anchor="ctr">
                    <a:solidFill>
                      <a:srgbClr val="FFFFFF"/>
                    </a:solidFill>
                  </a:tcPr>
                </a:tc>
                <a:tc>
                  <a:txBody>
                    <a:bodyPr/>
                    <a:lstStyle/>
                    <a:p>
                      <a:pPr algn="l"/>
                      <a:r>
                        <a:rPr sz="1200" b="0">
                          <a:solidFill>
                            <a:srgbClr val="201F1E"/>
                          </a:solidFill>
                          <a:latin typeface="Segoe UI"/>
                        </a:rPr>
                        <a:t>P95 &gt; 2× baseline for 15 min</a:t>
                      </a:r>
                    </a:p>
                  </a:txBody>
                  <a:tcPr marR="73152" marT="27432" marB="27432" anchor="ctr">
                    <a:solidFill>
                      <a:srgbClr val="FFFFFF"/>
                    </a:solidFill>
                  </a:tcPr>
                </a:tc>
                <a:extLst>
                  <a:ext uri="{0D108BD9-81ED-4DB2-BD59-A6C34878D82A}">
                    <a16:rowId xmlns:a16="http://schemas.microsoft.com/office/drawing/2014/main" val="10001"/>
                  </a:ext>
                </a:extLst>
              </a:tr>
              <a:tr h="93094">
                <a:tc>
                  <a:txBody>
                    <a:bodyPr/>
                    <a:lstStyle/>
                    <a:p>
                      <a:pPr algn="l"/>
                      <a:r>
                        <a:rPr sz="1200" b="0">
                          <a:solidFill>
                            <a:srgbClr val="201F1E"/>
                          </a:solidFill>
                          <a:latin typeface="Segoe UI"/>
                        </a:rPr>
                        <a:t>Token usage and estimated cost</a:t>
                      </a:r>
                    </a:p>
                  </a:txBody>
                  <a:tcPr marR="73152" marT="27432" marB="27432" anchor="ctr">
                    <a:solidFill>
                      <a:srgbClr val="F3F6FB"/>
                    </a:solidFill>
                  </a:tcPr>
                </a:tc>
                <a:tc>
                  <a:txBody>
                    <a:bodyPr/>
                    <a:lstStyle/>
                    <a:p>
                      <a:pPr algn="l"/>
                      <a:r>
                        <a:rPr sz="1200" b="0">
                          <a:solidFill>
                            <a:srgbClr val="201F1E"/>
                          </a:solidFill>
                          <a:latin typeface="Segoe UI"/>
                        </a:rPr>
                        <a:t>Daily spend spike or unusual model mix</a:t>
                      </a:r>
                    </a:p>
                  </a:txBody>
                  <a:tcPr marR="73152" marT="27432" marB="27432" anchor="ctr">
                    <a:solidFill>
                      <a:srgbClr val="F3F6FB"/>
                    </a:solidFill>
                  </a:tcPr>
                </a:tc>
                <a:extLst>
                  <a:ext uri="{0D108BD9-81ED-4DB2-BD59-A6C34878D82A}">
                    <a16:rowId xmlns:a16="http://schemas.microsoft.com/office/drawing/2014/main" val="10002"/>
                  </a:ext>
                </a:extLst>
              </a:tr>
              <a:tr h="93094">
                <a:tc>
                  <a:txBody>
                    <a:bodyPr/>
                    <a:lstStyle/>
                    <a:p>
                      <a:pPr algn="l"/>
                      <a:r>
                        <a:rPr sz="1200" b="0">
                          <a:solidFill>
                            <a:srgbClr val="201F1E"/>
                          </a:solidFill>
                          <a:latin typeface="Segoe UI"/>
                        </a:rPr>
                        <a:t>Tool-call success / failure rate</a:t>
                      </a:r>
                    </a:p>
                  </a:txBody>
                  <a:tcPr marR="73152" marT="27432" marB="27432" anchor="ctr">
                    <a:solidFill>
                      <a:srgbClr val="FFFFFF"/>
                    </a:solidFill>
                  </a:tcPr>
                </a:tc>
                <a:tc>
                  <a:txBody>
                    <a:bodyPr/>
                    <a:lstStyle/>
                    <a:p>
                      <a:pPr algn="l"/>
                      <a:r>
                        <a:rPr sz="1200" b="0">
                          <a:solidFill>
                            <a:srgbClr val="201F1E"/>
                          </a:solidFill>
                          <a:latin typeface="Segoe UI"/>
                        </a:rPr>
                        <a:t>Critical tool failure rate &gt; 5%</a:t>
                      </a:r>
                    </a:p>
                  </a:txBody>
                  <a:tcPr marR="73152" marT="27432" marB="27432" anchor="ctr">
                    <a:solidFill>
                      <a:srgbClr val="FFFFFF"/>
                    </a:solidFill>
                  </a:tcPr>
                </a:tc>
                <a:extLst>
                  <a:ext uri="{0D108BD9-81ED-4DB2-BD59-A6C34878D82A}">
                    <a16:rowId xmlns:a16="http://schemas.microsoft.com/office/drawing/2014/main" val="10003"/>
                  </a:ext>
                </a:extLst>
              </a:tr>
              <a:tr h="93094">
                <a:tc>
                  <a:txBody>
                    <a:bodyPr/>
                    <a:lstStyle/>
                    <a:p>
                      <a:pPr algn="l"/>
                      <a:r>
                        <a:rPr sz="1200" b="0">
                          <a:solidFill>
                            <a:srgbClr val="201F1E"/>
                          </a:solidFill>
                          <a:latin typeface="Segoe UI"/>
                        </a:rPr>
                        <a:t>Error and exception rate</a:t>
                      </a:r>
                    </a:p>
                  </a:txBody>
                  <a:tcPr marR="73152" marT="27432" marB="27432" anchor="ctr">
                    <a:solidFill>
                      <a:srgbClr val="F3F6FB"/>
                    </a:solidFill>
                  </a:tcPr>
                </a:tc>
                <a:tc>
                  <a:txBody>
                    <a:bodyPr/>
                    <a:lstStyle/>
                    <a:p>
                      <a:pPr algn="l"/>
                      <a:r>
                        <a:rPr sz="1200" b="0">
                          <a:solidFill>
                            <a:srgbClr val="201F1E"/>
                          </a:solidFill>
                          <a:latin typeface="Segoe UI"/>
                        </a:rPr>
                        <a:t>New exception types, or error rate &gt; 2%</a:t>
                      </a:r>
                    </a:p>
                  </a:txBody>
                  <a:tcPr marR="73152" marT="27432" marB="27432" anchor="ctr">
                    <a:solidFill>
                      <a:srgbClr val="F3F6FB"/>
                    </a:solidFill>
                  </a:tcPr>
                </a:tc>
                <a:extLst>
                  <a:ext uri="{0D108BD9-81ED-4DB2-BD59-A6C34878D82A}">
                    <a16:rowId xmlns:a16="http://schemas.microsoft.com/office/drawing/2014/main" val="10004"/>
                  </a:ext>
                </a:extLst>
              </a:tr>
              <a:tr h="93094">
                <a:tc>
                  <a:txBody>
                    <a:bodyPr/>
                    <a:lstStyle/>
                    <a:p>
                      <a:pPr algn="l"/>
                      <a:r>
                        <a:rPr sz="1200" b="0">
                          <a:solidFill>
                            <a:srgbClr val="201F1E"/>
                          </a:solidFill>
                          <a:latin typeface="Segoe UI"/>
                        </a:rPr>
                        <a:t>Throttling / 429s</a:t>
                      </a:r>
                    </a:p>
                  </a:txBody>
                  <a:tcPr marR="73152" marT="27432" marB="27432" anchor="ctr">
                    <a:solidFill>
                      <a:srgbClr val="FFFFFF"/>
                    </a:solidFill>
                  </a:tcPr>
                </a:tc>
                <a:tc>
                  <a:txBody>
                    <a:bodyPr/>
                    <a:lstStyle/>
                    <a:p>
                      <a:pPr algn="l"/>
                      <a:r>
                        <a:rPr sz="1200" b="0">
                          <a:solidFill>
                            <a:srgbClr val="201F1E"/>
                          </a:solidFill>
                          <a:latin typeface="Segoe UI"/>
                        </a:rPr>
                        <a:t>Sustained 429s or retry exhaustion</a:t>
                      </a:r>
                    </a:p>
                  </a:txBody>
                  <a:tcPr marR="73152" marT="27432" marB="27432" anchor="ctr">
                    <a:solidFill>
                      <a:srgbClr val="FFFFFF"/>
                    </a:solidFill>
                  </a:tcPr>
                </a:tc>
                <a:extLst>
                  <a:ext uri="{0D108BD9-81ED-4DB2-BD59-A6C34878D82A}">
                    <a16:rowId xmlns:a16="http://schemas.microsoft.com/office/drawing/2014/main" val="10005"/>
                  </a:ext>
                </a:extLst>
              </a:tr>
              <a:tr h="0">
                <a:tc>
                  <a:txBody>
                    <a:bodyPr/>
                    <a:lstStyle/>
                    <a:p>
                      <a:pPr algn="l"/>
                      <a:r>
                        <a:rPr sz="1200" b="0" dirty="0">
                          <a:solidFill>
                            <a:srgbClr val="201F1E"/>
                          </a:solidFill>
                          <a:latin typeface="Segoe UI"/>
                        </a:rPr>
                        <a:t>Quality and safety scores</a:t>
                      </a:r>
                    </a:p>
                  </a:txBody>
                  <a:tcPr marR="73152" marT="27432" marB="27432" anchor="ctr">
                    <a:solidFill>
                      <a:srgbClr val="F3F6FB"/>
                    </a:solidFill>
                  </a:tcPr>
                </a:tc>
                <a:tc>
                  <a:txBody>
                    <a:bodyPr/>
                    <a:lstStyle/>
                    <a:p>
                      <a:pPr algn="l"/>
                      <a:r>
                        <a:rPr sz="1200" b="0" dirty="0">
                          <a:solidFill>
                            <a:srgbClr val="201F1E"/>
                          </a:solidFill>
                          <a:latin typeface="Segoe UI"/>
                        </a:rPr>
                        <a:t>Groundedness / relevance / safety below target</a:t>
                      </a:r>
                    </a:p>
                  </a:txBody>
                  <a:tcPr marR="73152" marT="27432" marB="27432" anchor="ctr">
                    <a:solidFill>
                      <a:srgbClr val="F3F6FB"/>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1461770" y="4412344"/>
            <a:ext cx="11155680" cy="457200"/>
          </a:xfrm>
          <a:prstGeom prst="rect">
            <a:avLst/>
          </a:prstGeom>
          <a:noFill/>
        </p:spPr>
        <p:txBody>
          <a:bodyPr wrap="square" lIns="0" tIns="0" rIns="0" bIns="0" anchor="t">
            <a:spAutoFit/>
          </a:bodyPr>
          <a:lstStyle/>
          <a:p>
            <a:pPr algn="l">
              <a:lnSpc>
                <a:spcPct val="105000"/>
              </a:lnSpc>
              <a:spcBef>
                <a:spcPts val="800"/>
              </a:spcBef>
              <a:spcAft>
                <a:spcPts val="0"/>
              </a:spcAft>
            </a:pPr>
            <a:r>
              <a:rPr sz="1300" b="0" dirty="0">
                <a:solidFill>
                  <a:srgbClr val="605E5C"/>
                </a:solidFill>
                <a:latin typeface="Segoe UI"/>
              </a:rPr>
              <a:t>Starter KQL ships in queries/*.</a:t>
            </a:r>
            <a:r>
              <a:rPr sz="1300" b="0" dirty="0" err="1">
                <a:solidFill>
                  <a:srgbClr val="605E5C"/>
                </a:solidFill>
                <a:latin typeface="Segoe UI"/>
              </a:rPr>
              <a:t>kql</a:t>
            </a:r>
            <a:r>
              <a:rPr sz="1300" b="0" dirty="0">
                <a:solidFill>
                  <a:srgbClr val="605E5C"/>
                </a:solidFill>
                <a:latin typeface="Segoe UI"/>
              </a:rPr>
              <a:t> — token cost, latency percentiles, failed requests, tool reliability, and evaluation-score trends.</a:t>
            </a:r>
          </a:p>
        </p:txBody>
      </p:sp>
      <p:sp>
        <p:nvSpPr>
          <p:cNvPr id="11" name="Rounded Rectangle 10"/>
          <p:cNvSpPr/>
          <p:nvPr/>
        </p:nvSpPr>
        <p:spPr>
          <a:xfrm>
            <a:off x="502920" y="5943600"/>
            <a:ext cx="11183112" cy="530352"/>
          </a:xfrm>
          <a:prstGeom prst="roundRect">
            <a:avLst/>
          </a:prstGeom>
          <a:solidFill>
            <a:srgbClr val="E3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5943600"/>
            <a:ext cx="1417320" cy="530352"/>
          </a:xfrm>
          <a:prstGeom prst="rect">
            <a:avLst/>
          </a:prstGeom>
          <a:noFill/>
        </p:spPr>
        <p:txBody>
          <a:bodyPr wrap="square" lIns="0" tIns="0" rIns="0" bIns="0" anchor="ctr">
            <a:spAutoFit/>
          </a:bodyPr>
          <a:lstStyle/>
          <a:p>
            <a:pPr algn="l"/>
            <a:r>
              <a:rPr sz="1400" b="1">
                <a:solidFill>
                  <a:srgbClr val="00B7C3"/>
                </a:solidFill>
                <a:latin typeface="Segoe UI"/>
              </a:rPr>
              <a:t>▶ DEMO</a:t>
            </a:r>
          </a:p>
        </p:txBody>
      </p:sp>
      <p:sp>
        <p:nvSpPr>
          <p:cNvPr id="13" name="TextBox 12"/>
          <p:cNvSpPr txBox="1"/>
          <p:nvPr/>
        </p:nvSpPr>
        <p:spPr>
          <a:xfrm>
            <a:off x="2057400" y="5943600"/>
            <a:ext cx="9418320" cy="530352"/>
          </a:xfrm>
          <a:prstGeom prst="rect">
            <a:avLst/>
          </a:prstGeom>
          <a:noFill/>
        </p:spPr>
        <p:txBody>
          <a:bodyPr wrap="square" lIns="0" tIns="0" rIns="0" bIns="0" anchor="ctr">
            <a:spAutoFit/>
          </a:bodyPr>
          <a:lstStyle/>
          <a:p>
            <a:pPr algn="l"/>
            <a:r>
              <a:rPr sz="1250" b="1">
                <a:solidFill>
                  <a:srgbClr val="243A5E"/>
                </a:solidFill>
                <a:latin typeface="Segoe UI"/>
              </a:rPr>
              <a:t>App Insights → Workbook   ·   queries/*.kql   →   token cost · P95 latency · tool reliability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CONCEPT</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Red teaming as an observability signal</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12</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Adversarial, automated</a:t>
            </a:r>
          </a:p>
          <a:p>
            <a:pPr algn="l">
              <a:lnSpc>
                <a:spcPct val="105000"/>
              </a:lnSpc>
              <a:spcBef>
                <a:spcPts val="0"/>
              </a:spcBef>
              <a:spcAft>
                <a:spcPts val="300"/>
              </a:spcAft>
            </a:pPr>
            <a:r>
              <a:rPr sz="1500" b="0">
                <a:solidFill>
                  <a:srgbClr val="201F1E"/>
                </a:solidFill>
                <a:latin typeface="Segoe UI"/>
              </a:rPr>
              <a:t>–  Azure AI Foundry AI Red Teaming Agent (preview), built on PyRIT</a:t>
            </a:r>
          </a:p>
          <a:p>
            <a:pPr algn="l">
              <a:lnSpc>
                <a:spcPct val="105000"/>
              </a:lnSpc>
              <a:spcBef>
                <a:spcPts val="0"/>
              </a:spcBef>
              <a:spcAft>
                <a:spcPts val="300"/>
              </a:spcAft>
            </a:pPr>
            <a:r>
              <a:rPr sz="1500" b="0">
                <a:solidFill>
                  <a:srgbClr val="201F1E"/>
                </a:solidFill>
                <a:latin typeface="Segoe UI"/>
              </a:rPr>
              <a:t>–  Risks: violence, hate/unfairness, sexual, self-harm, protected material, code vuln</a:t>
            </a:r>
          </a:p>
          <a:p>
            <a:pPr algn="l">
              <a:lnSpc>
                <a:spcPct val="105000"/>
              </a:lnSpc>
              <a:spcBef>
                <a:spcPts val="0"/>
              </a:spcBef>
              <a:spcAft>
                <a:spcPts val="300"/>
              </a:spcAft>
            </a:pPr>
            <a:r>
              <a:rPr sz="1500" b="0">
                <a:solidFill>
                  <a:srgbClr val="201F1E"/>
                </a:solidFill>
                <a:latin typeface="Segoe UI"/>
              </a:rPr>
              <a:t>–  Run before releases and on a schedule for high-risk changes</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The one .NET gap</a:t>
            </a:r>
          </a:p>
          <a:p>
            <a:pPr algn="l">
              <a:lnSpc>
                <a:spcPct val="105000"/>
              </a:lnSpc>
              <a:spcBef>
                <a:spcPts val="0"/>
              </a:spcBef>
              <a:spcAft>
                <a:spcPts val="300"/>
              </a:spcAft>
            </a:pPr>
            <a:r>
              <a:rPr sz="1500" b="0">
                <a:solidFill>
                  <a:srgbClr val="201F1E"/>
                </a:solidFill>
                <a:latin typeface="Segoe UI"/>
              </a:rPr>
              <a:t>–  Ships only in Python azure-ai-evaluation[redteam]</a:t>
            </a:r>
          </a:p>
          <a:p>
            <a:pPr algn="l">
              <a:lnSpc>
                <a:spcPct val="105000"/>
              </a:lnSpc>
              <a:spcBef>
                <a:spcPts val="0"/>
              </a:spcBef>
              <a:spcAft>
                <a:spcPts val="300"/>
              </a:spcAft>
            </a:pPr>
            <a:r>
              <a:rPr sz="1500" b="0">
                <a:solidFill>
                  <a:srgbClr val="201F1E"/>
                </a:solidFill>
                <a:latin typeface="Segoe UI"/>
              </a:rPr>
              <a:t>–  Mitigate: run the Python scan in CI against the deployed agent (any language)</a:t>
            </a:r>
          </a:p>
          <a:p>
            <a:pPr algn="l">
              <a:lnSpc>
                <a:spcPct val="105000"/>
              </a:lnSpc>
              <a:spcBef>
                <a:spcPts val="0"/>
              </a:spcBef>
              <a:spcAft>
                <a:spcPts val="300"/>
              </a:spcAft>
            </a:pPr>
            <a:r>
              <a:rPr sz="1500" b="0">
                <a:solidFill>
                  <a:srgbClr val="201F1E"/>
                </a:solidFill>
                <a:latin typeface="Segoe UI"/>
              </a:rPr>
              <a:t>–  Or run scans from the Azure AI Foundry portal</a:t>
            </a:r>
          </a:p>
        </p:txBody>
      </p:sp>
      <p:sp>
        <p:nvSpPr>
          <p:cNvPr id="11" name="TextBox 10"/>
          <p:cNvSpPr txBox="1"/>
          <p:nvPr/>
        </p:nvSpPr>
        <p:spPr>
          <a:xfrm>
            <a:off x="502920" y="5623560"/>
            <a:ext cx="11155680" cy="731520"/>
          </a:xfrm>
          <a:prstGeom prst="rect">
            <a:avLst/>
          </a:prstGeom>
          <a:noFill/>
        </p:spPr>
        <p:txBody>
          <a:bodyPr wrap="square" lIns="0" tIns="0" rIns="0" bIns="0" anchor="t">
            <a:spAutoFit/>
          </a:bodyPr>
          <a:lstStyle/>
          <a:p>
            <a:pPr algn="l">
              <a:lnSpc>
                <a:spcPct val="105000"/>
              </a:lnSpc>
              <a:spcBef>
                <a:spcPts val="800"/>
              </a:spcBef>
              <a:spcAft>
                <a:spcPts val="0"/>
              </a:spcAft>
            </a:pPr>
            <a:r>
              <a:rPr sz="1350" b="1">
                <a:solidFill>
                  <a:srgbClr val="243A5E"/>
                </a:solidFill>
                <a:latin typeface="Segoe UI"/>
              </a:rPr>
              <a:t>Capture scan results as release evidence and open work items for failures. Red teaming and some agent evaluators are preview — confirm region + production suitability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GOVERNANCE</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Govern the telemetry — especially in banking</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13</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Data handling</a:t>
            </a:r>
          </a:p>
          <a:p>
            <a:pPr algn="l">
              <a:lnSpc>
                <a:spcPct val="105000"/>
              </a:lnSpc>
              <a:spcBef>
                <a:spcPts val="0"/>
              </a:spcBef>
              <a:spcAft>
                <a:spcPts val="300"/>
              </a:spcAft>
            </a:pPr>
            <a:r>
              <a:rPr sz="1500" b="0">
                <a:solidFill>
                  <a:srgbClr val="201F1E"/>
                </a:solidFill>
                <a:latin typeface="Segoe UI"/>
              </a:rPr>
              <a:t>–  Use mock or redacted data in traces and eval datasets</a:t>
            </a:r>
          </a:p>
          <a:p>
            <a:pPr algn="l">
              <a:lnSpc>
                <a:spcPct val="105000"/>
              </a:lnSpc>
              <a:spcBef>
                <a:spcPts val="0"/>
              </a:spcBef>
              <a:spcAft>
                <a:spcPts val="300"/>
              </a:spcAft>
            </a:pPr>
            <a:r>
              <a:rPr sz="1500" b="0">
                <a:solidFill>
                  <a:srgbClr val="201F1E"/>
                </a:solidFill>
                <a:latin typeface="Segoe UI"/>
              </a:rPr>
              <a:t>–  Content capture OFF in production unless approved</a:t>
            </a:r>
          </a:p>
          <a:p>
            <a:pPr algn="l">
              <a:lnSpc>
                <a:spcPct val="105000"/>
              </a:lnSpc>
              <a:spcBef>
                <a:spcPts val="0"/>
              </a:spcBef>
              <a:spcAft>
                <a:spcPts val="300"/>
              </a:spcAft>
            </a:pPr>
            <a:r>
              <a:rPr sz="1500" b="0">
                <a:solidFill>
                  <a:srgbClr val="201F1E"/>
                </a:solidFill>
                <a:latin typeface="Segoe UI"/>
              </a:rPr>
              <a:t>–  Redact PANs, names, addresses, tokens before data leaves the app</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Access &amp; configuration</a:t>
            </a:r>
          </a:p>
          <a:p>
            <a:pPr algn="l">
              <a:lnSpc>
                <a:spcPct val="105000"/>
              </a:lnSpc>
              <a:spcBef>
                <a:spcPts val="0"/>
              </a:spcBef>
              <a:spcAft>
                <a:spcPts val="300"/>
              </a:spcAft>
            </a:pPr>
            <a:r>
              <a:rPr sz="1500" b="0">
                <a:solidFill>
                  <a:srgbClr val="201F1E"/>
                </a:solidFill>
                <a:latin typeface="Segoe UI"/>
              </a:rPr>
              <a:t>–  Separate dev / prod telemetry via env vars, not code changes</a:t>
            </a:r>
          </a:p>
          <a:p>
            <a:pPr algn="l">
              <a:lnSpc>
                <a:spcPct val="105000"/>
              </a:lnSpc>
              <a:spcBef>
                <a:spcPts val="0"/>
              </a:spcBef>
              <a:spcAft>
                <a:spcPts val="300"/>
              </a:spcAft>
            </a:pPr>
            <a:r>
              <a:rPr sz="1500" b="0">
                <a:solidFill>
                  <a:srgbClr val="201F1E"/>
                </a:solidFill>
                <a:latin typeface="Segoe UI"/>
              </a:rPr>
              <a:t>–  Least-privilege access to App Insights / Log Analytics</a:t>
            </a:r>
          </a:p>
          <a:p>
            <a:pPr algn="l">
              <a:lnSpc>
                <a:spcPct val="105000"/>
              </a:lnSpc>
              <a:spcBef>
                <a:spcPts val="0"/>
              </a:spcBef>
              <a:spcAft>
                <a:spcPts val="300"/>
              </a:spcAft>
            </a:pPr>
            <a:r>
              <a:rPr sz="1500" b="0">
                <a:solidFill>
                  <a:srgbClr val="201F1E"/>
                </a:solidFill>
                <a:latin typeface="Segoe UI"/>
              </a:rPr>
              <a:t>–  Document sampling rates, retention, and who can view trace content</a:t>
            </a:r>
          </a:p>
        </p:txBody>
      </p:sp>
      <p:sp>
        <p:nvSpPr>
          <p:cNvPr id="11" name="TextBox 10"/>
          <p:cNvSpPr txBox="1"/>
          <p:nvPr/>
        </p:nvSpPr>
        <p:spPr>
          <a:xfrm>
            <a:off x="502920" y="5623560"/>
            <a:ext cx="11155680" cy="731520"/>
          </a:xfrm>
          <a:prstGeom prst="rect">
            <a:avLst/>
          </a:prstGeom>
          <a:noFill/>
        </p:spPr>
        <p:txBody>
          <a:bodyPr wrap="square" lIns="0" tIns="0" rIns="0" bIns="0" anchor="t">
            <a:spAutoFit/>
          </a:bodyPr>
          <a:lstStyle/>
          <a:p>
            <a:pPr algn="l">
              <a:lnSpc>
                <a:spcPct val="105000"/>
              </a:lnSpc>
              <a:spcBef>
                <a:spcPts val="800"/>
              </a:spcBef>
              <a:spcAft>
                <a:spcPts val="0"/>
              </a:spcAft>
            </a:pPr>
            <a:r>
              <a:rPr sz="1350" b="1">
                <a:solidFill>
                  <a:srgbClr val="243A5E"/>
                </a:solidFill>
                <a:latin typeface="Segoe UI"/>
              </a:rPr>
              <a:t>The evaluators in this lab exist partly for this reason: the PII-leakage rule is a safety net that fails the gate if a full account number ever reaches a response or a log.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PRO-CODE</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.NET and Python parity</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14</a:t>
            </a:r>
          </a:p>
        </p:txBody>
      </p:sp>
      <p:graphicFrame>
        <p:nvGraphicFramePr>
          <p:cNvPr id="9" name="Table 8"/>
          <p:cNvGraphicFramePr>
            <a:graphicFrameLocks noGrp="1"/>
          </p:cNvGraphicFramePr>
          <p:nvPr>
            <p:extLst>
              <p:ext uri="{D42A27DB-BD31-4B8C-83A1-F6EECF244321}">
                <p14:modId xmlns:p14="http://schemas.microsoft.com/office/powerpoint/2010/main" val="2053433921"/>
              </p:ext>
            </p:extLst>
          </p:nvPr>
        </p:nvGraphicFramePr>
        <p:xfrm>
          <a:off x="502920" y="2075688"/>
          <a:ext cx="11155680" cy="1717548"/>
        </p:xfrm>
        <a:graphic>
          <a:graphicData uri="http://schemas.openxmlformats.org/drawingml/2006/table">
            <a:tbl>
              <a:tblPr>
                <a:tableStyleId>{5C22544A-7EE6-4342-B048-85BDC9FD1C3A}</a:tableStyleId>
              </a:tblPr>
              <a:tblGrid>
                <a:gridCol w="6949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88900">
                <a:tc>
                  <a:txBody>
                    <a:bodyPr/>
                    <a:lstStyle/>
                    <a:p>
                      <a:pPr algn="l"/>
                      <a:r>
                        <a:rPr sz="1250" b="1">
                          <a:solidFill>
                            <a:srgbClr val="FFFFFF"/>
                          </a:solidFill>
                          <a:latin typeface="Segoe UI"/>
                        </a:rPr>
                        <a:t>Capability</a:t>
                      </a:r>
                    </a:p>
                  </a:txBody>
                  <a:tcPr marR="73152" marT="27432" marB="27432" anchor="ctr">
                    <a:solidFill>
                      <a:srgbClr val="243A5E"/>
                    </a:solidFill>
                  </a:tcPr>
                </a:tc>
                <a:tc>
                  <a:txBody>
                    <a:bodyPr/>
                    <a:lstStyle/>
                    <a:p>
                      <a:pPr algn="l"/>
                      <a:r>
                        <a:rPr sz="1250" b="1">
                          <a:solidFill>
                            <a:srgbClr val="FFFFFF"/>
                          </a:solidFill>
                          <a:latin typeface="Segoe UI"/>
                        </a:rPr>
                        <a:t>Python</a:t>
                      </a:r>
                    </a:p>
                  </a:txBody>
                  <a:tcPr marR="73152" marT="27432" marB="27432" anchor="ctr">
                    <a:solidFill>
                      <a:srgbClr val="243A5E"/>
                    </a:solidFill>
                  </a:tcPr>
                </a:tc>
                <a:tc>
                  <a:txBody>
                    <a:bodyPr/>
                    <a:lstStyle/>
                    <a:p>
                      <a:pPr algn="l"/>
                      <a:r>
                        <a:rPr sz="1250" b="1" dirty="0">
                          <a:solidFill>
                            <a:srgbClr val="FFFFFF"/>
                          </a:solidFill>
                          <a:latin typeface="Segoe UI"/>
                        </a:rPr>
                        <a:t>.NET</a:t>
                      </a:r>
                    </a:p>
                  </a:txBody>
                  <a:tcPr marR="73152" marT="27432" marB="27432" anchor="ctr">
                    <a:solidFill>
                      <a:srgbClr val="243A5E"/>
                    </a:solidFill>
                  </a:tcPr>
                </a:tc>
                <a:extLst>
                  <a:ext uri="{0D108BD9-81ED-4DB2-BD59-A6C34878D82A}">
                    <a16:rowId xmlns:a16="http://schemas.microsoft.com/office/drawing/2014/main" val="10000"/>
                  </a:ext>
                </a:extLst>
              </a:tr>
              <a:tr h="0">
                <a:tc>
                  <a:txBody>
                    <a:bodyPr/>
                    <a:lstStyle/>
                    <a:p>
                      <a:pPr algn="l"/>
                      <a:r>
                        <a:rPr sz="1250" b="0">
                          <a:solidFill>
                            <a:srgbClr val="201F1E"/>
                          </a:solidFill>
                          <a:latin typeface="Segoe UI"/>
                        </a:rPr>
                        <a:t>Custom rule-based evaluators</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extLst>
                  <a:ext uri="{0D108BD9-81ED-4DB2-BD59-A6C34878D82A}">
                    <a16:rowId xmlns:a16="http://schemas.microsoft.com/office/drawing/2014/main" val="10001"/>
                  </a:ext>
                </a:extLst>
              </a:tr>
              <a:tr h="0">
                <a:tc>
                  <a:txBody>
                    <a:bodyPr/>
                    <a:lstStyle/>
                    <a:p>
                      <a:pPr algn="l"/>
                      <a:r>
                        <a:rPr sz="1250" b="0">
                          <a:solidFill>
                            <a:srgbClr val="201F1E"/>
                          </a:solidFill>
                          <a:latin typeface="Segoe UI"/>
                        </a:rPr>
                        <a:t>Offline quality gate (CI)</a:t>
                      </a:r>
                    </a:p>
                  </a:txBody>
                  <a:tcPr marR="73152" marT="27432" marB="27432" anchor="ctr">
                    <a:solidFill>
                      <a:srgbClr val="F3F6FB"/>
                    </a:solidFill>
                  </a:tcPr>
                </a:tc>
                <a:tc>
                  <a:txBody>
                    <a:bodyPr/>
                    <a:lstStyle/>
                    <a:p>
                      <a:pPr algn="ctr"/>
                      <a:r>
                        <a:rPr sz="1250" b="1">
                          <a:solidFill>
                            <a:srgbClr val="107C10"/>
                          </a:solidFill>
                          <a:latin typeface="Segoe UI"/>
                        </a:rPr>
                        <a:t>✓</a:t>
                      </a:r>
                    </a:p>
                  </a:txBody>
                  <a:tcPr marR="73152" marT="27432" marB="27432" anchor="ctr">
                    <a:solidFill>
                      <a:srgbClr val="F3F6FB"/>
                    </a:solidFill>
                  </a:tcPr>
                </a:tc>
                <a:tc>
                  <a:txBody>
                    <a:bodyPr/>
                    <a:lstStyle/>
                    <a:p>
                      <a:pPr algn="ctr"/>
                      <a:r>
                        <a:rPr sz="1250" b="1">
                          <a:solidFill>
                            <a:srgbClr val="107C10"/>
                          </a:solidFill>
                          <a:latin typeface="Segoe UI"/>
                        </a:rPr>
                        <a:t>✓</a:t>
                      </a:r>
                    </a:p>
                  </a:txBody>
                  <a:tcPr marR="73152" marT="27432" marB="27432" anchor="ctr">
                    <a:solidFill>
                      <a:srgbClr val="F3F6FB"/>
                    </a:solidFill>
                  </a:tcPr>
                </a:tc>
                <a:extLst>
                  <a:ext uri="{0D108BD9-81ED-4DB2-BD59-A6C34878D82A}">
                    <a16:rowId xmlns:a16="http://schemas.microsoft.com/office/drawing/2014/main" val="10002"/>
                  </a:ext>
                </a:extLst>
              </a:tr>
              <a:tr h="0">
                <a:tc>
                  <a:txBody>
                    <a:bodyPr/>
                    <a:lstStyle/>
                    <a:p>
                      <a:pPr algn="l"/>
                      <a:r>
                        <a:rPr sz="1250" b="0">
                          <a:solidFill>
                            <a:srgbClr val="201F1E"/>
                          </a:solidFill>
                          <a:latin typeface="Segoe UI"/>
                        </a:rPr>
                        <a:t>LLM-judge quality evaluators</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extLst>
                  <a:ext uri="{0D108BD9-81ED-4DB2-BD59-A6C34878D82A}">
                    <a16:rowId xmlns:a16="http://schemas.microsoft.com/office/drawing/2014/main" val="10003"/>
                  </a:ext>
                </a:extLst>
              </a:tr>
              <a:tr h="0">
                <a:tc>
                  <a:txBody>
                    <a:bodyPr/>
                    <a:lstStyle/>
                    <a:p>
                      <a:pPr algn="l"/>
                      <a:r>
                        <a:rPr sz="1250" b="0">
                          <a:solidFill>
                            <a:srgbClr val="201F1E"/>
                          </a:solidFill>
                          <a:latin typeface="Segoe UI"/>
                        </a:rPr>
                        <a:t>Response generation from the agent</a:t>
                      </a:r>
                    </a:p>
                  </a:txBody>
                  <a:tcPr marR="73152" marT="27432" marB="27432" anchor="ctr">
                    <a:solidFill>
                      <a:srgbClr val="F3F6FB"/>
                    </a:solidFill>
                  </a:tcPr>
                </a:tc>
                <a:tc>
                  <a:txBody>
                    <a:bodyPr/>
                    <a:lstStyle/>
                    <a:p>
                      <a:pPr algn="ctr"/>
                      <a:r>
                        <a:rPr sz="1250" b="1">
                          <a:solidFill>
                            <a:srgbClr val="107C10"/>
                          </a:solidFill>
                          <a:latin typeface="Segoe UI"/>
                        </a:rPr>
                        <a:t>✓</a:t>
                      </a:r>
                    </a:p>
                  </a:txBody>
                  <a:tcPr marR="73152" marT="27432" marB="27432" anchor="ctr">
                    <a:solidFill>
                      <a:srgbClr val="F3F6FB"/>
                    </a:solidFill>
                  </a:tcPr>
                </a:tc>
                <a:tc>
                  <a:txBody>
                    <a:bodyPr/>
                    <a:lstStyle/>
                    <a:p>
                      <a:pPr algn="ctr"/>
                      <a:r>
                        <a:rPr sz="1250" b="1">
                          <a:solidFill>
                            <a:srgbClr val="107C10"/>
                          </a:solidFill>
                          <a:latin typeface="Segoe UI"/>
                        </a:rPr>
                        <a:t>✓</a:t>
                      </a:r>
                    </a:p>
                  </a:txBody>
                  <a:tcPr marR="73152" marT="27432" marB="27432" anchor="ctr">
                    <a:solidFill>
                      <a:srgbClr val="F3F6FB"/>
                    </a:solidFill>
                  </a:tcPr>
                </a:tc>
                <a:extLst>
                  <a:ext uri="{0D108BD9-81ED-4DB2-BD59-A6C34878D82A}">
                    <a16:rowId xmlns:a16="http://schemas.microsoft.com/office/drawing/2014/main" val="10004"/>
                  </a:ext>
                </a:extLst>
              </a:tr>
              <a:tr h="0">
                <a:tc>
                  <a:txBody>
                    <a:bodyPr/>
                    <a:lstStyle/>
                    <a:p>
                      <a:pPr algn="l"/>
                      <a:r>
                        <a:rPr sz="1250" b="0">
                          <a:solidFill>
                            <a:srgbClr val="201F1E"/>
                          </a:solidFill>
                          <a:latin typeface="Segoe UI"/>
                        </a:rPr>
                        <a:t>OpenTelemetry GenAI tracing → Azure Monitor</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tc>
                  <a:txBody>
                    <a:bodyPr/>
                    <a:lstStyle/>
                    <a:p>
                      <a:pPr algn="ctr"/>
                      <a:r>
                        <a:rPr sz="1250" b="1">
                          <a:solidFill>
                            <a:srgbClr val="107C10"/>
                          </a:solidFill>
                          <a:latin typeface="Segoe UI"/>
                        </a:rPr>
                        <a:t>✓</a:t>
                      </a:r>
                    </a:p>
                  </a:txBody>
                  <a:tcPr marR="73152" marT="27432" marB="27432" anchor="ctr">
                    <a:solidFill>
                      <a:srgbClr val="FFFFFF"/>
                    </a:solidFill>
                  </a:tcPr>
                </a:tc>
                <a:extLst>
                  <a:ext uri="{0D108BD9-81ED-4DB2-BD59-A6C34878D82A}">
                    <a16:rowId xmlns:a16="http://schemas.microsoft.com/office/drawing/2014/main" val="10005"/>
                  </a:ext>
                </a:extLst>
              </a:tr>
              <a:tr h="0">
                <a:tc>
                  <a:txBody>
                    <a:bodyPr/>
                    <a:lstStyle/>
                    <a:p>
                      <a:pPr algn="l"/>
                      <a:r>
                        <a:rPr sz="1250" b="0">
                          <a:solidFill>
                            <a:srgbClr val="201F1E"/>
                          </a:solidFill>
                          <a:latin typeface="Segoe UI"/>
                        </a:rPr>
                        <a:t>AI red teaming (PyRIT)</a:t>
                      </a:r>
                    </a:p>
                  </a:txBody>
                  <a:tcPr marR="73152" marT="27432" marB="27432" anchor="ctr">
                    <a:solidFill>
                      <a:srgbClr val="F3F6FB"/>
                    </a:solidFill>
                  </a:tcPr>
                </a:tc>
                <a:tc>
                  <a:txBody>
                    <a:bodyPr/>
                    <a:lstStyle/>
                    <a:p>
                      <a:pPr algn="ctr"/>
                      <a:r>
                        <a:rPr sz="1250" b="1">
                          <a:solidFill>
                            <a:srgbClr val="107C10"/>
                          </a:solidFill>
                          <a:latin typeface="Segoe UI"/>
                        </a:rPr>
                        <a:t>✓</a:t>
                      </a:r>
                    </a:p>
                  </a:txBody>
                  <a:tcPr marR="73152" marT="27432" marB="27432" anchor="ctr">
                    <a:solidFill>
                      <a:srgbClr val="F3F6FB"/>
                    </a:solidFill>
                  </a:tcPr>
                </a:tc>
                <a:tc>
                  <a:txBody>
                    <a:bodyPr/>
                    <a:lstStyle/>
                    <a:p>
                      <a:pPr algn="ctr"/>
                      <a:r>
                        <a:rPr sz="1250" b="1" dirty="0">
                          <a:solidFill>
                            <a:srgbClr val="C50F1F"/>
                          </a:solidFill>
                          <a:latin typeface="Segoe UI"/>
                        </a:rPr>
                        <a:t>—  Python-only</a:t>
                      </a:r>
                    </a:p>
                  </a:txBody>
                  <a:tcPr marR="73152" marT="27432" marB="27432" anchor="ctr">
                    <a:solidFill>
                      <a:srgbClr val="F3F6FB"/>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572770" y="4739132"/>
            <a:ext cx="11155680" cy="914400"/>
          </a:xfrm>
          <a:prstGeom prst="rect">
            <a:avLst/>
          </a:prstGeom>
          <a:noFill/>
        </p:spPr>
        <p:txBody>
          <a:bodyPr wrap="square" lIns="0" tIns="0" rIns="0" bIns="0" anchor="t">
            <a:spAutoFit/>
          </a:bodyPr>
          <a:lstStyle/>
          <a:p>
            <a:pPr algn="l">
              <a:lnSpc>
                <a:spcPct val="105000"/>
              </a:lnSpc>
              <a:spcBef>
                <a:spcPts val="800"/>
              </a:spcBef>
              <a:spcAft>
                <a:spcPts val="0"/>
              </a:spcAft>
            </a:pPr>
            <a:r>
              <a:rPr sz="1400" b="1">
                <a:solidFill>
                  <a:srgbClr val="243A5E"/>
                </a:solidFill>
                <a:latin typeface="Segoe UI"/>
              </a:rPr>
              <a:t>Everything is first-class .NET except AI red teaming. Mitigate by running the Python scanner over HTTP against your deployed agent — it's language-agnostic. .NET uses Microsoft.Extensions.AI.Evaluation; Python uses azure-ai-evaluation.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CURRENCY</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What's GA, what's preview, what's next</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15</a:t>
            </a:r>
          </a:p>
        </p:txBody>
      </p:sp>
      <p:sp>
        <p:nvSpPr>
          <p:cNvPr id="9" name="TextBox 8"/>
          <p:cNvSpPr txBox="1"/>
          <p:nvPr/>
        </p:nvSpPr>
        <p:spPr>
          <a:xfrm>
            <a:off x="502920" y="1325880"/>
            <a:ext cx="11155680" cy="457200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Preview today — confirm region + production suitability</a:t>
            </a:r>
          </a:p>
          <a:p>
            <a:pPr algn="l">
              <a:lnSpc>
                <a:spcPct val="105000"/>
              </a:lnSpc>
              <a:spcBef>
                <a:spcPts val="0"/>
              </a:spcBef>
              <a:spcAft>
                <a:spcPts val="300"/>
              </a:spcAft>
            </a:pPr>
            <a:r>
              <a:rPr sz="1500" b="0">
                <a:solidFill>
                  <a:srgbClr val="201F1E"/>
                </a:solidFill>
                <a:latin typeface="Segoe UI"/>
              </a:rPr>
              <a:t>–  AI Red Teaming Agent; agent evaluators (intent resolution, tool-call accuracy, task adherence); Azure Monitor Agents view</a:t>
            </a:r>
          </a:p>
          <a:p>
            <a:pPr algn="l">
              <a:lnSpc>
                <a:spcPct val="105000"/>
              </a:lnSpc>
              <a:spcBef>
                <a:spcPts val="1000"/>
              </a:spcBef>
              <a:spcAft>
                <a:spcPts val="300"/>
              </a:spcAft>
            </a:pPr>
            <a:r>
              <a:rPr sz="1800" b="1">
                <a:solidFill>
                  <a:srgbClr val="243A5E"/>
                </a:solidFill>
                <a:latin typeface="Segoe UI"/>
              </a:rPr>
              <a:t>■  Go-forward libraries</a:t>
            </a:r>
          </a:p>
          <a:p>
            <a:pPr algn="l">
              <a:lnSpc>
                <a:spcPct val="105000"/>
              </a:lnSpc>
              <a:spcBef>
                <a:spcPts val="0"/>
              </a:spcBef>
              <a:spcAft>
                <a:spcPts val="300"/>
              </a:spcAft>
            </a:pPr>
            <a:r>
              <a:rPr sz="1500" b="0">
                <a:solidFill>
                  <a:srgbClr val="201F1E"/>
                </a:solidFill>
                <a:latin typeface="Segoe UI"/>
              </a:rPr>
              <a:t>–  azure-ai-evaluation (Python)  ·  Microsoft.Extensions.AI.Evaluation (.NET)  ·  OpenTelemetry GenAI semantic conventions</a:t>
            </a:r>
          </a:p>
          <a:p>
            <a:pPr algn="l">
              <a:lnSpc>
                <a:spcPct val="105000"/>
              </a:lnSpc>
              <a:spcBef>
                <a:spcPts val="1000"/>
              </a:spcBef>
              <a:spcAft>
                <a:spcPts val="300"/>
              </a:spcAft>
            </a:pPr>
            <a:r>
              <a:rPr sz="1800" b="1">
                <a:solidFill>
                  <a:srgbClr val="243A5E"/>
                </a:solidFill>
                <a:latin typeface="Segoe UI"/>
              </a:rPr>
              <a:t>■  Low-code evaluation</a:t>
            </a:r>
          </a:p>
          <a:p>
            <a:pPr algn="l">
              <a:lnSpc>
                <a:spcPct val="105000"/>
              </a:lnSpc>
              <a:spcBef>
                <a:spcPts val="0"/>
              </a:spcBef>
              <a:spcAft>
                <a:spcPts val="300"/>
              </a:spcAft>
            </a:pPr>
            <a:r>
              <a:rPr sz="1500" b="0">
                <a:solidFill>
                  <a:srgbClr val="201F1E"/>
                </a:solidFill>
                <a:latin typeface="Segoe UI"/>
              </a:rPr>
              <a:t>–  Copilot Studio Evaluation Framework — designed + observed evals normalized to JSONL, exported to the built-in Evaluation tool or the Power CAT Copilot Studio Kit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4592"/>
            <a:ext cx="10515600" cy="274320"/>
          </a:xfrm>
          <a:prstGeom prst="rect">
            <a:avLst/>
          </a:prstGeom>
          <a:noFill/>
        </p:spPr>
        <p:txBody>
          <a:bodyPr wrap="square" lIns="0" tIns="0" rIns="0" bIns="0" anchor="t">
            <a:spAutoFit/>
          </a:bodyPr>
          <a:lstStyle/>
          <a:p>
            <a:pPr algn="l"/>
            <a:r>
              <a:rPr sz="1200" b="1">
                <a:solidFill>
                  <a:srgbClr val="00B7C3"/>
                </a:solidFill>
                <a:latin typeface="Segoe UI"/>
              </a:rPr>
              <a:t>WRAP</a:t>
            </a:r>
          </a:p>
        </p:txBody>
      </p:sp>
      <p:sp>
        <p:nvSpPr>
          <p:cNvPr id="5" name="TextBox 4"/>
          <p:cNvSpPr txBox="1"/>
          <p:nvPr/>
        </p:nvSpPr>
        <p:spPr>
          <a:xfrm>
            <a:off x="502920" y="420624"/>
            <a:ext cx="11155680" cy="603504"/>
          </a:xfrm>
          <a:prstGeom prst="rect">
            <a:avLst/>
          </a:prstGeom>
          <a:noFill/>
        </p:spPr>
        <p:txBody>
          <a:bodyPr wrap="square" lIns="0" tIns="0" rIns="0" bIns="0" anchor="t">
            <a:spAutoFit/>
          </a:bodyPr>
          <a:lstStyle/>
          <a:p>
            <a:pPr algn="l"/>
            <a:r>
              <a:rPr sz="2600" b="1">
                <a:solidFill>
                  <a:srgbClr val="FFFFFF"/>
                </a:solidFill>
                <a:latin typeface="Segoe UI"/>
              </a:rPr>
              <a:t>Ship agents you can trust</a:t>
            </a:r>
          </a:p>
        </p:txBody>
      </p:sp>
      <p:sp>
        <p:nvSpPr>
          <p:cNvPr id="6" name="Rectangle 5"/>
          <p:cNvSpPr/>
          <p:nvPr/>
        </p:nvSpPr>
        <p:spPr>
          <a:xfrm>
            <a:off x="0" y="6601968"/>
            <a:ext cx="12191695" cy="25603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611112"/>
            <a:ext cx="8686800" cy="228600"/>
          </a:xfrm>
          <a:prstGeom prst="rect">
            <a:avLst/>
          </a:prstGeom>
          <a:noFill/>
        </p:spPr>
        <p:txBody>
          <a:bodyPr wrap="square" lIns="0" tIns="0" rIns="0" bIns="0" anchor="t">
            <a:spAutoFit/>
          </a:bodyPr>
          <a:lstStyle/>
          <a:p>
            <a:pPr algn="l"/>
            <a:r>
              <a:rPr sz="900" b="0">
                <a:solidFill>
                  <a:srgbClr val="605E5C"/>
                </a:solidFill>
                <a:latin typeface="Segoe UI"/>
              </a:rPr>
              <a:t>Agent Modernization Workshops — Lab 07: Testing, Evaluation &amp; Observability</a:t>
            </a:r>
          </a:p>
        </p:txBody>
      </p:sp>
      <p:sp>
        <p:nvSpPr>
          <p:cNvPr id="8" name="TextBox 7"/>
          <p:cNvSpPr txBox="1"/>
          <p:nvPr/>
        </p:nvSpPr>
        <p:spPr>
          <a:xfrm>
            <a:off x="11274552" y="6611112"/>
            <a:ext cx="548640" cy="228600"/>
          </a:xfrm>
          <a:prstGeom prst="rect">
            <a:avLst/>
          </a:prstGeom>
          <a:noFill/>
        </p:spPr>
        <p:txBody>
          <a:bodyPr wrap="square" lIns="0" tIns="0" rIns="0" bIns="0" anchor="t">
            <a:spAutoFit/>
          </a:bodyPr>
          <a:lstStyle/>
          <a:p>
            <a:pPr algn="r"/>
            <a:r>
              <a:rPr sz="900" b="1">
                <a:solidFill>
                  <a:srgbClr val="605E5C"/>
                </a:solidFill>
                <a:latin typeface="Segoe UI"/>
              </a:rPr>
              <a:t>16</a:t>
            </a:r>
          </a:p>
        </p:txBody>
      </p:sp>
      <p:sp>
        <p:nvSpPr>
          <p:cNvPr id="9" name="TextBox 8"/>
          <p:cNvSpPr txBox="1"/>
          <p:nvPr/>
        </p:nvSpPr>
        <p:spPr>
          <a:xfrm>
            <a:off x="502920" y="1325880"/>
            <a:ext cx="539496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You can now</a:t>
            </a:r>
          </a:p>
          <a:p>
            <a:pPr algn="l">
              <a:lnSpc>
                <a:spcPct val="105000"/>
              </a:lnSpc>
              <a:spcBef>
                <a:spcPts val="0"/>
              </a:spcBef>
              <a:spcAft>
                <a:spcPts val="300"/>
              </a:spcAft>
            </a:pPr>
            <a:r>
              <a:rPr sz="1500" b="0">
                <a:solidFill>
                  <a:srgbClr val="201F1E"/>
                </a:solidFill>
                <a:latin typeface="Segoe UI"/>
              </a:rPr>
              <a:t>–  Encode domain policy as deterministic evaluators</a:t>
            </a:r>
          </a:p>
          <a:p>
            <a:pPr algn="l">
              <a:lnSpc>
                <a:spcPct val="105000"/>
              </a:lnSpc>
              <a:spcBef>
                <a:spcPts val="0"/>
              </a:spcBef>
              <a:spcAft>
                <a:spcPts val="300"/>
              </a:spcAft>
            </a:pPr>
            <a:r>
              <a:rPr sz="1500" b="0">
                <a:solidFill>
                  <a:srgbClr val="201F1E"/>
                </a:solidFill>
                <a:latin typeface="Segoe UI"/>
              </a:rPr>
              <a:t>–  Gate every PR offline — then add online + nightly</a:t>
            </a:r>
          </a:p>
          <a:p>
            <a:pPr algn="l">
              <a:lnSpc>
                <a:spcPct val="105000"/>
              </a:lnSpc>
              <a:spcBef>
                <a:spcPts val="0"/>
              </a:spcBef>
              <a:spcAft>
                <a:spcPts val="300"/>
              </a:spcAft>
            </a:pPr>
            <a:r>
              <a:rPr sz="1500" b="0">
                <a:solidFill>
                  <a:srgbClr val="201F1E"/>
                </a:solidFill>
                <a:latin typeface="Segoe UI"/>
              </a:rPr>
              <a:t>–  Trace, dashboard, alert, and red team the agent</a:t>
            </a:r>
          </a:p>
          <a:p>
            <a:pPr algn="l">
              <a:lnSpc>
                <a:spcPct val="105000"/>
              </a:lnSpc>
              <a:spcBef>
                <a:spcPts val="0"/>
              </a:spcBef>
              <a:spcAft>
                <a:spcPts val="300"/>
              </a:spcAft>
            </a:pPr>
            <a:r>
              <a:rPr sz="1500" b="0">
                <a:solidFill>
                  <a:srgbClr val="201F1E"/>
                </a:solidFill>
                <a:latin typeface="Segoe UI"/>
              </a:rPr>
              <a:t>–  Do it all with Python + .NET parity</a:t>
            </a:r>
          </a:p>
        </p:txBody>
      </p:sp>
      <p:sp>
        <p:nvSpPr>
          <p:cNvPr id="10" name="TextBox 9"/>
          <p:cNvSpPr txBox="1"/>
          <p:nvPr/>
        </p:nvSpPr>
        <p:spPr>
          <a:xfrm>
            <a:off x="6080760" y="1325880"/>
            <a:ext cx="5577840" cy="4389120"/>
          </a:xfrm>
          <a:prstGeom prst="rect">
            <a:avLst/>
          </a:prstGeom>
          <a:noFill/>
        </p:spPr>
        <p:txBody>
          <a:bodyPr wrap="square" lIns="0" tIns="0" rIns="0" bIns="0" anchor="t">
            <a:spAutoFit/>
          </a:bodyPr>
          <a:lstStyle/>
          <a:p>
            <a:pPr algn="l">
              <a:lnSpc>
                <a:spcPct val="105000"/>
              </a:lnSpc>
              <a:spcBef>
                <a:spcPts val="1000"/>
              </a:spcBef>
              <a:spcAft>
                <a:spcPts val="300"/>
              </a:spcAft>
            </a:pPr>
            <a:r>
              <a:rPr sz="1800" b="1">
                <a:solidFill>
                  <a:srgbClr val="243A5E"/>
                </a:solidFill>
                <a:latin typeface="Segoe UI"/>
              </a:rPr>
              <a:t>■  Resources</a:t>
            </a:r>
          </a:p>
          <a:p>
            <a:pPr algn="l">
              <a:lnSpc>
                <a:spcPct val="105000"/>
              </a:lnSpc>
              <a:spcBef>
                <a:spcPts val="0"/>
              </a:spcBef>
              <a:spcAft>
                <a:spcPts val="300"/>
              </a:spcAft>
            </a:pPr>
            <a:r>
              <a:rPr sz="1500" b="0">
                <a:solidFill>
                  <a:srgbClr val="201F1E"/>
                </a:solidFill>
                <a:latin typeface="Segoe UI"/>
              </a:rPr>
              <a:t>–  Repo: github.com/bradrlaw/agent-modernization-workshops → labs/lab07</a:t>
            </a:r>
          </a:p>
          <a:p>
            <a:pPr algn="l">
              <a:lnSpc>
                <a:spcPct val="105000"/>
              </a:lnSpc>
              <a:spcBef>
                <a:spcPts val="0"/>
              </a:spcBef>
              <a:spcAft>
                <a:spcPts val="300"/>
              </a:spcAft>
            </a:pPr>
            <a:r>
              <a:rPr sz="1500" b="0">
                <a:solidFill>
                  <a:srgbClr val="201F1E"/>
                </a:solidFill>
                <a:latin typeface="Segoe UI"/>
              </a:rPr>
              <a:t>–  Run book: presentation/DEMO-SCRIPT.md</a:t>
            </a:r>
          </a:p>
          <a:p>
            <a:pPr algn="l">
              <a:lnSpc>
                <a:spcPct val="105000"/>
              </a:lnSpc>
              <a:spcBef>
                <a:spcPts val="0"/>
              </a:spcBef>
              <a:spcAft>
                <a:spcPts val="300"/>
              </a:spcAft>
            </a:pPr>
            <a:r>
              <a:rPr sz="1500" b="0">
                <a:solidFill>
                  <a:srgbClr val="201F1E"/>
                </a:solidFill>
                <a:latin typeface="Segoe UI"/>
              </a:rPr>
              <a:t>–  Copilot Studio evals: github.com/bradrlaw/copilot-studio-evals</a:t>
            </a:r>
          </a:p>
          <a:p>
            <a:pPr algn="l">
              <a:lnSpc>
                <a:spcPct val="105000"/>
              </a:lnSpc>
              <a:spcBef>
                <a:spcPts val="0"/>
              </a:spcBef>
              <a:spcAft>
                <a:spcPts val="300"/>
              </a:spcAft>
            </a:pPr>
            <a:r>
              <a:rPr sz="1500" b="0">
                <a:solidFill>
                  <a:srgbClr val="201F1E"/>
                </a:solidFill>
                <a:latin typeface="Segoe UI"/>
              </a:rPr>
              <a:t>–  Next → Lab 08: Knowledge, Tools &amp; Skills (Foundry IQ)</a:t>
            </a:r>
          </a:p>
        </p:txBody>
      </p:sp>
      <p:sp>
        <p:nvSpPr>
          <p:cNvPr id="11" name="TextBox 10"/>
          <p:cNvSpPr txBox="1"/>
          <p:nvPr/>
        </p:nvSpPr>
        <p:spPr>
          <a:xfrm>
            <a:off x="502920" y="5715000"/>
            <a:ext cx="11155680" cy="548640"/>
          </a:xfrm>
          <a:prstGeom prst="rect">
            <a:avLst/>
          </a:prstGeom>
          <a:noFill/>
        </p:spPr>
        <p:txBody>
          <a:bodyPr wrap="square" lIns="0" tIns="0" rIns="0" bIns="0" anchor="t">
            <a:spAutoFit/>
          </a:bodyPr>
          <a:lstStyle/>
          <a:p>
            <a:pPr algn="l">
              <a:lnSpc>
                <a:spcPct val="105000"/>
              </a:lnSpc>
              <a:spcBef>
                <a:spcPts val="800"/>
              </a:spcBef>
              <a:spcAft>
                <a:spcPts val="0"/>
              </a:spcAft>
            </a:pPr>
            <a:r>
              <a:rPr sz="1400" b="1">
                <a:solidFill>
                  <a:srgbClr val="00B7C3"/>
                </a:solidFill>
                <a:latin typeface="Segoe UI"/>
              </a:rPr>
              <a:t>Brad Lawrence   ·   Brad.Lawrence@microsoft.com   ·   Microsoft ISD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77</TotalTime>
  <Words>3478</Words>
  <Application>Microsoft Office PowerPoint</Application>
  <PresentationFormat>Widescreen</PresentationFormat>
  <Paragraphs>264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Bradley Lawrence</cp:lastModifiedBy>
  <cp:revision>2</cp:revision>
  <dcterms:created xsi:type="dcterms:W3CDTF">2013-01-27T09:14:16Z</dcterms:created>
  <dcterms:modified xsi:type="dcterms:W3CDTF">2026-10-07T16:05:52Z</dcterms:modified>
  <cp:category/>
</cp:coreProperties>
</file>